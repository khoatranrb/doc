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Today I'll present a 2026 Nature Communications paper by Clarissa Baratin, Julien Bastin and colleagues from Grenoble and the Paris Brain Institute. The title is "Closed-loop readout of anterior insula high-gamma activity steers value-based decisions".
In plain words, the authors built a system that watches brain activity live and shows a person a decision at exactly the moment a particular brain region is unusually active, or unusually quiet. They then check whether that moment changes the person's answer.
The short answer is yes, for one brain region. The brain's spontaneous state when an offer appears can tip the decision one way or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a simple observation. If you get exactly the same offer twice, you won't always give the same answer. Classic decision models treat that inconsistency as random noise.
But a growing body of research suggests part of this "noise" comes from the brain itself. Brain activity is never still. It constantly rises and falls on its own, even when nothing is happening. Several studies show that the level of activity just before an option appears can predict what a person will perceive or choose.
Two brain regions matter here. The first is the vmPFC, short for ventromedial prefrontal cortex, a region just behind the forehead that computes how much we value things. Earlier work found that when it was more active before a choice, people took more risks, as if they focused on possible gains. The second is the anterior insula, a region deep inside the side of the brain linked to unpleasant things like losses, pain and disgust. When it was more active, people were more sensitive to losses.
The problem, shown in the dark box, is that all of this evidence is correlational. Researchers recorded everything, then sorted the trials afterwards. Nobody could deliberately show an offer at the moment a region was in a particular state. So we couldn't be sure the brain state itself shapes the decision. This paper fills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method, here's where the data comes from, since it's unusual.
The participants are twelve patients with severe epilepsy that medication can't control. To plan surgery, doctors implant thin electrodes directly into their brains for a week or two to find where seizures start. This is called stereo-EEG, or sEEG. While the electrodes are in, patients can volunteer for research. That gives scientists a rare chance to record directly from deep brain regions with millisecond precision, which is impossible from outside the skull.
The brain image shows every recording point used in the study: red dots in the anterior insula and green in the vmPFC.
The signal they track is called broadband gamma activity, or BGA. It's the fast part of the brain signal, between 70 and 150 cycles per second. You can think of it as a local activity meter: more BGA means more nearby neurons are firing. I'll say "gamma activity" or "activity" for short.
The two regions are the vmPFC, the "how much do I want this" region, and the anterior insula, the "this is unpleasant"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terms will come up repeatedly, so here they are in plain language. I'll go through them quickly.
On the left are the task and method terms. A closed-loop brain-computer interface, or BCI, is software that reads brain signals live and reacts to them. Here it decides when to show the next offer, a bit like an event-driven trigger in code. An up-state or down-state is a short moment when activity is unusually high or low compared with the recent past. Decision value is simply the pleasant rating minus the unpleasant rating of an offer: the higher it is, the better the deal. The indifference point is the decision value where someone says yes half the time, so those are the hardest choices. A time-frequency map is a spectrogram-style heat map showing signal strength at each frequency over time. And interictal activity means abnormal epileptic spikes between seizures. They could fake an "up-state", so they're checked and removed.
On the right are the statistics terms. A mixed-effects regression is a regression over all trials from all people that lets each person have their own baseline. Logistic regression predicts the probability of a yes-or-no outcome, here accept versus reject. Beta is the fitted coefficient: its sign gives the direction of an effect and its size the strength. The p-value is roughly how likely we'd see an effect this big if there were really none, and below 0.05 is called significant. The z or t statistic is the effect divided by its uncertainty, and anything beyond about 2 is usually significant. Finally, median and MAD, or median absolute deviation, are robust versions of the mean and standard deviation that outliers don't skew.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core idea. Instead of showing offers at fixed times and sorting trials afterwards, the brain decides when each offer appears.
The five steps run left to right. The system streams the electrode signal live, recomputes gamma activity every 30 milliseconds, and checks it against a threshold. When activity spikes unusually high, an up-state, or dips unusually low, a down-state, the offer appears on screen immediately. The person then accepts or rejects it.
What I like about this design is that the task and the offers stay the same. The only thing that differs between the two conditions is the brain state at the moment the offer appears.
The researchers expected the two regions to push decisions in opposite directions. Based on the earlier work, a vmPFC up-state should make the pleasant part of the offer feel more important, so people would accept more. An insula up-state should make the unpleasant part feel more important, so people would accept less. As we'll see, the insula result actually goes the other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concrete setup. There were twelve patients, average age about 34, five of them women. Seven sessions were driven by the insula and eight by the vmPFC. Patients with electrodes in both regions did one session for each.
There were two tasks. The first was an offline rating task. Participants read 240 short imagined scenarios, half pleasant, like "eating a piece of birthday cake", and half unpleasant, like "stumbling in public". They rated how much they would like or dislike each one on a slider. That gives a personal score for every item.
The second was the live accept-or-reject task. Each offer combines one pleasant and one unpleasant item. For example: "Would you accept losing your house keys in exchange for going on holiday?", yes or no. The scores from the first task tell us how good each deal is for that person. That's the decision value from the glossary.
Two details matter. First, the fixation cross before each offer has no fixed duration. It stays on screen until the system detects the target brain state. Second, participants were not told that their brain activity was controlling the timing.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Figure 1a, the heart of the method. On the left, the signal comes from the hospital's recording system. The trace at the top is the live gamma activity, in black. The red line is the "up" threshold, the grey dashed line is the running median, and the blue line is the "down" threshold. Each small arrow marks a detection. Underneath, you can see how detections trigger trials: wait, trial 1 on an up-state, wait, trial 2 on a down-state, and so on. The offer then appears on screen and the patient answers with a game controller.
On the right is the data pipeline, which should feel familiar to anyone who has built a streaming system. The hospital amplifier samples at 512 Hz and streams over TCP/IP. An open-source tool called BCI2000 receives the stream and writes it into a buffer that MATLAB reads. Each electrode signal has its neighbour's signal subtracted, which removes noise coming from far away. Then every 30 milliseconds the code takes the last second of data, runs a Fast Fourier Transform, and adds up the power between 70 and 150 Hz. That gives the gamma activity value. It's averaged across channels, smoothed over half a second, and compared with the thresholds. If a threshold is crossed, the offer is shown. If nothing happens within 30 seconds, the offer is shown anyway, as a timeout.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the system decide what counts as "unusually high" or "unusually low"? Brain signals drift over a session, so a fixed threshold wouldn't work.
They use a rolling outlier detector, similar to anomaly detection on streaming data. Over a sliding 20-second window, they compute the median of the activity and its spread using MAD, which is a robust version of standard deviation. A point more than 3.5 times that spread above the median is an up-state. A point that far below is a down-state. The spread is computed separately above and below the median, because brain activity isn't symmetric. Detected spikes only get a weight of 0.8 when the statistics are updated, so one big spike can't throw off the threshold. The practical benefit is that there's no calibration phase: the thresholds adapt on their own.
Now the trial design. Each session had 35 up-state and 35 down-state trials, strictly alternating. At least 70% of offers were designed to be hard, meaning close to each person's 50/50 point. A pilot study with healthy volunteers found that the pleasant item needs to score about 15 points higher than the unpleasant one for people to say yes half the time. The reasoning is that when a choice is obvious, the brain state won't change it. When it's a coin flip, a small internal nudge can tip the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looking at the brain effect, the authors check that people behaved sensibly, and they did.
On the left is Figure 1d. The horizontal axis is decision value, meaning how good the deal is, and the vertical axis is the probability of saying yes. The black curve is the average fit and the grey curves are individual people. It's a clean S-shaped curve: the better the deal, the more likely people accept. The statistics are very strong, with a z of about 17.
People took about 8 seconds per choice, which makes sense since they have to imagine two scenarios. And harder choices took a bit longer.
The most important point is in the green box. Up-state and down-state trials had the same difficulty and the same response times. So if we see a difference in choices between the two states, it can't be because one condition simply had easier offers.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main result. When the insula drove the system, offers shown during up-states were accepted more often than offers shown during down-states.
On the left is Figure 2b, the acceptance rate for up versus down trials. Each line is one participant, and most lines slope downwards from up to down. The regression, which accounts for how good each deal was and the time between trials, gives a positive effect: beta 0.44, p = 0.04. So the effect is statistically significant.
These are epilepsy patients, so there's an obvious concern: abnormal epileptic spikes could look like "up-states" to the system. The authors detected those events, checked them by hand, and removed the affected trials. The effect held and even got slightly stronger: beta 0.47, p = 0.014.
Now recall the expectation. Since the insula is the "unpleasant" region, you'd expect high insula activity to make people accept less. The result is the opposite. The next two slides explain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the surprise, the authors looked at what the insula did after the offer appeared.
The left panel, Figure 2c, is a spectrogram-style map showing up-state trials minus down-state trials. Red means more power in up-state trials and blue means less. Before time zero it's red, as expected, since that's how the trials were selected. After the offer, blue patches appear at the higher frequencies.
The middle panel, 2d, makes it clearer. The red line is up-state trials and the blue line is down-state trials. The red line peaks when the offer appears, by design, then drops below baseline and stays low during the grey window, about 2.5 to 4.5 seconds after the offer. The blue line does the opposite and rises. So the lines cross: high before means low after, and low before means high after.
The right panel, 2e, shows the gap between up and down for each participant. It's positive before the offer and negative after, for every single person. The statistics are extremely strong, with a p-value around 10 to the minus 20.
One important check: this flip doesn't happen during the pauses between trials. Without an offer, high moments stay higher than low moments. That means the flip isn't just a statistical artefact where extreme values naturally drift back to average. It happens because the person is processing an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there are two candidate signals: activity before the offer and activity after it. Which one actually relates to the yes-or-no answer, trial by trial?
For each trial, the authors took the peak activity in one of three time windows and asked whether it predicts the answer, after accounting for how good the deal was.
Activity before the offer, which is what the system used to trigger trials, did not predict the answer on a trial-by-trial basis: p = 0.20, not significant. Activity in the last second before the button press didn't either. But activity after the offer did, shown by the red card: p = 0.03. The lower the insula activity after the offer, the more likely people were to say yes.
This held for easy and hard offers alike. A slower brain rhythm, called theta, showed a similar pattern.
So the story is this. A high state before the offer leads to lower activity after it, and that lower activity is what nudges people towards accepting. The state before the offer doesn't act directly. It changes how the insula reacts to the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second region, the vmPFC. When the vmPFC drove the system, up versus down states made no difference to choices: p = 0.89. In the left panel, the participants' lines go both ways. Some accepted more in up-states and some accepted less.
You might think the system simply failed to capture anything meaningful in the vmPFC. But the middle and right panels show the same flip we saw in the insula: high before the offer, low after, and vice versa. It's just as strong statistically and consistent across participants.
The difference is that, unlike in the insula, vmPFC activity after the offer did not predict the answer. And when the authors compared the two regions directly, the effect on choices was significantly different.
So the conclusion is that the effect is specific to one region. Both regions show the same activity pattern, but only the insula's pattern changes decisions in this task. The authors are careful to note that vmPFC results varied a lot between people, so this "no effect" result should be treated with caution.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proposed explanation as a chain of four steps.
First, the insula happens to be in a high state just before the offer. Second, because of that, its response to the offer is weaker. It's known that when spontaneous activity is high, the brain's response to a new stimulus tends to be smaller, a bit like a system that is already busy responding less to a new request. Third, a weaker insula response means the unpleasant part of the offer, like losing your keys, carries less weight. Fourth, the person is more likely to accept.
So the state before the offer doesn't vote for an answer directly. It changes how the insula processes what comes next.
Why believe this is specifically about the unpleasant part? Because it fits several independent findings, shown at the bottom. Electrically stimulating the insula changes how much people care about potential losses. People with insula damage struggle to learn from punishment but still learn from rewards. Insula activity tracks bad surprises more than good ones. More insula neurons respond to losses than to gains. And a similar study using a brain scanner, Chew and colleagues in 2019, found that spontaneous activity in a reward-related region also changed people's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any study, this one has limitations, and I've grouped them into two columns.
On the left are the limitations the authors themselves point out. They compared only high and low states, with no normal "middle" condition, so we can't tell whether the effect comes from up-states, down-states or both. Each patient only has a few electrodes, so only a small part of the brain is recorded. The slower theta rhythm behaved like gamma, which is unusual and suggests the effect may involve several rhythms. The authors say the cause-and-effect interpretation should be made carefully. And the absence of an effect in the vmPFC was unexpected.
On the right are some further caveats. The sample is small, just seven insula sessions, and the main effect is only moderately significant, at p = 0.04. The title says activity "steers" decisions, but the system only waits for natural brain states. It doesn't create them, since there's no stimulation. That's stronger evidence than sorting trials afterwards, but it isn't direct proof of cause and effect. The trial-by-trial result relies on peak activity, and average activity in the same windows didn't predict choices. The choices are imaginary, with no real consequences. And the participants are epilepsy patients, so we're assuming the result carries over to healthy brains.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here are three take-home messages.
First, the method. A closed-loop system can read brain activity live and time each decision to a spontaneous brain state. That turns a correlation question into a controlled comparison: same task, different brain state.
Second, the finding. For hard choices, a spontaneously active insula just before an offer leads to a weaker insula reaction to it, which makes people more willing to accept a deal that mixes something pleasant with something unpleasant.
Third, the bigger picture. The inconsistency in our choices isn't just random noise. Part of it comes from the brain's own moment-to-moment state, and models of decision-making should account for that.
Looking ahead, the authors suggest this could help in conditions where decision-making goes wrong, like addiction, depression or OCD. It could eventually lead to treatments that intervene at exactly the right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my presentation. Thank you for your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A26"/>
        </a:solidFill>
      </p:bgPr>
    </p:bg>
    <p:spTree>
      <p:nvGrpSpPr>
        <p:cNvPr id="1" name=""/>
        <p:cNvGrpSpPr/>
        <p:nvPr/>
      </p:nvGrpSpPr>
      <p:grpSpPr>
        <a:xfrm>
          <a:off x="0" y="0"/>
          <a:ext cx="0" cy="0"/>
          <a:chOff x="0" y="0"/>
          <a:chExt cx="0" cy="0"/>
        </a:xfrm>
      </p:grpSpPr>
      <p:sp>
        <p:nvSpPr>
          <p:cNvPr id="3" name="Shape 0"/>
          <p:cNvSpPr/>
          <p:nvPr/>
        </p:nvSpPr>
        <p:spPr>
          <a:xfrm>
            <a:off x="548640" y="548640"/>
            <a:ext cx="5652821" cy="292608"/>
          </a:xfrm>
          <a:prstGeom prst="roundRect">
            <a:avLst>
              <a:gd name="adj" fmla="val 50000"/>
            </a:avLst>
          </a:prstGeom>
          <a:solidFill>
            <a:srgbClr val="C8203F"/>
          </a:solidFill>
          <a:ln w="12700">
            <a:solidFill>
              <a:srgbClr val="C8203F"/>
            </a:solidFill>
            <a:prstDash val="solid"/>
          </a:ln>
        </p:spPr>
      </p:sp>
      <p:sp>
        <p:nvSpPr>
          <p:cNvPr id="4" name="Text 1"/>
          <p:cNvSpPr txBox="1"/>
          <p:nvPr/>
        </p:nvSpPr>
        <p:spPr>
          <a:xfrm>
            <a:off x="548640" y="548640"/>
            <a:ext cx="5652821" cy="29260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PAPER PRESENTATION  ·  NATURE COMMUNICATIONS 2026</a:t>
            </a:r>
            <a:endParaRPr lang="en-US" sz="1100" dirty="0"/>
          </a:p>
        </p:txBody>
      </p:sp>
      <p:sp>
        <p:nvSpPr>
          <p:cNvPr id="5" name="Text 2"/>
          <p:cNvSpPr txBox="1"/>
          <p:nvPr/>
        </p:nvSpPr>
        <p:spPr>
          <a:xfrm>
            <a:off x="548640" y="1234440"/>
            <a:ext cx="6492240" cy="26517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Closed-loop readout of anterior insula high-gamma activity steers value-based decisions</a:t>
            </a:r>
            <a:endParaRPr lang="en-US" sz="3800" dirty="0"/>
          </a:p>
        </p:txBody>
      </p:sp>
      <p:sp>
        <p:nvSpPr>
          <p:cNvPr id="6" name="Text 3"/>
          <p:cNvSpPr txBox="1"/>
          <p:nvPr/>
        </p:nvSpPr>
        <p:spPr>
          <a:xfrm>
            <a:off x="548640" y="4069080"/>
            <a:ext cx="6309360" cy="731520"/>
          </a:xfrm>
          <a:prstGeom prst="rect">
            <a:avLst/>
          </a:prstGeom>
          <a:noFill/>
          <a:ln/>
        </p:spPr>
        <p:txBody>
          <a:bodyPr wrap="square" lIns="0" tIns="0" rIns="0" bIns="0" rtlCol="0" anchor="t"/>
          <a:lstStyle/>
          <a:p>
            <a:pPr indent="0" marL="0">
              <a:buNone/>
            </a:pPr>
            <a:r>
              <a:rPr lang="en-US" sz="1500" dirty="0">
                <a:solidFill>
                  <a:srgbClr val="C9CFDC"/>
                </a:solidFill>
                <a:latin typeface="Calibri" pitchFamily="34" charset="0"/>
                <a:ea typeface="Calibri" pitchFamily="34" charset="-122"/>
                <a:cs typeface="Calibri" pitchFamily="34" charset="-120"/>
              </a:rPr>
              <a:t>Clarissa Baratin, Mathias Pessiglione, Philippe Kahane, Alexis Robin, Lorella Minotti, Guillaume Becq &amp; Julien Bastin</a:t>
            </a:r>
            <a:endParaRPr lang="en-US" sz="1500" dirty="0"/>
          </a:p>
        </p:txBody>
      </p:sp>
      <p:sp>
        <p:nvSpPr>
          <p:cNvPr id="7" name="Text 4"/>
          <p:cNvSpPr txBox="1"/>
          <p:nvPr/>
        </p:nvSpPr>
        <p:spPr>
          <a:xfrm>
            <a:off x="548640" y="4846320"/>
            <a:ext cx="6309360" cy="365760"/>
          </a:xfrm>
          <a:prstGeom prst="rect">
            <a:avLst/>
          </a:prstGeom>
          <a:noFill/>
          <a:ln/>
        </p:spPr>
        <p:txBody>
          <a:bodyPr wrap="square" lIns="0" tIns="0" rIns="0" bIns="0" rtlCol="0" anchor="ctr"/>
          <a:lstStyle/>
          <a:p>
            <a:pPr indent="0" marL="0">
              <a:buNone/>
            </a:pPr>
            <a:r>
              <a:rPr lang="en-US" sz="1250" i="1" dirty="0">
                <a:solidFill>
                  <a:srgbClr val="9AA3B8"/>
                </a:solidFill>
                <a:latin typeface="Calibri" pitchFamily="34" charset="0"/>
                <a:ea typeface="Calibri" pitchFamily="34" charset="-122"/>
                <a:cs typeface="Calibri" pitchFamily="34" charset="-120"/>
              </a:rPr>
              <a:t>Univ. Grenoble Alpes / Inserm U1216 · Paris Brain Institute (ICM) · GIPSA-lab</a:t>
            </a:r>
            <a:endParaRPr lang="en-US" sz="1250" dirty="0"/>
          </a:p>
        </p:txBody>
      </p:sp>
      <p:sp>
        <p:nvSpPr>
          <p:cNvPr id="8" name="Text 5"/>
          <p:cNvSpPr txBox="1"/>
          <p:nvPr/>
        </p:nvSpPr>
        <p:spPr>
          <a:xfrm>
            <a:off x="548640" y="5989320"/>
            <a:ext cx="5486400" cy="274320"/>
          </a:xfrm>
          <a:prstGeom prst="rect">
            <a:avLst/>
          </a:prstGeom>
          <a:noFill/>
          <a:ln/>
        </p:spPr>
        <p:txBody>
          <a:bodyPr wrap="square" lIns="0" tIns="0" rIns="0" bIns="0" rtlCol="0" anchor="ctr"/>
          <a:lstStyle/>
          <a:p>
            <a:pPr indent="0" marL="0">
              <a:buNone/>
            </a:pPr>
            <a:r>
              <a:rPr lang="en-US" sz="1200" dirty="0">
                <a:solidFill>
                  <a:srgbClr val="9AA3B8"/>
                </a:solidFill>
                <a:latin typeface="Calibri" pitchFamily="34" charset="0"/>
                <a:ea typeface="Calibri" pitchFamily="34" charset="-122"/>
                <a:cs typeface="Calibri" pitchFamily="34" charset="-120"/>
              </a:rPr>
              <a:t>doi.org/10.1038/s41467-026-75265-5</a:t>
            </a:r>
            <a:endParaRPr lang="en-US" sz="1200" dirty="0"/>
          </a:p>
        </p:txBody>
      </p:sp>
      <p:sp>
        <p:nvSpPr>
          <p:cNvPr id="9" name="Shape 6"/>
          <p:cNvSpPr/>
          <p:nvPr/>
        </p:nvSpPr>
        <p:spPr>
          <a:xfrm>
            <a:off x="7360920" y="1234440"/>
            <a:ext cx="4297680" cy="3063240"/>
          </a:xfrm>
          <a:prstGeom prst="roundRect">
            <a:avLst>
              <a:gd name="adj" fmla="val 3582"/>
            </a:avLst>
          </a:prstGeom>
          <a:solidFill>
            <a:srgbClr val="FFFFFF"/>
          </a:solidFill>
          <a:ln w="12700">
            <a:solidFill>
              <a:srgbClr val="FFFFFF"/>
            </a:solidFill>
            <a:prstDash val="solid"/>
          </a:ln>
        </p:spPr>
      </p:sp>
      <p:pic>
        <p:nvPicPr>
          <p:cNvPr id="10" name="Image 0" descr="/tmp/claude-0/-home-user-DOC/b62d63f6-2ef2-5ee3-9869-de2bf75305bc/scratchpad/img/f1a.png">    </p:cNvPr>
          <p:cNvPicPr>
            <a:picLocks noChangeAspect="1"/>
          </p:cNvPicPr>
          <p:nvPr/>
        </p:nvPicPr>
        <p:blipFill>
          <a:blip r:embed="rId1"/>
          <a:stretch>
            <a:fillRect/>
          </a:stretch>
        </p:blipFill>
        <p:spPr>
          <a:xfrm>
            <a:off x="7498080" y="1595955"/>
            <a:ext cx="4023360" cy="2340209"/>
          </a:xfrm>
          <a:prstGeom prst="rect">
            <a:avLst/>
          </a:prstGeom>
        </p:spPr>
      </p:pic>
      <p:sp>
        <p:nvSpPr>
          <p:cNvPr id="11" name="Text 7"/>
          <p:cNvSpPr txBox="1"/>
          <p:nvPr/>
        </p:nvSpPr>
        <p:spPr>
          <a:xfrm>
            <a:off x="7360920" y="4389120"/>
            <a:ext cx="4297680" cy="274320"/>
          </a:xfrm>
          <a:prstGeom prst="rect">
            <a:avLst/>
          </a:prstGeom>
          <a:noFill/>
          <a:ln/>
        </p:spPr>
        <p:txBody>
          <a:bodyPr wrap="square" lIns="0" tIns="0" rIns="0" bIns="0" rtlCol="0" anchor="ctr"/>
          <a:lstStyle/>
          <a:p>
            <a:pPr algn="ctr" indent="0" marL="0">
              <a:buNone/>
            </a:pPr>
            <a:r>
              <a:rPr lang="en-US" sz="1100" dirty="0">
                <a:solidFill>
                  <a:srgbClr val="9AA3B8"/>
                </a:solidFill>
                <a:latin typeface="Calibri" pitchFamily="34" charset="0"/>
                <a:ea typeface="Calibri" pitchFamily="34" charset="-122"/>
                <a:cs typeface="Calibri" pitchFamily="34" charset="-120"/>
              </a:rPr>
              <a:t>The closed-loop setup (Fig. 1a)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384048"/>
            <a:ext cx="1444752" cy="292608"/>
          </a:xfrm>
          <a:prstGeom prst="roundRect">
            <a:avLst>
              <a:gd name="adj" fmla="val 50000"/>
            </a:avLst>
          </a:prstGeom>
          <a:solidFill>
            <a:srgbClr val="252B3D"/>
          </a:solidFill>
          <a:ln w="12700">
            <a:solidFill>
              <a:srgbClr val="252B3D"/>
            </a:solidFill>
            <a:prstDash val="solid"/>
          </a:ln>
        </p:spPr>
      </p:sp>
      <p:sp>
        <p:nvSpPr>
          <p:cNvPr id="4" name="Text 1"/>
          <p:cNvSpPr txBox="1"/>
          <p:nvPr/>
        </p:nvSpPr>
        <p:spPr>
          <a:xfrm>
            <a:off x="548640" y="384048"/>
            <a:ext cx="1444752" cy="29260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BACKGROUND</a:t>
            </a:r>
            <a:endParaRPr lang="en-US" sz="1100" dirty="0"/>
          </a:p>
        </p:txBody>
      </p:sp>
      <p:sp>
        <p:nvSpPr>
          <p:cNvPr id="5" name="Text 2"/>
          <p:cNvSpPr txBox="1"/>
          <p:nvPr/>
        </p:nvSpPr>
        <p:spPr>
          <a:xfrm>
            <a:off x="548640" y="749808"/>
            <a:ext cx="11094415" cy="731520"/>
          </a:xfrm>
          <a:prstGeom prst="rect">
            <a:avLst/>
          </a:prstGeom>
          <a:noFill/>
          <a:ln/>
        </p:spPr>
        <p:txBody>
          <a:bodyPr wrap="square" lIns="0" tIns="0" rIns="0" bIns="0" rtlCol="0" anchor="t"/>
          <a:lstStyle/>
          <a:p>
            <a:pPr indent="0" marL="0">
              <a:buNone/>
            </a:pPr>
            <a:r>
              <a:rPr lang="en-US" sz="3000" b="1" dirty="0">
                <a:solidFill>
                  <a:srgbClr val="1D2230"/>
                </a:solidFill>
                <a:latin typeface="Cambria" pitchFamily="34" charset="0"/>
                <a:ea typeface="Cambria" pitchFamily="34" charset="-122"/>
                <a:cs typeface="Cambria" pitchFamily="34" charset="-120"/>
              </a:rPr>
              <a:t>Why do we decide differently when facing the same offer?</a:t>
            </a:r>
            <a:endParaRPr lang="en-US" sz="3000" dirty="0"/>
          </a:p>
        </p:txBody>
      </p:sp>
      <p:sp>
        <p:nvSpPr>
          <p:cNvPr id="6" name="Shape 3"/>
          <p:cNvSpPr/>
          <p:nvPr/>
        </p:nvSpPr>
        <p:spPr>
          <a:xfrm>
            <a:off x="548640" y="1828800"/>
            <a:ext cx="548640" cy="548640"/>
          </a:xfrm>
          <a:prstGeom prst="ellipse">
            <a:avLst/>
          </a:prstGeom>
          <a:solidFill>
            <a:srgbClr val="1F6FC5"/>
          </a:solidFill>
          <a:ln w="12700">
            <a:solidFill>
              <a:srgbClr val="1F6FC5"/>
            </a:solidFill>
            <a:prstDash val="solid"/>
          </a:ln>
        </p:spPr>
      </p:sp>
      <p:sp>
        <p:nvSpPr>
          <p:cNvPr id="7" name="Text 4"/>
          <p:cNvSpPr txBox="1"/>
          <p:nvPr/>
        </p:nvSpPr>
        <p:spPr>
          <a:xfrm>
            <a:off x="548640" y="1828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5"/>
          <p:cNvSpPr txBox="1"/>
          <p:nvPr/>
        </p:nvSpPr>
        <p:spPr>
          <a:xfrm>
            <a:off x="1325880" y="1783080"/>
            <a:ext cx="6035040" cy="411480"/>
          </a:xfrm>
          <a:prstGeom prst="rect">
            <a:avLst/>
          </a:prstGeom>
          <a:noFill/>
          <a:ln/>
        </p:spPr>
        <p:txBody>
          <a:bodyPr wrap="square" lIns="0" tIns="0" rIns="0" bIns="0" rtlCol="0" anchor="ctr"/>
          <a:lstStyle/>
          <a:p>
            <a:pPr indent="0" marL="0">
              <a:buNone/>
            </a:pPr>
            <a:r>
              <a:rPr lang="en-US" sz="1800" b="1" dirty="0">
                <a:solidFill>
                  <a:srgbClr val="1D2230"/>
                </a:solidFill>
                <a:latin typeface="Calibri" pitchFamily="34" charset="0"/>
                <a:ea typeface="Calibri" pitchFamily="34" charset="-122"/>
                <a:cs typeface="Calibri" pitchFamily="34" charset="-120"/>
              </a:rPr>
              <a:t>Brain activity fluctuates on its own</a:t>
            </a:r>
            <a:endParaRPr lang="en-US" sz="1800" dirty="0"/>
          </a:p>
        </p:txBody>
      </p:sp>
      <p:sp>
        <p:nvSpPr>
          <p:cNvPr id="9" name="Text 6"/>
          <p:cNvSpPr txBox="1"/>
          <p:nvPr/>
        </p:nvSpPr>
        <p:spPr>
          <a:xfrm>
            <a:off x="1325880" y="2221992"/>
            <a:ext cx="6035040" cy="685800"/>
          </a:xfrm>
          <a:prstGeom prst="rect">
            <a:avLst/>
          </a:prstGeom>
          <a:noFill/>
          <a:ln/>
        </p:spPr>
        <p:txBody>
          <a:bodyPr wrap="square" lIns="0" tIns="0" rIns="0" bIns="0" rtlCol="0" anchor="t"/>
          <a:lstStyle/>
          <a:p>
            <a:pPr indent="0" marL="0">
              <a:buNone/>
            </a:pPr>
            <a:r>
              <a:rPr lang="en-US" sz="1500" dirty="0">
                <a:solidFill>
                  <a:srgbClr val="5B6275"/>
                </a:solidFill>
                <a:latin typeface="Calibri" pitchFamily="34" charset="0"/>
                <a:ea typeface="Calibri" pitchFamily="34" charset="-122"/>
                <a:cs typeface="Calibri" pitchFamily="34" charset="-120"/>
              </a:rPr>
              <a:t>Activity just before an option appears can predict what people notice and choose.</a:t>
            </a:r>
            <a:endParaRPr lang="en-US" sz="1500" dirty="0"/>
          </a:p>
        </p:txBody>
      </p:sp>
      <p:sp>
        <p:nvSpPr>
          <p:cNvPr id="10" name="Shape 7"/>
          <p:cNvSpPr/>
          <p:nvPr/>
        </p:nvSpPr>
        <p:spPr>
          <a:xfrm>
            <a:off x="548640" y="3200400"/>
            <a:ext cx="548640" cy="548640"/>
          </a:xfrm>
          <a:prstGeom prst="ellipse">
            <a:avLst/>
          </a:prstGeom>
          <a:solidFill>
            <a:srgbClr val="1E8E5A"/>
          </a:solidFill>
          <a:ln w="12700">
            <a:solidFill>
              <a:srgbClr val="1E8E5A"/>
            </a:solidFill>
            <a:prstDash val="solid"/>
          </a:ln>
        </p:spPr>
      </p:sp>
      <p:sp>
        <p:nvSpPr>
          <p:cNvPr id="11" name="Text 8"/>
          <p:cNvSpPr txBox="1"/>
          <p:nvPr/>
        </p:nvSpPr>
        <p:spPr>
          <a:xfrm>
            <a:off x="548640" y="3200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9"/>
          <p:cNvSpPr txBox="1"/>
          <p:nvPr/>
        </p:nvSpPr>
        <p:spPr>
          <a:xfrm>
            <a:off x="1325880" y="3154680"/>
            <a:ext cx="6035040" cy="411480"/>
          </a:xfrm>
          <a:prstGeom prst="rect">
            <a:avLst/>
          </a:prstGeom>
          <a:noFill/>
          <a:ln/>
        </p:spPr>
        <p:txBody>
          <a:bodyPr wrap="square" lIns="0" tIns="0" rIns="0" bIns="0" rtlCol="0" anchor="ctr"/>
          <a:lstStyle/>
          <a:p>
            <a:pPr indent="0" marL="0">
              <a:buNone/>
            </a:pPr>
            <a:r>
              <a:rPr lang="en-US" sz="1800" b="1" dirty="0">
                <a:solidFill>
                  <a:srgbClr val="1D2230"/>
                </a:solidFill>
                <a:latin typeface="Calibri" pitchFamily="34" charset="0"/>
                <a:ea typeface="Calibri" pitchFamily="34" charset="-122"/>
                <a:cs typeface="Calibri" pitchFamily="34" charset="-120"/>
              </a:rPr>
              <a:t>vmPFC (“value” region): more active → more risk-taking</a:t>
            </a:r>
            <a:endParaRPr lang="en-US" sz="1800" dirty="0"/>
          </a:p>
        </p:txBody>
      </p:sp>
      <p:sp>
        <p:nvSpPr>
          <p:cNvPr id="13" name="Text 10"/>
          <p:cNvSpPr txBox="1"/>
          <p:nvPr/>
        </p:nvSpPr>
        <p:spPr>
          <a:xfrm>
            <a:off x="1325880" y="3593592"/>
            <a:ext cx="6035040" cy="685800"/>
          </a:xfrm>
          <a:prstGeom prst="rect">
            <a:avLst/>
          </a:prstGeom>
          <a:noFill/>
          <a:ln/>
        </p:spPr>
        <p:txBody>
          <a:bodyPr wrap="square" lIns="0" tIns="0" rIns="0" bIns="0" rtlCol="0" anchor="t"/>
          <a:lstStyle/>
          <a:p>
            <a:pPr indent="0" marL="0">
              <a:buNone/>
            </a:pPr>
            <a:r>
              <a:rPr lang="en-US" sz="1500" dirty="0">
                <a:solidFill>
                  <a:srgbClr val="5B6275"/>
                </a:solidFill>
                <a:latin typeface="Calibri" pitchFamily="34" charset="0"/>
                <a:ea typeface="Calibri" pitchFamily="34" charset="-122"/>
                <a:cs typeface="Calibri" pitchFamily="34" charset="-120"/>
              </a:rPr>
              <a:t>Linked to focusing on possible gains.</a:t>
            </a:r>
            <a:endParaRPr lang="en-US" sz="1500" dirty="0"/>
          </a:p>
        </p:txBody>
      </p:sp>
      <p:sp>
        <p:nvSpPr>
          <p:cNvPr id="14" name="Shape 11"/>
          <p:cNvSpPr/>
          <p:nvPr/>
        </p:nvSpPr>
        <p:spPr>
          <a:xfrm>
            <a:off x="548640" y="4572000"/>
            <a:ext cx="548640" cy="548640"/>
          </a:xfrm>
          <a:prstGeom prst="ellipse">
            <a:avLst/>
          </a:prstGeom>
          <a:solidFill>
            <a:srgbClr val="C8203F"/>
          </a:solidFill>
          <a:ln w="12700">
            <a:solidFill>
              <a:srgbClr val="C8203F"/>
            </a:solidFill>
            <a:prstDash val="solid"/>
          </a:ln>
        </p:spPr>
      </p:sp>
      <p:sp>
        <p:nvSpPr>
          <p:cNvPr id="15" name="Text 12"/>
          <p:cNvSpPr txBox="1"/>
          <p:nvPr/>
        </p:nvSpPr>
        <p:spPr>
          <a:xfrm>
            <a:off x="548640" y="45720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3"/>
          <p:cNvSpPr txBox="1"/>
          <p:nvPr/>
        </p:nvSpPr>
        <p:spPr>
          <a:xfrm>
            <a:off x="1325880" y="4526280"/>
            <a:ext cx="6035040" cy="411480"/>
          </a:xfrm>
          <a:prstGeom prst="rect">
            <a:avLst/>
          </a:prstGeom>
          <a:noFill/>
          <a:ln/>
        </p:spPr>
        <p:txBody>
          <a:bodyPr wrap="square" lIns="0" tIns="0" rIns="0" bIns="0" rtlCol="0" anchor="ctr"/>
          <a:lstStyle/>
          <a:p>
            <a:pPr indent="0" marL="0">
              <a:buNone/>
            </a:pPr>
            <a:r>
              <a:rPr lang="en-US" sz="1800" b="1" dirty="0">
                <a:solidFill>
                  <a:srgbClr val="1D2230"/>
                </a:solidFill>
                <a:latin typeface="Calibri" pitchFamily="34" charset="0"/>
                <a:ea typeface="Calibri" pitchFamily="34" charset="-122"/>
                <a:cs typeface="Calibri" pitchFamily="34" charset="-120"/>
              </a:rPr>
              <a:t>Insula (“aversion” region): more active → fear of losses</a:t>
            </a:r>
            <a:endParaRPr lang="en-US" sz="1800" dirty="0"/>
          </a:p>
        </p:txBody>
      </p:sp>
      <p:sp>
        <p:nvSpPr>
          <p:cNvPr id="17" name="Text 14"/>
          <p:cNvSpPr txBox="1"/>
          <p:nvPr/>
        </p:nvSpPr>
        <p:spPr>
          <a:xfrm>
            <a:off x="1325880" y="4965192"/>
            <a:ext cx="6035040" cy="685800"/>
          </a:xfrm>
          <a:prstGeom prst="rect">
            <a:avLst/>
          </a:prstGeom>
          <a:noFill/>
          <a:ln/>
        </p:spPr>
        <p:txBody>
          <a:bodyPr wrap="square" lIns="0" tIns="0" rIns="0" bIns="0" rtlCol="0" anchor="t"/>
          <a:lstStyle/>
          <a:p>
            <a:pPr indent="0" marL="0">
              <a:buNone/>
            </a:pPr>
            <a:r>
              <a:rPr lang="en-US" sz="1500" dirty="0">
                <a:solidFill>
                  <a:srgbClr val="5B6275"/>
                </a:solidFill>
                <a:latin typeface="Calibri" pitchFamily="34" charset="0"/>
                <a:ea typeface="Calibri" pitchFamily="34" charset="-122"/>
                <a:cs typeface="Calibri" pitchFamily="34" charset="-120"/>
              </a:rPr>
              <a:t>Linked to focusing on possible losses.</a:t>
            </a:r>
            <a:endParaRPr lang="en-US" sz="1500" dirty="0"/>
          </a:p>
        </p:txBody>
      </p:sp>
      <p:sp>
        <p:nvSpPr>
          <p:cNvPr id="18" name="Shape 15"/>
          <p:cNvSpPr/>
          <p:nvPr/>
        </p:nvSpPr>
        <p:spPr>
          <a:xfrm>
            <a:off x="7635240" y="1783080"/>
            <a:ext cx="4023360" cy="4069080"/>
          </a:xfrm>
          <a:prstGeom prst="roundRect">
            <a:avLst>
              <a:gd name="adj" fmla="val 2727"/>
            </a:avLst>
          </a:prstGeom>
          <a:solidFill>
            <a:srgbClr val="161A26"/>
          </a:solidFill>
          <a:ln w="12700">
            <a:solidFill>
              <a:srgbClr val="161A26"/>
            </a:solidFill>
            <a:prstDash val="solid"/>
          </a:ln>
        </p:spPr>
      </p:sp>
      <p:sp>
        <p:nvSpPr>
          <p:cNvPr id="19" name="Text 16"/>
          <p:cNvSpPr txBox="1"/>
          <p:nvPr/>
        </p:nvSpPr>
        <p:spPr>
          <a:xfrm>
            <a:off x="7955280" y="2011680"/>
            <a:ext cx="347472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The gap</a:t>
            </a:r>
            <a:endParaRPr lang="en-US" sz="2400" dirty="0"/>
          </a:p>
        </p:txBody>
      </p:sp>
      <p:sp>
        <p:nvSpPr>
          <p:cNvPr id="20" name="Text 17"/>
          <p:cNvSpPr txBox="1"/>
          <p:nvPr/>
        </p:nvSpPr>
        <p:spPr>
          <a:xfrm>
            <a:off x="7955280" y="2606040"/>
            <a:ext cx="3429000" cy="2103120"/>
          </a:xfrm>
          <a:prstGeom prst="rect">
            <a:avLst/>
          </a:prstGeom>
          <a:noFill/>
          <a:ln/>
        </p:spPr>
        <p:txBody>
          <a:bodyPr wrap="square" lIns="0" tIns="0" rIns="0" bIns="0" rtlCol="0" anchor="t"/>
          <a:lstStyle/>
          <a:p>
            <a:pPr indent="0" marL="0">
              <a:buNone/>
            </a:pPr>
            <a:r>
              <a:rPr lang="en-US" sz="1550" dirty="0">
                <a:solidFill>
                  <a:srgbClr val="DCE1EA"/>
                </a:solidFill>
                <a:latin typeface="Calibri" pitchFamily="34" charset="0"/>
                <a:ea typeface="Calibri" pitchFamily="34" charset="-122"/>
                <a:cs typeface="Calibri" pitchFamily="34" charset="-120"/>
              </a:rPr>
              <a:t>Past studies only found correlations: trials were sorted by brain state </a:t>
            </a:r>
            <a:pPr indent="0" marL="0">
              <a:buNone/>
            </a:pPr>
            <a:r>
              <a:rPr lang="en-US" sz="1550" i="1" dirty="0">
                <a:solidFill>
                  <a:srgbClr val="DCE1EA"/>
                </a:solidFill>
                <a:latin typeface="Calibri" pitchFamily="34" charset="0"/>
                <a:ea typeface="Calibri" pitchFamily="34" charset="-122"/>
                <a:cs typeface="Calibri" pitchFamily="34" charset="-120"/>
              </a:rPr>
              <a:t>after</a:t>
            </a:r>
            <a:pPr indent="0" marL="0">
              <a:buNone/>
            </a:pPr>
            <a:r>
              <a:rPr lang="en-US" sz="1550" dirty="0">
                <a:solidFill>
                  <a:srgbClr val="DCE1EA"/>
                </a:solidFill>
                <a:latin typeface="Calibri" pitchFamily="34" charset="0"/>
                <a:ea typeface="Calibri" pitchFamily="34" charset="-122"/>
                <a:cs typeface="Calibri" pitchFamily="34" charset="-120"/>
              </a:rPr>
              <a:t> the experiment.</a:t>
            </a:r>
            <a:endParaRPr lang="en-US" sz="1550" dirty="0"/>
          </a:p>
          <a:p>
            <a:pPr indent="0" marL="0">
              <a:buNone/>
            </a:pPr>
            <a:r>
              <a:rPr lang="en-US" sz="800" dirty="0">
                <a:solidFill>
                  <a:srgbClr val="DCE1EA"/>
                </a:solidFill>
                <a:latin typeface="Calibri" pitchFamily="34" charset="0"/>
                <a:ea typeface="Calibri" pitchFamily="34" charset="-122"/>
                <a:cs typeface="Calibri" pitchFamily="34" charset="-120"/>
              </a:rPr>
              <a:t> </a:t>
            </a:r>
            <a:endParaRPr lang="en-US" sz="1550" dirty="0"/>
          </a:p>
          <a:p>
            <a:pPr indent="0" marL="0">
              <a:buNone/>
            </a:pPr>
            <a:r>
              <a:rPr lang="en-US" sz="1550" dirty="0">
                <a:solidFill>
                  <a:srgbClr val="DCE1EA"/>
                </a:solidFill>
                <a:latin typeface="Calibri" pitchFamily="34" charset="0"/>
                <a:ea typeface="Calibri" pitchFamily="34" charset="-122"/>
                <a:cs typeface="Calibri" pitchFamily="34" charset="-120"/>
              </a:rPr>
              <a:t>Nobody could show an offer </a:t>
            </a:r>
            <a:pPr indent="0" marL="0">
              <a:buNone/>
            </a:pPr>
            <a:r>
              <a:rPr lang="en-US" sz="1550" b="1" i="1" dirty="0">
                <a:solidFill>
                  <a:srgbClr val="F2A3B3"/>
                </a:solidFill>
                <a:latin typeface="Calibri" pitchFamily="34" charset="0"/>
                <a:ea typeface="Calibri" pitchFamily="34" charset="-122"/>
                <a:cs typeface="Calibri" pitchFamily="34" charset="-120"/>
              </a:rPr>
              <a:t>at</a:t>
            </a:r>
            <a:pPr indent="0" marL="0">
              <a:buNone/>
            </a:pPr>
            <a:r>
              <a:rPr lang="en-US" sz="1550" dirty="0">
                <a:solidFill>
                  <a:srgbClr val="DCE1EA"/>
                </a:solidFill>
                <a:latin typeface="Calibri" pitchFamily="34" charset="0"/>
                <a:ea typeface="Calibri" pitchFamily="34" charset="-122"/>
                <a:cs typeface="Calibri" pitchFamily="34" charset="-120"/>
              </a:rPr>
              <a:t> a chosen brain state.</a:t>
            </a:r>
            <a:endParaRPr lang="en-US" sz="1550" dirty="0"/>
          </a:p>
        </p:txBody>
      </p:sp>
      <p:sp>
        <p:nvSpPr>
          <p:cNvPr id="21" name="Text 18"/>
          <p:cNvSpPr txBox="1"/>
          <p:nvPr/>
        </p:nvSpPr>
        <p:spPr>
          <a:xfrm>
            <a:off x="7955280" y="4754880"/>
            <a:ext cx="3429000" cy="914400"/>
          </a:xfrm>
          <a:prstGeom prst="rect">
            <a:avLst/>
          </a:prstGeom>
          <a:noFill/>
          <a:ln/>
        </p:spPr>
        <p:txBody>
          <a:bodyPr wrap="square" lIns="0" tIns="0" rIns="0" bIns="0" rtlCol="0" anchor="t"/>
          <a:lstStyle/>
          <a:p>
            <a:pPr indent="0" marL="0">
              <a:buNone/>
            </a:pPr>
            <a:r>
              <a:rPr lang="en-US" sz="1550" b="1" dirty="0">
                <a:solidFill>
                  <a:srgbClr val="F2A3B3"/>
                </a:solidFill>
                <a:latin typeface="Calibri" pitchFamily="34" charset="0"/>
                <a:ea typeface="Calibri" pitchFamily="34" charset="-122"/>
                <a:cs typeface="Calibri" pitchFamily="34" charset="-120"/>
              </a:rPr>
              <a:t>This paper: </a:t>
            </a:r>
            <a:pPr indent="0" marL="0">
              <a:buNone/>
            </a:pPr>
            <a:r>
              <a:rPr lang="en-US" sz="1550" dirty="0">
                <a:solidFill>
                  <a:srgbClr val="FFFFFF"/>
                </a:solidFill>
                <a:latin typeface="Calibri" pitchFamily="34" charset="0"/>
                <a:ea typeface="Calibri" pitchFamily="34" charset="-122"/>
                <a:cs typeface="Calibri" pitchFamily="34" charset="-120"/>
              </a:rPr>
              <a:t>a system that shows each offer at a chosen brain state.</a:t>
            </a:r>
            <a:endParaRPr lang="en-US" sz="1550" dirty="0"/>
          </a:p>
        </p:txBody>
      </p:sp>
      <p:sp>
        <p:nvSpPr>
          <p:cNvPr id="22" name="Text 19"/>
          <p:cNvSpPr txBox="1"/>
          <p:nvPr/>
        </p:nvSpPr>
        <p:spPr>
          <a:xfrm>
            <a:off x="548640" y="6473952"/>
            <a:ext cx="7315200" cy="256032"/>
          </a:xfrm>
          <a:prstGeom prst="rect">
            <a:avLst/>
          </a:prstGeom>
          <a:noFill/>
          <a:ln/>
        </p:spPr>
        <p:txBody>
          <a:bodyPr wrap="square" lIns="0" tIns="0" rIns="0" bIns="0" rtlCol="0" anchor="ctr"/>
          <a:lstStyle/>
          <a:p>
            <a:pPr indent="0" marL="0">
              <a:buNone/>
            </a:pPr>
            <a:r>
              <a:rPr lang="en-US" sz="950" dirty="0">
                <a:solidFill>
                  <a:srgbClr val="5B6275"/>
                </a:solidFill>
                <a:latin typeface="Calibri" pitchFamily="34" charset="0"/>
                <a:ea typeface="Calibri" pitchFamily="34" charset="-122"/>
                <a:cs typeface="Calibri" pitchFamily="34" charset="-120"/>
              </a:rPr>
              <a:t>Baratin et al., Nature Communications (2026)</a:t>
            </a:r>
            <a:endParaRPr lang="en-US" sz="950" dirty="0"/>
          </a:p>
        </p:txBody>
      </p:sp>
      <p:sp>
        <p:nvSpPr>
          <p:cNvPr id="23" name="Text 20"/>
          <p:cNvSpPr txBox="1"/>
          <p:nvPr/>
        </p:nvSpPr>
        <p:spPr>
          <a:xfrm>
            <a:off x="11094415" y="6473952"/>
            <a:ext cx="548640" cy="256032"/>
          </a:xfrm>
          <a:prstGeom prst="rect">
            <a:avLst/>
          </a:prstGeom>
          <a:noFill/>
          <a:ln/>
        </p:spPr>
        <p:txBody>
          <a:bodyPr wrap="square" lIns="0" tIns="0" rIns="0" bIns="0" rtlCol="0" anchor="ctr"/>
          <a:lstStyle/>
          <a:p>
            <a:pPr algn="r" indent="0" marL="0">
              <a:buNone/>
            </a:pPr>
            <a:r>
              <a:rPr lang="en-US" sz="1000" dirty="0">
                <a:solidFill>
                  <a:srgbClr val="5B627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384048"/>
            <a:ext cx="3063240" cy="292608"/>
          </a:xfrm>
          <a:prstGeom prst="roundRect">
            <a:avLst>
              <a:gd name="adj" fmla="val 50000"/>
            </a:avLst>
          </a:prstGeom>
          <a:solidFill>
            <a:srgbClr val="252B3D"/>
          </a:solidFill>
          <a:ln w="12700">
            <a:solidFill>
              <a:srgbClr val="252B3D"/>
            </a:solidFill>
            <a:prstDash val="solid"/>
          </a:ln>
        </p:spPr>
      </p:sp>
      <p:sp>
        <p:nvSpPr>
          <p:cNvPr id="4" name="Text 1"/>
          <p:cNvSpPr txBox="1"/>
          <p:nvPr/>
        </p:nvSpPr>
        <p:spPr>
          <a:xfrm>
            <a:off x="548640" y="384048"/>
            <a:ext cx="3063240" cy="29260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WHERE THE DATA COMES FROM</a:t>
            </a:r>
            <a:endParaRPr lang="en-US" sz="1100" dirty="0"/>
          </a:p>
        </p:txBody>
      </p:sp>
      <p:sp>
        <p:nvSpPr>
          <p:cNvPr id="5" name="Text 2"/>
          <p:cNvSpPr txBox="1"/>
          <p:nvPr/>
        </p:nvSpPr>
        <p:spPr>
          <a:xfrm>
            <a:off x="548640" y="749808"/>
            <a:ext cx="11094415" cy="731520"/>
          </a:xfrm>
          <a:prstGeom prst="rect">
            <a:avLst/>
          </a:prstGeom>
          <a:noFill/>
          <a:ln/>
        </p:spPr>
        <p:txBody>
          <a:bodyPr wrap="square" lIns="0" tIns="0" rIns="0" bIns="0" rtlCol="0" anchor="t"/>
          <a:lstStyle/>
          <a:p>
            <a:pPr indent="0" marL="0">
              <a:buNone/>
            </a:pPr>
            <a:r>
              <a:rPr lang="en-US" sz="3000" b="1" dirty="0">
                <a:solidFill>
                  <a:srgbClr val="1D2230"/>
                </a:solidFill>
                <a:latin typeface="Cambria" pitchFamily="34" charset="0"/>
                <a:ea typeface="Cambria" pitchFamily="34" charset="-122"/>
                <a:cs typeface="Cambria" pitchFamily="34" charset="-120"/>
              </a:rPr>
              <a:t>Recording directly from inside the brain</a:t>
            </a:r>
            <a:endParaRPr lang="en-US" sz="3000" dirty="0"/>
          </a:p>
        </p:txBody>
      </p:sp>
      <p:sp>
        <p:nvSpPr>
          <p:cNvPr id="6" name="Shape 3"/>
          <p:cNvSpPr/>
          <p:nvPr/>
        </p:nvSpPr>
        <p:spPr>
          <a:xfrm>
            <a:off x="548640" y="1783080"/>
            <a:ext cx="5943600" cy="4069080"/>
          </a:xfrm>
          <a:prstGeom prst="roundRect">
            <a:avLst>
              <a:gd name="adj" fmla="val 2697"/>
            </a:avLst>
          </a:prstGeom>
          <a:solidFill>
            <a:srgbClr val="F2F4F8"/>
          </a:solidFill>
          <a:ln w="12700">
            <a:solidFill>
              <a:srgbClr val="F2F4F8"/>
            </a:solidFill>
            <a:prstDash val="solid"/>
          </a:ln>
        </p:spPr>
      </p:sp>
      <p:pic>
        <p:nvPicPr>
          <p:cNvPr id="7" name="Image 0" descr="/tmp/claude-0/-home-user-DOC/b62d63f6-2ef2-5ee3-9869-de2bf75305bc/scratchpad/img/f2a.png">    </p:cNvPr>
          <p:cNvPicPr>
            <a:picLocks noChangeAspect="1"/>
          </p:cNvPicPr>
          <p:nvPr/>
        </p:nvPicPr>
        <p:blipFill>
          <a:blip r:embed="rId1"/>
          <a:stretch>
            <a:fillRect/>
          </a:stretch>
        </p:blipFill>
        <p:spPr>
          <a:xfrm>
            <a:off x="731520" y="2567853"/>
            <a:ext cx="5577840" cy="1996613"/>
          </a:xfrm>
          <a:prstGeom prst="rect">
            <a:avLst/>
          </a:prstGeom>
        </p:spPr>
      </p:pic>
      <p:sp>
        <p:nvSpPr>
          <p:cNvPr id="8" name="Text 4"/>
          <p:cNvSpPr txBox="1"/>
          <p:nvPr/>
        </p:nvSpPr>
        <p:spPr>
          <a:xfrm>
            <a:off x="548640" y="5303520"/>
            <a:ext cx="5943600" cy="320040"/>
          </a:xfrm>
          <a:prstGeom prst="rect">
            <a:avLst/>
          </a:prstGeom>
          <a:noFill/>
          <a:ln/>
        </p:spPr>
        <p:txBody>
          <a:bodyPr wrap="square" lIns="0" tIns="0" rIns="0" bIns="0" rtlCol="0" anchor="ctr"/>
          <a:lstStyle/>
          <a:p>
            <a:pPr algn="ctr" indent="0" marL="0">
              <a:buNone/>
            </a:pPr>
            <a:r>
              <a:rPr lang="en-US" sz="1200" dirty="0">
                <a:solidFill>
                  <a:srgbClr val="5B6275"/>
                </a:solidFill>
                <a:latin typeface="Calibri" pitchFamily="34" charset="0"/>
                <a:ea typeface="Calibri" pitchFamily="34" charset="-122"/>
                <a:cs typeface="Calibri" pitchFamily="34" charset="-120"/>
              </a:rPr>
              <a:t>Recording points across participants (Fig. 2a)</a:t>
            </a:r>
            <a:endParaRPr lang="en-US" sz="1200" dirty="0"/>
          </a:p>
        </p:txBody>
      </p:sp>
      <p:sp>
        <p:nvSpPr>
          <p:cNvPr id="9" name="Shape 5"/>
          <p:cNvSpPr/>
          <p:nvPr/>
        </p:nvSpPr>
        <p:spPr>
          <a:xfrm>
            <a:off x="6858000" y="1856232"/>
            <a:ext cx="329184" cy="329184"/>
          </a:xfrm>
          <a:prstGeom prst="ellipse">
            <a:avLst/>
          </a:prstGeom>
          <a:solidFill>
            <a:srgbClr val="1F6FC5"/>
          </a:solidFill>
          <a:ln w="12700">
            <a:solidFill>
              <a:srgbClr val="1F6FC5"/>
            </a:solidFill>
            <a:prstDash val="solid"/>
          </a:ln>
        </p:spPr>
      </p:sp>
      <p:sp>
        <p:nvSpPr>
          <p:cNvPr id="10" name="Text 6"/>
          <p:cNvSpPr txBox="1"/>
          <p:nvPr/>
        </p:nvSpPr>
        <p:spPr>
          <a:xfrm>
            <a:off x="6858000" y="1856232"/>
            <a:ext cx="329184" cy="329184"/>
          </a:xfrm>
          <a:prstGeom prst="rect">
            <a:avLst/>
          </a:prstGeom>
          <a:noFill/>
          <a:ln/>
        </p:spPr>
        <p:txBody>
          <a:bodyPr wrap="square" lIns="0" tIns="0" rIns="0" bIns="0" rtlCol="0" anchor="ctr"/>
          <a:lstStyle/>
          <a:p>
            <a:pPr algn="ctr" indent="0" marL="0">
              <a:buNone/>
            </a:pPr>
            <a:endParaRPr lang="en-US" sz="1000" dirty="0"/>
          </a:p>
        </p:txBody>
      </p:sp>
      <p:sp>
        <p:nvSpPr>
          <p:cNvPr id="11" name="Text 7"/>
          <p:cNvSpPr txBox="1"/>
          <p:nvPr/>
        </p:nvSpPr>
        <p:spPr>
          <a:xfrm>
            <a:off x="7360920" y="1783080"/>
            <a:ext cx="4297680" cy="365760"/>
          </a:xfrm>
          <a:prstGeom prst="rect">
            <a:avLst/>
          </a:prstGeom>
          <a:noFill/>
          <a:ln/>
        </p:spPr>
        <p:txBody>
          <a:bodyPr wrap="square" lIns="0" tIns="0" rIns="0" bIns="0" rtlCol="0" anchor="ctr"/>
          <a:lstStyle/>
          <a:p>
            <a:pPr indent="0" marL="0">
              <a:buNone/>
            </a:pPr>
            <a:r>
              <a:rPr lang="en-US" sz="1600" b="1" dirty="0">
                <a:solidFill>
                  <a:srgbClr val="1D2230"/>
                </a:solidFill>
                <a:latin typeface="Calibri" pitchFamily="34" charset="0"/>
                <a:ea typeface="Calibri" pitchFamily="34" charset="-122"/>
                <a:cs typeface="Calibri" pitchFamily="34" charset="-120"/>
              </a:rPr>
              <a:t>Electrodes inside the brain (sEEG)</a:t>
            </a:r>
            <a:endParaRPr lang="en-US" sz="1600" dirty="0"/>
          </a:p>
        </p:txBody>
      </p:sp>
      <p:sp>
        <p:nvSpPr>
          <p:cNvPr id="12" name="Text 8"/>
          <p:cNvSpPr txBox="1"/>
          <p:nvPr/>
        </p:nvSpPr>
        <p:spPr>
          <a:xfrm>
            <a:off x="7360920" y="2148840"/>
            <a:ext cx="4297680" cy="603504"/>
          </a:xfrm>
          <a:prstGeom prst="rect">
            <a:avLst/>
          </a:prstGeom>
          <a:noFill/>
          <a:ln/>
        </p:spPr>
        <p:txBody>
          <a:bodyPr wrap="square" lIns="0" tIns="0" rIns="0" bIns="0" rtlCol="0" anchor="t"/>
          <a:lstStyle/>
          <a:p>
            <a:pPr indent="0" marL="0">
              <a:buNone/>
            </a:pPr>
            <a:r>
              <a:rPr lang="en-US" sz="1350" dirty="0">
                <a:solidFill>
                  <a:srgbClr val="5B6275"/>
                </a:solidFill>
                <a:latin typeface="Calibri" pitchFamily="34" charset="0"/>
                <a:ea typeface="Calibri" pitchFamily="34" charset="-122"/>
                <a:cs typeface="Calibri" pitchFamily="34" charset="-120"/>
              </a:rPr>
              <a:t>Implanted in epilepsy patients to plan surgery; lets researchers record deep regions directly.</a:t>
            </a:r>
            <a:endParaRPr lang="en-US" sz="1350" dirty="0"/>
          </a:p>
        </p:txBody>
      </p:sp>
      <p:sp>
        <p:nvSpPr>
          <p:cNvPr id="13" name="Shape 9"/>
          <p:cNvSpPr/>
          <p:nvPr/>
        </p:nvSpPr>
        <p:spPr>
          <a:xfrm>
            <a:off x="6858000" y="2898648"/>
            <a:ext cx="329184" cy="329184"/>
          </a:xfrm>
          <a:prstGeom prst="ellipse">
            <a:avLst/>
          </a:prstGeom>
          <a:solidFill>
            <a:srgbClr val="252B3D"/>
          </a:solidFill>
          <a:ln w="12700">
            <a:solidFill>
              <a:srgbClr val="252B3D"/>
            </a:solidFill>
            <a:prstDash val="solid"/>
          </a:ln>
        </p:spPr>
      </p:sp>
      <p:sp>
        <p:nvSpPr>
          <p:cNvPr id="14" name="Text 10"/>
          <p:cNvSpPr txBox="1"/>
          <p:nvPr/>
        </p:nvSpPr>
        <p:spPr>
          <a:xfrm>
            <a:off x="6858000" y="2898648"/>
            <a:ext cx="329184" cy="329184"/>
          </a:xfrm>
          <a:prstGeom prst="rect">
            <a:avLst/>
          </a:prstGeom>
          <a:noFill/>
          <a:ln/>
        </p:spPr>
        <p:txBody>
          <a:bodyPr wrap="square" lIns="0" tIns="0" rIns="0" bIns="0" rtlCol="0" anchor="ctr"/>
          <a:lstStyle/>
          <a:p>
            <a:pPr algn="ctr" indent="0" marL="0">
              <a:buNone/>
            </a:pPr>
            <a:endParaRPr lang="en-US" sz="1000" dirty="0"/>
          </a:p>
        </p:txBody>
      </p:sp>
      <p:sp>
        <p:nvSpPr>
          <p:cNvPr id="15" name="Text 11"/>
          <p:cNvSpPr txBox="1"/>
          <p:nvPr/>
        </p:nvSpPr>
        <p:spPr>
          <a:xfrm>
            <a:off x="7360920" y="2825496"/>
            <a:ext cx="4297680" cy="365760"/>
          </a:xfrm>
          <a:prstGeom prst="rect">
            <a:avLst/>
          </a:prstGeom>
          <a:noFill/>
          <a:ln/>
        </p:spPr>
        <p:txBody>
          <a:bodyPr wrap="square" lIns="0" tIns="0" rIns="0" bIns="0" rtlCol="0" anchor="ctr"/>
          <a:lstStyle/>
          <a:p>
            <a:pPr indent="0" marL="0">
              <a:buNone/>
            </a:pPr>
            <a:r>
              <a:rPr lang="en-US" sz="1600" b="1" dirty="0">
                <a:solidFill>
                  <a:srgbClr val="1D2230"/>
                </a:solidFill>
                <a:latin typeface="Calibri" pitchFamily="34" charset="0"/>
                <a:ea typeface="Calibri" pitchFamily="34" charset="-122"/>
                <a:cs typeface="Calibri" pitchFamily="34" charset="-120"/>
              </a:rPr>
              <a:t>Gamma activity (BGA, 70–150 Hz)</a:t>
            </a:r>
            <a:endParaRPr lang="en-US" sz="1600" dirty="0"/>
          </a:p>
        </p:txBody>
      </p:sp>
      <p:sp>
        <p:nvSpPr>
          <p:cNvPr id="16" name="Text 12"/>
          <p:cNvSpPr txBox="1"/>
          <p:nvPr/>
        </p:nvSpPr>
        <p:spPr>
          <a:xfrm>
            <a:off x="7360920" y="3191256"/>
            <a:ext cx="4297680" cy="603504"/>
          </a:xfrm>
          <a:prstGeom prst="rect">
            <a:avLst/>
          </a:prstGeom>
          <a:noFill/>
          <a:ln/>
        </p:spPr>
        <p:txBody>
          <a:bodyPr wrap="square" lIns="0" tIns="0" rIns="0" bIns="0" rtlCol="0" anchor="t"/>
          <a:lstStyle/>
          <a:p>
            <a:pPr indent="0" marL="0">
              <a:buNone/>
            </a:pPr>
            <a:r>
              <a:rPr lang="en-US" sz="1350" dirty="0">
                <a:solidFill>
                  <a:srgbClr val="5B6275"/>
                </a:solidFill>
                <a:latin typeface="Calibri" pitchFamily="34" charset="0"/>
                <a:ea typeface="Calibri" pitchFamily="34" charset="-122"/>
                <a:cs typeface="Calibri" pitchFamily="34" charset="-120"/>
              </a:rPr>
              <a:t>Fast brain waves: a local “activity meter”. More BGA = more neurons firing nearby.</a:t>
            </a:r>
            <a:endParaRPr lang="en-US" sz="1350" dirty="0"/>
          </a:p>
        </p:txBody>
      </p:sp>
      <p:sp>
        <p:nvSpPr>
          <p:cNvPr id="17" name="Shape 13"/>
          <p:cNvSpPr/>
          <p:nvPr/>
        </p:nvSpPr>
        <p:spPr>
          <a:xfrm>
            <a:off x="6858000" y="3941064"/>
            <a:ext cx="329184" cy="329184"/>
          </a:xfrm>
          <a:prstGeom prst="ellipse">
            <a:avLst/>
          </a:prstGeom>
          <a:solidFill>
            <a:srgbClr val="C8203F"/>
          </a:solidFill>
          <a:ln w="12700">
            <a:solidFill>
              <a:srgbClr val="C8203F"/>
            </a:solidFill>
            <a:prstDash val="solid"/>
          </a:ln>
        </p:spPr>
      </p:sp>
      <p:sp>
        <p:nvSpPr>
          <p:cNvPr id="18" name="Text 14"/>
          <p:cNvSpPr txBox="1"/>
          <p:nvPr/>
        </p:nvSpPr>
        <p:spPr>
          <a:xfrm>
            <a:off x="6858000" y="3941064"/>
            <a:ext cx="329184" cy="329184"/>
          </a:xfrm>
          <a:prstGeom prst="rect">
            <a:avLst/>
          </a:prstGeom>
          <a:noFill/>
          <a:ln/>
        </p:spPr>
        <p:txBody>
          <a:bodyPr wrap="square" lIns="0" tIns="0" rIns="0" bIns="0" rtlCol="0" anchor="ctr"/>
          <a:lstStyle/>
          <a:p>
            <a:pPr algn="ctr" indent="0" marL="0">
              <a:buNone/>
            </a:pPr>
            <a:endParaRPr lang="en-US" sz="1000" dirty="0"/>
          </a:p>
        </p:txBody>
      </p:sp>
      <p:sp>
        <p:nvSpPr>
          <p:cNvPr id="19" name="Text 15"/>
          <p:cNvSpPr txBox="1"/>
          <p:nvPr/>
        </p:nvSpPr>
        <p:spPr>
          <a:xfrm>
            <a:off x="7360920" y="3867912"/>
            <a:ext cx="4297680" cy="365760"/>
          </a:xfrm>
          <a:prstGeom prst="rect">
            <a:avLst/>
          </a:prstGeom>
          <a:noFill/>
          <a:ln/>
        </p:spPr>
        <p:txBody>
          <a:bodyPr wrap="square" lIns="0" tIns="0" rIns="0" bIns="0" rtlCol="0" anchor="ctr"/>
          <a:lstStyle/>
          <a:p>
            <a:pPr indent="0" marL="0">
              <a:buNone/>
            </a:pPr>
            <a:r>
              <a:rPr lang="en-US" sz="1600" b="1" dirty="0">
                <a:solidFill>
                  <a:srgbClr val="1D2230"/>
                </a:solidFill>
                <a:latin typeface="Calibri" pitchFamily="34" charset="0"/>
                <a:ea typeface="Calibri" pitchFamily="34" charset="-122"/>
                <a:cs typeface="Calibri" pitchFamily="34" charset="-120"/>
              </a:rPr>
              <a:t>Anterior insula (aIns)</a:t>
            </a:r>
            <a:endParaRPr lang="en-US" sz="1600" dirty="0"/>
          </a:p>
        </p:txBody>
      </p:sp>
      <p:sp>
        <p:nvSpPr>
          <p:cNvPr id="20" name="Text 16"/>
          <p:cNvSpPr txBox="1"/>
          <p:nvPr/>
        </p:nvSpPr>
        <p:spPr>
          <a:xfrm>
            <a:off x="7360920" y="4233672"/>
            <a:ext cx="4297680" cy="603504"/>
          </a:xfrm>
          <a:prstGeom prst="rect">
            <a:avLst/>
          </a:prstGeom>
          <a:noFill/>
          <a:ln/>
        </p:spPr>
        <p:txBody>
          <a:bodyPr wrap="square" lIns="0" tIns="0" rIns="0" bIns="0" rtlCol="0" anchor="t"/>
          <a:lstStyle/>
          <a:p>
            <a:pPr indent="0" marL="0">
              <a:buNone/>
            </a:pPr>
            <a:r>
              <a:rPr lang="en-US" sz="1350" dirty="0">
                <a:solidFill>
                  <a:srgbClr val="5B6275"/>
                </a:solidFill>
                <a:latin typeface="Calibri" pitchFamily="34" charset="0"/>
                <a:ea typeface="Calibri" pitchFamily="34" charset="-122"/>
                <a:cs typeface="Calibri" pitchFamily="34" charset="-120"/>
              </a:rPr>
              <a:t>The “this is unpleasant” region: losses, pain, bad mood.</a:t>
            </a:r>
            <a:endParaRPr lang="en-US" sz="1350" dirty="0"/>
          </a:p>
        </p:txBody>
      </p:sp>
      <p:sp>
        <p:nvSpPr>
          <p:cNvPr id="21" name="Shape 17"/>
          <p:cNvSpPr/>
          <p:nvPr/>
        </p:nvSpPr>
        <p:spPr>
          <a:xfrm>
            <a:off x="6858000" y="4983480"/>
            <a:ext cx="329184" cy="329184"/>
          </a:xfrm>
          <a:prstGeom prst="ellipse">
            <a:avLst/>
          </a:prstGeom>
          <a:solidFill>
            <a:srgbClr val="1E8E5A"/>
          </a:solidFill>
          <a:ln w="12700">
            <a:solidFill>
              <a:srgbClr val="1E8E5A"/>
            </a:solidFill>
            <a:prstDash val="solid"/>
          </a:ln>
        </p:spPr>
      </p:sp>
      <p:sp>
        <p:nvSpPr>
          <p:cNvPr id="22" name="Text 18"/>
          <p:cNvSpPr txBox="1"/>
          <p:nvPr/>
        </p:nvSpPr>
        <p:spPr>
          <a:xfrm>
            <a:off x="6858000" y="4983480"/>
            <a:ext cx="329184" cy="329184"/>
          </a:xfrm>
          <a:prstGeom prst="rect">
            <a:avLst/>
          </a:prstGeom>
          <a:noFill/>
          <a:ln/>
        </p:spPr>
        <p:txBody>
          <a:bodyPr wrap="square" lIns="0" tIns="0" rIns="0" bIns="0" rtlCol="0" anchor="ctr"/>
          <a:lstStyle/>
          <a:p>
            <a:pPr algn="ctr" indent="0" marL="0">
              <a:buNone/>
            </a:pPr>
            <a:endParaRPr lang="en-US" sz="1000" dirty="0"/>
          </a:p>
        </p:txBody>
      </p:sp>
      <p:sp>
        <p:nvSpPr>
          <p:cNvPr id="23" name="Text 19"/>
          <p:cNvSpPr txBox="1"/>
          <p:nvPr/>
        </p:nvSpPr>
        <p:spPr>
          <a:xfrm>
            <a:off x="7360920" y="4910328"/>
            <a:ext cx="4297680" cy="365760"/>
          </a:xfrm>
          <a:prstGeom prst="rect">
            <a:avLst/>
          </a:prstGeom>
          <a:noFill/>
          <a:ln/>
        </p:spPr>
        <p:txBody>
          <a:bodyPr wrap="square" lIns="0" tIns="0" rIns="0" bIns="0" rtlCol="0" anchor="ctr"/>
          <a:lstStyle/>
          <a:p>
            <a:pPr indent="0" marL="0">
              <a:buNone/>
            </a:pPr>
            <a:r>
              <a:rPr lang="en-US" sz="1600" b="1" dirty="0">
                <a:solidFill>
                  <a:srgbClr val="1D2230"/>
                </a:solidFill>
                <a:latin typeface="Calibri" pitchFamily="34" charset="0"/>
                <a:ea typeface="Calibri" pitchFamily="34" charset="-122"/>
                <a:cs typeface="Calibri" pitchFamily="34" charset="-120"/>
              </a:rPr>
              <a:t>vmPFC</a:t>
            </a:r>
            <a:endParaRPr lang="en-US" sz="1600" dirty="0"/>
          </a:p>
        </p:txBody>
      </p:sp>
      <p:sp>
        <p:nvSpPr>
          <p:cNvPr id="24" name="Text 20"/>
          <p:cNvSpPr txBox="1"/>
          <p:nvPr/>
        </p:nvSpPr>
        <p:spPr>
          <a:xfrm>
            <a:off x="7360920" y="5276088"/>
            <a:ext cx="4297680" cy="603504"/>
          </a:xfrm>
          <a:prstGeom prst="rect">
            <a:avLst/>
          </a:prstGeom>
          <a:noFill/>
          <a:ln/>
        </p:spPr>
        <p:txBody>
          <a:bodyPr wrap="square" lIns="0" tIns="0" rIns="0" bIns="0" rtlCol="0" anchor="t"/>
          <a:lstStyle/>
          <a:p>
            <a:pPr indent="0" marL="0">
              <a:buNone/>
            </a:pPr>
            <a:r>
              <a:rPr lang="en-US" sz="1350" dirty="0">
                <a:solidFill>
                  <a:srgbClr val="5B6275"/>
                </a:solidFill>
                <a:latin typeface="Calibri" pitchFamily="34" charset="0"/>
                <a:ea typeface="Calibri" pitchFamily="34" charset="-122"/>
                <a:cs typeface="Calibri" pitchFamily="34" charset="-120"/>
              </a:rPr>
              <a:t>The “how much do I want this” region: computes value and gains.</a:t>
            </a:r>
            <a:endParaRPr lang="en-US" sz="1350" dirty="0"/>
          </a:p>
        </p:txBody>
      </p:sp>
      <p:sp>
        <p:nvSpPr>
          <p:cNvPr id="25" name="Text 21"/>
          <p:cNvSpPr txBox="1"/>
          <p:nvPr/>
        </p:nvSpPr>
        <p:spPr>
          <a:xfrm>
            <a:off x="548640" y="6473952"/>
            <a:ext cx="7315200" cy="256032"/>
          </a:xfrm>
          <a:prstGeom prst="rect">
            <a:avLst/>
          </a:prstGeom>
          <a:noFill/>
          <a:ln/>
        </p:spPr>
        <p:txBody>
          <a:bodyPr wrap="square" lIns="0" tIns="0" rIns="0" bIns="0" rtlCol="0" anchor="ctr"/>
          <a:lstStyle/>
          <a:p>
            <a:pPr indent="0" marL="0">
              <a:buNone/>
            </a:pPr>
            <a:r>
              <a:rPr lang="en-US" sz="950" dirty="0">
                <a:solidFill>
                  <a:srgbClr val="5B6275"/>
                </a:solidFill>
                <a:latin typeface="Calibri" pitchFamily="34" charset="0"/>
                <a:ea typeface="Calibri" pitchFamily="34" charset="-122"/>
                <a:cs typeface="Calibri" pitchFamily="34" charset="-120"/>
              </a:rPr>
              <a:t>Figure panels: Baratin et al., Nat Commun 2026 (CC BY-NC-ND 4.0)</a:t>
            </a:r>
            <a:endParaRPr lang="en-US" sz="950" dirty="0"/>
          </a:p>
        </p:txBody>
      </p:sp>
      <p:sp>
        <p:nvSpPr>
          <p:cNvPr id="26" name="Text 22"/>
          <p:cNvSpPr txBox="1"/>
          <p:nvPr/>
        </p:nvSpPr>
        <p:spPr>
          <a:xfrm>
            <a:off x="11094415" y="6473952"/>
            <a:ext cx="548640" cy="256032"/>
          </a:xfrm>
          <a:prstGeom prst="rect">
            <a:avLst/>
          </a:prstGeom>
          <a:noFill/>
          <a:ln/>
        </p:spPr>
        <p:txBody>
          <a:bodyPr wrap="square" lIns="0" tIns="0" rIns="0" bIns="0" rtlCol="0" anchor="ctr"/>
          <a:lstStyle/>
          <a:p>
            <a:pPr algn="r" indent="0" marL="0">
              <a:buNone/>
            </a:pPr>
            <a:r>
              <a:rPr lang="en-US" sz="1000" dirty="0">
                <a:solidFill>
                  <a:srgbClr val="5B627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384048"/>
            <a:ext cx="2847442" cy="292608"/>
          </a:xfrm>
          <a:prstGeom prst="roundRect">
            <a:avLst>
              <a:gd name="adj" fmla="val 50000"/>
            </a:avLst>
          </a:prstGeom>
          <a:solidFill>
            <a:srgbClr val="252B3D"/>
          </a:solidFill>
          <a:ln w="12700">
            <a:solidFill>
              <a:srgbClr val="252B3D"/>
            </a:solidFill>
            <a:prstDash val="solid"/>
          </a:ln>
        </p:spPr>
      </p:sp>
      <p:sp>
        <p:nvSpPr>
          <p:cNvPr id="4" name="Text 1"/>
          <p:cNvSpPr txBox="1"/>
          <p:nvPr/>
        </p:nvSpPr>
        <p:spPr>
          <a:xfrm>
            <a:off x="548640" y="384048"/>
            <a:ext cx="2847442" cy="29260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TERMS IN PLAIN LANGUAGE</a:t>
            </a:r>
            <a:endParaRPr lang="en-US" sz="1100" dirty="0"/>
          </a:p>
        </p:txBody>
      </p:sp>
      <p:sp>
        <p:nvSpPr>
          <p:cNvPr id="5" name="Text 2"/>
          <p:cNvSpPr txBox="1"/>
          <p:nvPr/>
        </p:nvSpPr>
        <p:spPr>
          <a:xfrm>
            <a:off x="548640" y="749808"/>
            <a:ext cx="11094415" cy="731520"/>
          </a:xfrm>
          <a:prstGeom prst="rect">
            <a:avLst/>
          </a:prstGeom>
          <a:noFill/>
          <a:ln/>
        </p:spPr>
        <p:txBody>
          <a:bodyPr wrap="square" lIns="0" tIns="0" rIns="0" bIns="0" rtlCol="0" anchor="t"/>
          <a:lstStyle/>
          <a:p>
            <a:pPr indent="0" marL="0">
              <a:buNone/>
            </a:pPr>
            <a:r>
              <a:rPr lang="en-US" sz="3000" b="1" dirty="0">
                <a:solidFill>
                  <a:srgbClr val="1D2230"/>
                </a:solidFill>
                <a:latin typeface="Cambria" pitchFamily="34" charset="0"/>
                <a:ea typeface="Cambria" pitchFamily="34" charset="-122"/>
                <a:cs typeface="Cambria" pitchFamily="34" charset="-120"/>
              </a:rPr>
              <a:t>Terms used in this talk</a:t>
            </a:r>
            <a:endParaRPr lang="en-US" sz="3000" dirty="0"/>
          </a:p>
        </p:txBody>
      </p:sp>
      <p:sp>
        <p:nvSpPr>
          <p:cNvPr id="6" name="Shape 3"/>
          <p:cNvSpPr/>
          <p:nvPr/>
        </p:nvSpPr>
        <p:spPr>
          <a:xfrm>
            <a:off x="548640" y="1645920"/>
            <a:ext cx="5440680" cy="4617720"/>
          </a:xfrm>
          <a:prstGeom prst="roundRect">
            <a:avLst>
              <a:gd name="adj" fmla="val 2376"/>
            </a:avLst>
          </a:prstGeom>
          <a:solidFill>
            <a:srgbClr val="F2F4F8"/>
          </a:solidFill>
          <a:ln w="12700">
            <a:solidFill>
              <a:srgbClr val="F2F4F8"/>
            </a:solidFill>
            <a:prstDash val="solid"/>
          </a:ln>
        </p:spPr>
      </p:sp>
      <p:sp>
        <p:nvSpPr>
          <p:cNvPr id="7" name="Text 4"/>
          <p:cNvSpPr txBox="1"/>
          <p:nvPr/>
        </p:nvSpPr>
        <p:spPr>
          <a:xfrm>
            <a:off x="822960" y="1755648"/>
            <a:ext cx="4892040" cy="384048"/>
          </a:xfrm>
          <a:prstGeom prst="rect">
            <a:avLst/>
          </a:prstGeom>
          <a:noFill/>
          <a:ln/>
        </p:spPr>
        <p:txBody>
          <a:bodyPr wrap="square" lIns="0" tIns="0" rIns="0" bIns="0" rtlCol="0" anchor="ctr"/>
          <a:lstStyle/>
          <a:p>
            <a:pPr indent="0" marL="0">
              <a:buNone/>
            </a:pPr>
            <a:r>
              <a:rPr lang="en-US" sz="1800" b="1" dirty="0">
                <a:solidFill>
                  <a:srgbClr val="1F6FC5"/>
                </a:solidFill>
                <a:latin typeface="Cambria" pitchFamily="34" charset="0"/>
                <a:ea typeface="Cambria" pitchFamily="34" charset="-122"/>
                <a:cs typeface="Cambria" pitchFamily="34" charset="-120"/>
              </a:rPr>
              <a:t>Task &amp; method</a:t>
            </a:r>
            <a:endParaRPr lang="en-US" sz="1800" dirty="0"/>
          </a:p>
        </p:txBody>
      </p:sp>
      <p:sp>
        <p:nvSpPr>
          <p:cNvPr id="8" name="Text 5"/>
          <p:cNvSpPr txBox="1"/>
          <p:nvPr/>
        </p:nvSpPr>
        <p:spPr>
          <a:xfrm>
            <a:off x="822960" y="2212848"/>
            <a:ext cx="1783080" cy="585216"/>
          </a:xfrm>
          <a:prstGeom prst="rect">
            <a:avLst/>
          </a:prstGeom>
          <a:noFill/>
          <a:ln/>
        </p:spPr>
        <p:txBody>
          <a:bodyPr wrap="square" lIns="0" tIns="0" rIns="0" bIns="0" rtlCol="0" anchor="t"/>
          <a:lstStyle/>
          <a:p>
            <a:pPr indent="0" marL="0">
              <a:buNone/>
            </a:pPr>
            <a:r>
              <a:rPr lang="en-US" sz="1350" b="1" dirty="0">
                <a:solidFill>
                  <a:srgbClr val="1D2230"/>
                </a:solidFill>
                <a:latin typeface="Calibri" pitchFamily="34" charset="0"/>
                <a:ea typeface="Calibri" pitchFamily="34" charset="-122"/>
                <a:cs typeface="Calibri" pitchFamily="34" charset="-120"/>
              </a:rPr>
              <a:t>Closed-loop BCI</a:t>
            </a:r>
            <a:endParaRPr lang="en-US" sz="1350" dirty="0"/>
          </a:p>
        </p:txBody>
      </p:sp>
      <p:sp>
        <p:nvSpPr>
          <p:cNvPr id="9" name="Text 6"/>
          <p:cNvSpPr txBox="1"/>
          <p:nvPr/>
        </p:nvSpPr>
        <p:spPr>
          <a:xfrm>
            <a:off x="2651760" y="2212848"/>
            <a:ext cx="3108960" cy="585216"/>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Software that reads brain signals live and reacts; here, it decides when to show the next offer.</a:t>
            </a:r>
            <a:endParaRPr lang="en-US" sz="1250" dirty="0"/>
          </a:p>
        </p:txBody>
      </p:sp>
      <p:sp>
        <p:nvSpPr>
          <p:cNvPr id="10" name="Text 7"/>
          <p:cNvSpPr txBox="1"/>
          <p:nvPr/>
        </p:nvSpPr>
        <p:spPr>
          <a:xfrm>
            <a:off x="822960" y="2880360"/>
            <a:ext cx="1783080" cy="585216"/>
          </a:xfrm>
          <a:prstGeom prst="rect">
            <a:avLst/>
          </a:prstGeom>
          <a:noFill/>
          <a:ln/>
        </p:spPr>
        <p:txBody>
          <a:bodyPr wrap="square" lIns="0" tIns="0" rIns="0" bIns="0" rtlCol="0" anchor="t"/>
          <a:lstStyle/>
          <a:p>
            <a:pPr indent="0" marL="0">
              <a:buNone/>
            </a:pPr>
            <a:r>
              <a:rPr lang="en-US" sz="1350" b="1" dirty="0">
                <a:solidFill>
                  <a:srgbClr val="1D2230"/>
                </a:solidFill>
                <a:latin typeface="Calibri" pitchFamily="34" charset="0"/>
                <a:ea typeface="Calibri" pitchFamily="34" charset="-122"/>
                <a:cs typeface="Calibri" pitchFamily="34" charset="-120"/>
              </a:rPr>
              <a:t>Up- / down-state</a:t>
            </a:r>
            <a:endParaRPr lang="en-US" sz="1350" dirty="0"/>
          </a:p>
        </p:txBody>
      </p:sp>
      <p:sp>
        <p:nvSpPr>
          <p:cNvPr id="11" name="Text 8"/>
          <p:cNvSpPr txBox="1"/>
          <p:nvPr/>
        </p:nvSpPr>
        <p:spPr>
          <a:xfrm>
            <a:off x="2651760" y="2880360"/>
            <a:ext cx="3108960" cy="585216"/>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A moment when activity is unusually high / low compared with the recent past.</a:t>
            </a:r>
            <a:endParaRPr lang="en-US" sz="1250" dirty="0"/>
          </a:p>
        </p:txBody>
      </p:sp>
      <p:sp>
        <p:nvSpPr>
          <p:cNvPr id="12" name="Text 9"/>
          <p:cNvSpPr txBox="1"/>
          <p:nvPr/>
        </p:nvSpPr>
        <p:spPr>
          <a:xfrm>
            <a:off x="822960" y="3547872"/>
            <a:ext cx="1783080" cy="585216"/>
          </a:xfrm>
          <a:prstGeom prst="rect">
            <a:avLst/>
          </a:prstGeom>
          <a:noFill/>
          <a:ln/>
        </p:spPr>
        <p:txBody>
          <a:bodyPr wrap="square" lIns="0" tIns="0" rIns="0" bIns="0" rtlCol="0" anchor="t"/>
          <a:lstStyle/>
          <a:p>
            <a:pPr indent="0" marL="0">
              <a:buNone/>
            </a:pPr>
            <a:r>
              <a:rPr lang="en-US" sz="1350" b="1" dirty="0">
                <a:solidFill>
                  <a:srgbClr val="1D2230"/>
                </a:solidFill>
                <a:latin typeface="Calibri" pitchFamily="34" charset="0"/>
                <a:ea typeface="Calibri" pitchFamily="34" charset="-122"/>
                <a:cs typeface="Calibri" pitchFamily="34" charset="-120"/>
              </a:rPr>
              <a:t>Decision value (DV)</a:t>
            </a:r>
            <a:endParaRPr lang="en-US" sz="1350" dirty="0"/>
          </a:p>
        </p:txBody>
      </p:sp>
      <p:sp>
        <p:nvSpPr>
          <p:cNvPr id="13" name="Text 10"/>
          <p:cNvSpPr txBox="1"/>
          <p:nvPr/>
        </p:nvSpPr>
        <p:spPr>
          <a:xfrm>
            <a:off x="2651760" y="3547872"/>
            <a:ext cx="3108960" cy="585216"/>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Pleasant rating − unpleasant rating. Higher = better deal.</a:t>
            </a:r>
            <a:endParaRPr lang="en-US" sz="1250" dirty="0"/>
          </a:p>
        </p:txBody>
      </p:sp>
      <p:sp>
        <p:nvSpPr>
          <p:cNvPr id="14" name="Text 11"/>
          <p:cNvSpPr txBox="1"/>
          <p:nvPr/>
        </p:nvSpPr>
        <p:spPr>
          <a:xfrm>
            <a:off x="822960" y="4215384"/>
            <a:ext cx="1783080" cy="585216"/>
          </a:xfrm>
          <a:prstGeom prst="rect">
            <a:avLst/>
          </a:prstGeom>
          <a:noFill/>
          <a:ln/>
        </p:spPr>
        <p:txBody>
          <a:bodyPr wrap="square" lIns="0" tIns="0" rIns="0" bIns="0" rtlCol="0" anchor="t"/>
          <a:lstStyle/>
          <a:p>
            <a:pPr indent="0" marL="0">
              <a:buNone/>
            </a:pPr>
            <a:r>
              <a:rPr lang="en-US" sz="1350" b="1" dirty="0">
                <a:solidFill>
                  <a:srgbClr val="1D2230"/>
                </a:solidFill>
                <a:latin typeface="Calibri" pitchFamily="34" charset="0"/>
                <a:ea typeface="Calibri" pitchFamily="34" charset="-122"/>
                <a:cs typeface="Calibri" pitchFamily="34" charset="-120"/>
              </a:rPr>
              <a:t>Indifference point</a:t>
            </a:r>
            <a:endParaRPr lang="en-US" sz="1350" dirty="0"/>
          </a:p>
        </p:txBody>
      </p:sp>
      <p:sp>
        <p:nvSpPr>
          <p:cNvPr id="15" name="Text 12"/>
          <p:cNvSpPr txBox="1"/>
          <p:nvPr/>
        </p:nvSpPr>
        <p:spPr>
          <a:xfrm>
            <a:off x="2651760" y="4215384"/>
            <a:ext cx="3108960" cy="585216"/>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The DV where a person says “yes” 50% of the time: the hardest choices.</a:t>
            </a:r>
            <a:endParaRPr lang="en-US" sz="1250" dirty="0"/>
          </a:p>
        </p:txBody>
      </p:sp>
      <p:sp>
        <p:nvSpPr>
          <p:cNvPr id="16" name="Text 13"/>
          <p:cNvSpPr txBox="1"/>
          <p:nvPr/>
        </p:nvSpPr>
        <p:spPr>
          <a:xfrm>
            <a:off x="822960" y="4882896"/>
            <a:ext cx="1783080" cy="585216"/>
          </a:xfrm>
          <a:prstGeom prst="rect">
            <a:avLst/>
          </a:prstGeom>
          <a:noFill/>
          <a:ln/>
        </p:spPr>
        <p:txBody>
          <a:bodyPr wrap="square" lIns="0" tIns="0" rIns="0" bIns="0" rtlCol="0" anchor="t"/>
          <a:lstStyle/>
          <a:p>
            <a:pPr indent="0" marL="0">
              <a:buNone/>
            </a:pPr>
            <a:r>
              <a:rPr lang="en-US" sz="1350" b="1" dirty="0">
                <a:solidFill>
                  <a:srgbClr val="1D2230"/>
                </a:solidFill>
                <a:latin typeface="Calibri" pitchFamily="34" charset="0"/>
                <a:ea typeface="Calibri" pitchFamily="34" charset="-122"/>
                <a:cs typeface="Calibri" pitchFamily="34" charset="-120"/>
              </a:rPr>
              <a:t>Time–frequency map</a:t>
            </a:r>
            <a:endParaRPr lang="en-US" sz="1350" dirty="0"/>
          </a:p>
        </p:txBody>
      </p:sp>
      <p:sp>
        <p:nvSpPr>
          <p:cNvPr id="17" name="Text 14"/>
          <p:cNvSpPr txBox="1"/>
          <p:nvPr/>
        </p:nvSpPr>
        <p:spPr>
          <a:xfrm>
            <a:off x="2651760" y="4882896"/>
            <a:ext cx="3108960" cy="585216"/>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Spectrogram-like heat map of signal power per frequency over time.</a:t>
            </a:r>
            <a:endParaRPr lang="en-US" sz="1250" dirty="0"/>
          </a:p>
        </p:txBody>
      </p:sp>
      <p:sp>
        <p:nvSpPr>
          <p:cNvPr id="18" name="Text 15"/>
          <p:cNvSpPr txBox="1"/>
          <p:nvPr/>
        </p:nvSpPr>
        <p:spPr>
          <a:xfrm>
            <a:off x="822960" y="5550408"/>
            <a:ext cx="1783080" cy="585216"/>
          </a:xfrm>
          <a:prstGeom prst="rect">
            <a:avLst/>
          </a:prstGeom>
          <a:noFill/>
          <a:ln/>
        </p:spPr>
        <p:txBody>
          <a:bodyPr wrap="square" lIns="0" tIns="0" rIns="0" bIns="0" rtlCol="0" anchor="t"/>
          <a:lstStyle/>
          <a:p>
            <a:pPr indent="0" marL="0">
              <a:buNone/>
            </a:pPr>
            <a:r>
              <a:rPr lang="en-US" sz="1350" b="1" dirty="0">
                <a:solidFill>
                  <a:srgbClr val="1D2230"/>
                </a:solidFill>
                <a:latin typeface="Calibri" pitchFamily="34" charset="0"/>
                <a:ea typeface="Calibri" pitchFamily="34" charset="-122"/>
                <a:cs typeface="Calibri" pitchFamily="34" charset="-120"/>
              </a:rPr>
              <a:t>Interictal activity</a:t>
            </a:r>
            <a:endParaRPr lang="en-US" sz="1350" dirty="0"/>
          </a:p>
        </p:txBody>
      </p:sp>
      <p:sp>
        <p:nvSpPr>
          <p:cNvPr id="19" name="Text 16"/>
          <p:cNvSpPr txBox="1"/>
          <p:nvPr/>
        </p:nvSpPr>
        <p:spPr>
          <a:xfrm>
            <a:off x="2651760" y="5550408"/>
            <a:ext cx="3108960" cy="585216"/>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Abnormal epileptic spikes between seizures; could fake an up-state, so it's removed.</a:t>
            </a:r>
            <a:endParaRPr lang="en-US" sz="1250" dirty="0"/>
          </a:p>
        </p:txBody>
      </p:sp>
      <p:sp>
        <p:nvSpPr>
          <p:cNvPr id="20" name="Shape 17"/>
          <p:cNvSpPr/>
          <p:nvPr/>
        </p:nvSpPr>
        <p:spPr>
          <a:xfrm>
            <a:off x="6217920" y="1645920"/>
            <a:ext cx="5440680" cy="4617720"/>
          </a:xfrm>
          <a:prstGeom prst="roundRect">
            <a:avLst>
              <a:gd name="adj" fmla="val 2376"/>
            </a:avLst>
          </a:prstGeom>
          <a:solidFill>
            <a:srgbClr val="F2F4F8"/>
          </a:solidFill>
          <a:ln w="12700">
            <a:solidFill>
              <a:srgbClr val="F2F4F8"/>
            </a:solidFill>
            <a:prstDash val="solid"/>
          </a:ln>
        </p:spPr>
      </p:sp>
      <p:sp>
        <p:nvSpPr>
          <p:cNvPr id="21" name="Text 18"/>
          <p:cNvSpPr txBox="1"/>
          <p:nvPr/>
        </p:nvSpPr>
        <p:spPr>
          <a:xfrm>
            <a:off x="6492240" y="1755648"/>
            <a:ext cx="4892040" cy="384048"/>
          </a:xfrm>
          <a:prstGeom prst="rect">
            <a:avLst/>
          </a:prstGeom>
          <a:noFill/>
          <a:ln/>
        </p:spPr>
        <p:txBody>
          <a:bodyPr wrap="square" lIns="0" tIns="0" rIns="0" bIns="0" rtlCol="0" anchor="ctr"/>
          <a:lstStyle/>
          <a:p>
            <a:pPr indent="0" marL="0">
              <a:buNone/>
            </a:pPr>
            <a:r>
              <a:rPr lang="en-US" sz="1800" b="1" dirty="0">
                <a:solidFill>
                  <a:srgbClr val="1E8E5A"/>
                </a:solidFill>
                <a:latin typeface="Cambria" pitchFamily="34" charset="0"/>
                <a:ea typeface="Cambria" pitchFamily="34" charset="-122"/>
                <a:cs typeface="Cambria" pitchFamily="34" charset="-120"/>
              </a:rPr>
              <a:t>Statistics</a:t>
            </a:r>
            <a:endParaRPr lang="en-US" sz="1800" dirty="0"/>
          </a:p>
        </p:txBody>
      </p:sp>
      <p:sp>
        <p:nvSpPr>
          <p:cNvPr id="22" name="Text 19"/>
          <p:cNvSpPr txBox="1"/>
          <p:nvPr/>
        </p:nvSpPr>
        <p:spPr>
          <a:xfrm>
            <a:off x="6492240" y="2212848"/>
            <a:ext cx="1783080" cy="585216"/>
          </a:xfrm>
          <a:prstGeom prst="rect">
            <a:avLst/>
          </a:prstGeom>
          <a:noFill/>
          <a:ln/>
        </p:spPr>
        <p:txBody>
          <a:bodyPr wrap="square" lIns="0" tIns="0" rIns="0" bIns="0" rtlCol="0" anchor="t"/>
          <a:lstStyle/>
          <a:p>
            <a:pPr indent="0" marL="0">
              <a:buNone/>
            </a:pPr>
            <a:r>
              <a:rPr lang="en-US" sz="1350" b="1" dirty="0">
                <a:solidFill>
                  <a:srgbClr val="1D2230"/>
                </a:solidFill>
                <a:latin typeface="Calibri" pitchFamily="34" charset="0"/>
                <a:ea typeface="Calibri" pitchFamily="34" charset="-122"/>
                <a:cs typeface="Calibri" pitchFamily="34" charset="-120"/>
              </a:rPr>
              <a:t>Mixed-effects regression</a:t>
            </a:r>
            <a:endParaRPr lang="en-US" sz="1350" dirty="0"/>
          </a:p>
        </p:txBody>
      </p:sp>
      <p:sp>
        <p:nvSpPr>
          <p:cNvPr id="23" name="Text 20"/>
          <p:cNvSpPr txBox="1"/>
          <p:nvPr/>
        </p:nvSpPr>
        <p:spPr>
          <a:xfrm>
            <a:off x="8321040" y="2212848"/>
            <a:ext cx="3108960" cy="585216"/>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Regression over all trials that lets each participant have their own baseline.</a:t>
            </a:r>
            <a:endParaRPr lang="en-US" sz="1250" dirty="0"/>
          </a:p>
        </p:txBody>
      </p:sp>
      <p:sp>
        <p:nvSpPr>
          <p:cNvPr id="24" name="Text 21"/>
          <p:cNvSpPr txBox="1"/>
          <p:nvPr/>
        </p:nvSpPr>
        <p:spPr>
          <a:xfrm>
            <a:off x="6492240" y="2880360"/>
            <a:ext cx="1783080" cy="585216"/>
          </a:xfrm>
          <a:prstGeom prst="rect">
            <a:avLst/>
          </a:prstGeom>
          <a:noFill/>
          <a:ln/>
        </p:spPr>
        <p:txBody>
          <a:bodyPr wrap="square" lIns="0" tIns="0" rIns="0" bIns="0" rtlCol="0" anchor="t"/>
          <a:lstStyle/>
          <a:p>
            <a:pPr indent="0" marL="0">
              <a:buNone/>
            </a:pPr>
            <a:r>
              <a:rPr lang="en-US" sz="1350" b="1" dirty="0">
                <a:solidFill>
                  <a:srgbClr val="1D2230"/>
                </a:solidFill>
                <a:latin typeface="Calibri" pitchFamily="34" charset="0"/>
                <a:ea typeface="Calibri" pitchFamily="34" charset="-122"/>
                <a:cs typeface="Calibri" pitchFamily="34" charset="-120"/>
              </a:rPr>
              <a:t>Logistic regression</a:t>
            </a:r>
            <a:endParaRPr lang="en-US" sz="1350" dirty="0"/>
          </a:p>
        </p:txBody>
      </p:sp>
      <p:sp>
        <p:nvSpPr>
          <p:cNvPr id="25" name="Text 22"/>
          <p:cNvSpPr txBox="1"/>
          <p:nvPr/>
        </p:nvSpPr>
        <p:spPr>
          <a:xfrm>
            <a:off x="8321040" y="2880360"/>
            <a:ext cx="3108960" cy="585216"/>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Predicts the probability of a yes/no outcome (accept vs. reject).</a:t>
            </a:r>
            <a:endParaRPr lang="en-US" sz="1250" dirty="0"/>
          </a:p>
        </p:txBody>
      </p:sp>
      <p:sp>
        <p:nvSpPr>
          <p:cNvPr id="26" name="Text 23"/>
          <p:cNvSpPr txBox="1"/>
          <p:nvPr/>
        </p:nvSpPr>
        <p:spPr>
          <a:xfrm>
            <a:off x="6492240" y="3547872"/>
            <a:ext cx="1783080" cy="585216"/>
          </a:xfrm>
          <a:prstGeom prst="rect">
            <a:avLst/>
          </a:prstGeom>
          <a:noFill/>
          <a:ln/>
        </p:spPr>
        <p:txBody>
          <a:bodyPr wrap="square" lIns="0" tIns="0" rIns="0" bIns="0" rtlCol="0" anchor="t"/>
          <a:lstStyle/>
          <a:p>
            <a:pPr indent="0" marL="0">
              <a:buNone/>
            </a:pPr>
            <a:r>
              <a:rPr lang="en-US" sz="1350" b="1" dirty="0">
                <a:solidFill>
                  <a:srgbClr val="1D2230"/>
                </a:solidFill>
                <a:latin typeface="Calibri" pitchFamily="34" charset="0"/>
                <a:ea typeface="Calibri" pitchFamily="34" charset="-122"/>
                <a:cs typeface="Calibri" pitchFamily="34" charset="-120"/>
              </a:rPr>
              <a:t>β (beta)</a:t>
            </a:r>
            <a:endParaRPr lang="en-US" sz="1350" dirty="0"/>
          </a:p>
        </p:txBody>
      </p:sp>
      <p:sp>
        <p:nvSpPr>
          <p:cNvPr id="27" name="Text 24"/>
          <p:cNvSpPr txBox="1"/>
          <p:nvPr/>
        </p:nvSpPr>
        <p:spPr>
          <a:xfrm>
            <a:off x="8321040" y="3547872"/>
            <a:ext cx="3108960" cy="585216"/>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Fitted coefficient: sign = direction, size = strength of an effect.</a:t>
            </a:r>
            <a:endParaRPr lang="en-US" sz="1250" dirty="0"/>
          </a:p>
        </p:txBody>
      </p:sp>
      <p:sp>
        <p:nvSpPr>
          <p:cNvPr id="28" name="Text 25"/>
          <p:cNvSpPr txBox="1"/>
          <p:nvPr/>
        </p:nvSpPr>
        <p:spPr>
          <a:xfrm>
            <a:off x="6492240" y="4215384"/>
            <a:ext cx="1783080" cy="585216"/>
          </a:xfrm>
          <a:prstGeom prst="rect">
            <a:avLst/>
          </a:prstGeom>
          <a:noFill/>
          <a:ln/>
        </p:spPr>
        <p:txBody>
          <a:bodyPr wrap="square" lIns="0" tIns="0" rIns="0" bIns="0" rtlCol="0" anchor="t"/>
          <a:lstStyle/>
          <a:p>
            <a:pPr indent="0" marL="0">
              <a:buNone/>
            </a:pPr>
            <a:r>
              <a:rPr lang="en-US" sz="1350" b="1" dirty="0">
                <a:solidFill>
                  <a:srgbClr val="1D2230"/>
                </a:solidFill>
                <a:latin typeface="Calibri" pitchFamily="34" charset="0"/>
                <a:ea typeface="Calibri" pitchFamily="34" charset="-122"/>
                <a:cs typeface="Calibri" pitchFamily="34" charset="-120"/>
              </a:rPr>
              <a:t>p-value</a:t>
            </a:r>
            <a:endParaRPr lang="en-US" sz="1350" dirty="0"/>
          </a:p>
        </p:txBody>
      </p:sp>
      <p:sp>
        <p:nvSpPr>
          <p:cNvPr id="29" name="Text 26"/>
          <p:cNvSpPr txBox="1"/>
          <p:nvPr/>
        </p:nvSpPr>
        <p:spPr>
          <a:xfrm>
            <a:off x="8321040" y="4215384"/>
            <a:ext cx="3108960" cy="585216"/>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How likely an effect this big is if there were none. p &lt; 0.05 = “significant”.</a:t>
            </a:r>
            <a:endParaRPr lang="en-US" sz="1250" dirty="0"/>
          </a:p>
        </p:txBody>
      </p:sp>
      <p:sp>
        <p:nvSpPr>
          <p:cNvPr id="30" name="Text 27"/>
          <p:cNvSpPr txBox="1"/>
          <p:nvPr/>
        </p:nvSpPr>
        <p:spPr>
          <a:xfrm>
            <a:off x="6492240" y="4882896"/>
            <a:ext cx="1783080" cy="585216"/>
          </a:xfrm>
          <a:prstGeom prst="rect">
            <a:avLst/>
          </a:prstGeom>
          <a:noFill/>
          <a:ln/>
        </p:spPr>
        <p:txBody>
          <a:bodyPr wrap="square" lIns="0" tIns="0" rIns="0" bIns="0" rtlCol="0" anchor="t"/>
          <a:lstStyle/>
          <a:p>
            <a:pPr indent="0" marL="0">
              <a:buNone/>
            </a:pPr>
            <a:r>
              <a:rPr lang="en-US" sz="1350" b="1" dirty="0">
                <a:solidFill>
                  <a:srgbClr val="1D2230"/>
                </a:solidFill>
                <a:latin typeface="Calibri" pitchFamily="34" charset="0"/>
                <a:ea typeface="Calibri" pitchFamily="34" charset="-122"/>
                <a:cs typeface="Calibri" pitchFamily="34" charset="-120"/>
              </a:rPr>
              <a:t>z / t statistic</a:t>
            </a:r>
            <a:endParaRPr lang="en-US" sz="1350" dirty="0"/>
          </a:p>
        </p:txBody>
      </p:sp>
      <p:sp>
        <p:nvSpPr>
          <p:cNvPr id="31" name="Text 28"/>
          <p:cNvSpPr txBox="1"/>
          <p:nvPr/>
        </p:nvSpPr>
        <p:spPr>
          <a:xfrm>
            <a:off x="8321040" y="4882896"/>
            <a:ext cx="3108960" cy="585216"/>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Effect ÷ its uncertainty. Beyond about ±2 usually means significant.</a:t>
            </a:r>
            <a:endParaRPr lang="en-US" sz="1250" dirty="0"/>
          </a:p>
        </p:txBody>
      </p:sp>
      <p:sp>
        <p:nvSpPr>
          <p:cNvPr id="32" name="Text 29"/>
          <p:cNvSpPr txBox="1"/>
          <p:nvPr/>
        </p:nvSpPr>
        <p:spPr>
          <a:xfrm>
            <a:off x="6492240" y="5550408"/>
            <a:ext cx="1783080" cy="585216"/>
          </a:xfrm>
          <a:prstGeom prst="rect">
            <a:avLst/>
          </a:prstGeom>
          <a:noFill/>
          <a:ln/>
        </p:spPr>
        <p:txBody>
          <a:bodyPr wrap="square" lIns="0" tIns="0" rIns="0" bIns="0" rtlCol="0" anchor="t"/>
          <a:lstStyle/>
          <a:p>
            <a:pPr indent="0" marL="0">
              <a:buNone/>
            </a:pPr>
            <a:r>
              <a:rPr lang="en-US" sz="1350" b="1" dirty="0">
                <a:solidFill>
                  <a:srgbClr val="1D2230"/>
                </a:solidFill>
                <a:latin typeface="Calibri" pitchFamily="34" charset="0"/>
                <a:ea typeface="Calibri" pitchFamily="34" charset="-122"/>
                <a:cs typeface="Calibri" pitchFamily="34" charset="-120"/>
              </a:rPr>
              <a:t>Median &amp; MAD</a:t>
            </a:r>
            <a:endParaRPr lang="en-US" sz="1350" dirty="0"/>
          </a:p>
        </p:txBody>
      </p:sp>
      <p:sp>
        <p:nvSpPr>
          <p:cNvPr id="33" name="Text 30"/>
          <p:cNvSpPr txBox="1"/>
          <p:nvPr/>
        </p:nvSpPr>
        <p:spPr>
          <a:xfrm>
            <a:off x="8321040" y="5550408"/>
            <a:ext cx="3108960" cy="585216"/>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Robust mean and spread (median absolute deviation): outliers barely move them.</a:t>
            </a:r>
            <a:endParaRPr lang="en-US" sz="1250" dirty="0"/>
          </a:p>
        </p:txBody>
      </p:sp>
      <p:sp>
        <p:nvSpPr>
          <p:cNvPr id="34" name="Text 31"/>
          <p:cNvSpPr txBox="1"/>
          <p:nvPr/>
        </p:nvSpPr>
        <p:spPr>
          <a:xfrm>
            <a:off x="548640" y="6473952"/>
            <a:ext cx="7315200" cy="256032"/>
          </a:xfrm>
          <a:prstGeom prst="rect">
            <a:avLst/>
          </a:prstGeom>
          <a:noFill/>
          <a:ln/>
        </p:spPr>
        <p:txBody>
          <a:bodyPr wrap="square" lIns="0" tIns="0" rIns="0" bIns="0" rtlCol="0" anchor="ctr"/>
          <a:lstStyle/>
          <a:p>
            <a:pPr indent="0" marL="0">
              <a:buNone/>
            </a:pPr>
            <a:r>
              <a:rPr lang="en-US" sz="950" dirty="0">
                <a:solidFill>
                  <a:srgbClr val="5B6275"/>
                </a:solidFill>
                <a:latin typeface="Calibri" pitchFamily="34" charset="0"/>
                <a:ea typeface="Calibri" pitchFamily="34" charset="-122"/>
                <a:cs typeface="Calibri" pitchFamily="34" charset="-120"/>
              </a:rPr>
              <a:t>Baratin et al., Nature Communications (2026)</a:t>
            </a:r>
            <a:endParaRPr lang="en-US" sz="950" dirty="0"/>
          </a:p>
        </p:txBody>
      </p:sp>
      <p:sp>
        <p:nvSpPr>
          <p:cNvPr id="35" name="Text 32"/>
          <p:cNvSpPr txBox="1"/>
          <p:nvPr/>
        </p:nvSpPr>
        <p:spPr>
          <a:xfrm>
            <a:off x="11094415" y="6473952"/>
            <a:ext cx="548640" cy="256032"/>
          </a:xfrm>
          <a:prstGeom prst="rect">
            <a:avLst/>
          </a:prstGeom>
          <a:noFill/>
          <a:ln/>
        </p:spPr>
        <p:txBody>
          <a:bodyPr wrap="square" lIns="0" tIns="0" rIns="0" bIns="0" rtlCol="0" anchor="ctr"/>
          <a:lstStyle/>
          <a:p>
            <a:pPr algn="r" indent="0" marL="0">
              <a:buNone/>
            </a:pPr>
            <a:r>
              <a:rPr lang="en-US" sz="1000" dirty="0">
                <a:solidFill>
                  <a:srgbClr val="5B627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384048"/>
            <a:ext cx="1228954" cy="292608"/>
          </a:xfrm>
          <a:prstGeom prst="roundRect">
            <a:avLst>
              <a:gd name="adj" fmla="val 50000"/>
            </a:avLst>
          </a:prstGeom>
          <a:solidFill>
            <a:srgbClr val="252B3D"/>
          </a:solidFill>
          <a:ln w="12700">
            <a:solidFill>
              <a:srgbClr val="252B3D"/>
            </a:solidFill>
            <a:prstDash val="solid"/>
          </a:ln>
        </p:spPr>
      </p:sp>
      <p:sp>
        <p:nvSpPr>
          <p:cNvPr id="4" name="Text 1"/>
          <p:cNvSpPr txBox="1"/>
          <p:nvPr/>
        </p:nvSpPr>
        <p:spPr>
          <a:xfrm>
            <a:off x="548640" y="384048"/>
            <a:ext cx="1228954" cy="29260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APPROACH</a:t>
            </a:r>
            <a:endParaRPr lang="en-US" sz="1100" dirty="0"/>
          </a:p>
        </p:txBody>
      </p:sp>
      <p:sp>
        <p:nvSpPr>
          <p:cNvPr id="5" name="Text 2"/>
          <p:cNvSpPr txBox="1"/>
          <p:nvPr/>
        </p:nvSpPr>
        <p:spPr>
          <a:xfrm>
            <a:off x="548640" y="749808"/>
            <a:ext cx="11094415" cy="731520"/>
          </a:xfrm>
          <a:prstGeom prst="rect">
            <a:avLst/>
          </a:prstGeom>
          <a:noFill/>
          <a:ln/>
        </p:spPr>
        <p:txBody>
          <a:bodyPr wrap="square" lIns="0" tIns="0" rIns="0" bIns="0" rtlCol="0" anchor="t"/>
          <a:lstStyle/>
          <a:p>
            <a:pPr indent="0" marL="0">
              <a:buNone/>
            </a:pPr>
            <a:r>
              <a:rPr lang="en-US" sz="3000" b="1" dirty="0">
                <a:solidFill>
                  <a:srgbClr val="1D2230"/>
                </a:solidFill>
                <a:latin typeface="Cambria" pitchFamily="34" charset="0"/>
                <a:ea typeface="Cambria" pitchFamily="34" charset="-122"/>
                <a:cs typeface="Cambria" pitchFamily="34" charset="-120"/>
              </a:rPr>
              <a:t>The idea: let the brain decide when the offer appears</a:t>
            </a:r>
            <a:endParaRPr lang="en-US" sz="3000" dirty="0"/>
          </a:p>
        </p:txBody>
      </p:sp>
      <p:sp>
        <p:nvSpPr>
          <p:cNvPr id="6" name="Shape 3"/>
          <p:cNvSpPr/>
          <p:nvPr/>
        </p:nvSpPr>
        <p:spPr>
          <a:xfrm>
            <a:off x="548640" y="1874520"/>
            <a:ext cx="1938528" cy="1828800"/>
          </a:xfrm>
          <a:prstGeom prst="roundRect">
            <a:avLst>
              <a:gd name="adj" fmla="val 6000"/>
            </a:avLst>
          </a:prstGeom>
          <a:solidFill>
            <a:srgbClr val="F2F4F8"/>
          </a:solidFill>
          <a:ln w="12700">
            <a:solidFill>
              <a:srgbClr val="F2F4F8"/>
            </a:solidFill>
            <a:prstDash val="solid"/>
          </a:ln>
        </p:spPr>
      </p:sp>
      <p:sp>
        <p:nvSpPr>
          <p:cNvPr id="7" name="Shape 4"/>
          <p:cNvSpPr/>
          <p:nvPr/>
        </p:nvSpPr>
        <p:spPr>
          <a:xfrm>
            <a:off x="731520" y="2057400"/>
            <a:ext cx="457200" cy="457200"/>
          </a:xfrm>
          <a:prstGeom prst="ellipse">
            <a:avLst/>
          </a:prstGeom>
          <a:solidFill>
            <a:srgbClr val="1F6FC5"/>
          </a:solidFill>
          <a:ln w="12700">
            <a:solidFill>
              <a:srgbClr val="1F6FC5"/>
            </a:solidFill>
            <a:prstDash val="solid"/>
          </a:ln>
        </p:spPr>
      </p:sp>
      <p:sp>
        <p:nvSpPr>
          <p:cNvPr id="8" name="Text 5"/>
          <p:cNvSpPr txBox="1"/>
          <p:nvPr/>
        </p:nvSpPr>
        <p:spPr>
          <a:xfrm>
            <a:off x="731520" y="20574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731520" y="2651760"/>
            <a:ext cx="1618488" cy="384048"/>
          </a:xfrm>
          <a:prstGeom prst="rect">
            <a:avLst/>
          </a:prstGeom>
          <a:noFill/>
          <a:ln/>
        </p:spPr>
        <p:txBody>
          <a:bodyPr wrap="square" lIns="0" tIns="0" rIns="0" bIns="0" rtlCol="0" anchor="ctr"/>
          <a:lstStyle/>
          <a:p>
            <a:pPr indent="0" marL="0">
              <a:buNone/>
            </a:pPr>
            <a:r>
              <a:rPr lang="en-US" sz="1650" b="1" dirty="0">
                <a:solidFill>
                  <a:srgbClr val="1D2230"/>
                </a:solidFill>
                <a:latin typeface="Calibri" pitchFamily="34" charset="0"/>
                <a:ea typeface="Calibri" pitchFamily="34" charset="-122"/>
                <a:cs typeface="Calibri" pitchFamily="34" charset="-120"/>
              </a:rPr>
              <a:t>Stream signal</a:t>
            </a:r>
            <a:endParaRPr lang="en-US" sz="1650" dirty="0"/>
          </a:p>
        </p:txBody>
      </p:sp>
      <p:sp>
        <p:nvSpPr>
          <p:cNvPr id="10" name="Text 7"/>
          <p:cNvSpPr txBox="1"/>
          <p:nvPr/>
        </p:nvSpPr>
        <p:spPr>
          <a:xfrm>
            <a:off x="731520" y="3035808"/>
            <a:ext cx="1618488" cy="594360"/>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Live electrode signal from the insula or vmPFC</a:t>
            </a:r>
            <a:endParaRPr lang="en-US" sz="1250" dirty="0"/>
          </a:p>
        </p:txBody>
      </p:sp>
      <p:sp>
        <p:nvSpPr>
          <p:cNvPr id="11" name="Text 8"/>
          <p:cNvSpPr txBox="1"/>
          <p:nvPr/>
        </p:nvSpPr>
        <p:spPr>
          <a:xfrm>
            <a:off x="2487168" y="2468880"/>
            <a:ext cx="329184" cy="548640"/>
          </a:xfrm>
          <a:prstGeom prst="rect">
            <a:avLst/>
          </a:prstGeom>
          <a:noFill/>
          <a:ln/>
        </p:spPr>
        <p:txBody>
          <a:bodyPr wrap="square" lIns="0" tIns="0" rIns="0" bIns="0" rtlCol="0" anchor="ctr"/>
          <a:lstStyle/>
          <a:p>
            <a:pPr algn="ctr" indent="0" marL="0">
              <a:buNone/>
            </a:pPr>
            <a:r>
              <a:rPr lang="en-US" sz="3000" b="1" dirty="0">
                <a:solidFill>
                  <a:srgbClr val="9AA3B8"/>
                </a:solidFill>
                <a:latin typeface="Calibri" pitchFamily="34" charset="0"/>
                <a:ea typeface="Calibri" pitchFamily="34" charset="-122"/>
                <a:cs typeface="Calibri" pitchFamily="34" charset="-120"/>
              </a:rPr>
              <a:t>›</a:t>
            </a:r>
            <a:endParaRPr lang="en-US" sz="3000" dirty="0"/>
          </a:p>
        </p:txBody>
      </p:sp>
      <p:sp>
        <p:nvSpPr>
          <p:cNvPr id="12" name="Shape 9"/>
          <p:cNvSpPr/>
          <p:nvPr/>
        </p:nvSpPr>
        <p:spPr>
          <a:xfrm>
            <a:off x="2816352" y="1874520"/>
            <a:ext cx="1938528" cy="1828800"/>
          </a:xfrm>
          <a:prstGeom prst="roundRect">
            <a:avLst>
              <a:gd name="adj" fmla="val 6000"/>
            </a:avLst>
          </a:prstGeom>
          <a:solidFill>
            <a:srgbClr val="F2F4F8"/>
          </a:solidFill>
          <a:ln w="12700">
            <a:solidFill>
              <a:srgbClr val="F2F4F8"/>
            </a:solidFill>
            <a:prstDash val="solid"/>
          </a:ln>
        </p:spPr>
      </p:sp>
      <p:sp>
        <p:nvSpPr>
          <p:cNvPr id="13" name="Shape 10"/>
          <p:cNvSpPr/>
          <p:nvPr/>
        </p:nvSpPr>
        <p:spPr>
          <a:xfrm>
            <a:off x="2999232" y="2057400"/>
            <a:ext cx="457200" cy="457200"/>
          </a:xfrm>
          <a:prstGeom prst="ellipse">
            <a:avLst/>
          </a:prstGeom>
          <a:solidFill>
            <a:srgbClr val="252B3D"/>
          </a:solidFill>
          <a:ln w="12700">
            <a:solidFill>
              <a:srgbClr val="252B3D"/>
            </a:solidFill>
            <a:prstDash val="solid"/>
          </a:ln>
        </p:spPr>
      </p:sp>
      <p:sp>
        <p:nvSpPr>
          <p:cNvPr id="14" name="Text 11"/>
          <p:cNvSpPr txBox="1"/>
          <p:nvPr/>
        </p:nvSpPr>
        <p:spPr>
          <a:xfrm>
            <a:off x="2999232" y="20574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2"/>
          <p:cNvSpPr txBox="1"/>
          <p:nvPr/>
        </p:nvSpPr>
        <p:spPr>
          <a:xfrm>
            <a:off x="2999232" y="2651760"/>
            <a:ext cx="1618488" cy="384048"/>
          </a:xfrm>
          <a:prstGeom prst="rect">
            <a:avLst/>
          </a:prstGeom>
          <a:noFill/>
          <a:ln/>
        </p:spPr>
        <p:txBody>
          <a:bodyPr wrap="square" lIns="0" tIns="0" rIns="0" bIns="0" rtlCol="0" anchor="ctr"/>
          <a:lstStyle/>
          <a:p>
            <a:pPr indent="0" marL="0">
              <a:buNone/>
            </a:pPr>
            <a:r>
              <a:rPr lang="en-US" sz="1650" b="1" dirty="0">
                <a:solidFill>
                  <a:srgbClr val="1D2230"/>
                </a:solidFill>
                <a:latin typeface="Calibri" pitchFamily="34" charset="0"/>
                <a:ea typeface="Calibri" pitchFamily="34" charset="-122"/>
                <a:cs typeface="Calibri" pitchFamily="34" charset="-120"/>
              </a:rPr>
              <a:t>Measure activity</a:t>
            </a:r>
            <a:endParaRPr lang="en-US" sz="1650" dirty="0"/>
          </a:p>
        </p:txBody>
      </p:sp>
      <p:sp>
        <p:nvSpPr>
          <p:cNvPr id="16" name="Text 13"/>
          <p:cNvSpPr txBox="1"/>
          <p:nvPr/>
        </p:nvSpPr>
        <p:spPr>
          <a:xfrm>
            <a:off x="2999232" y="3035808"/>
            <a:ext cx="1618488" cy="594360"/>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Gamma activity recomputed every 30 ms</a:t>
            </a:r>
            <a:endParaRPr lang="en-US" sz="1250" dirty="0"/>
          </a:p>
        </p:txBody>
      </p:sp>
      <p:sp>
        <p:nvSpPr>
          <p:cNvPr id="17" name="Text 14"/>
          <p:cNvSpPr txBox="1"/>
          <p:nvPr/>
        </p:nvSpPr>
        <p:spPr>
          <a:xfrm>
            <a:off x="4754880" y="2468880"/>
            <a:ext cx="329184" cy="548640"/>
          </a:xfrm>
          <a:prstGeom prst="rect">
            <a:avLst/>
          </a:prstGeom>
          <a:noFill/>
          <a:ln/>
        </p:spPr>
        <p:txBody>
          <a:bodyPr wrap="square" lIns="0" tIns="0" rIns="0" bIns="0" rtlCol="0" anchor="ctr"/>
          <a:lstStyle/>
          <a:p>
            <a:pPr algn="ctr" indent="0" marL="0">
              <a:buNone/>
            </a:pPr>
            <a:r>
              <a:rPr lang="en-US" sz="3000" b="1" dirty="0">
                <a:solidFill>
                  <a:srgbClr val="9AA3B8"/>
                </a:solidFill>
                <a:latin typeface="Calibri" pitchFamily="34" charset="0"/>
                <a:ea typeface="Calibri" pitchFamily="34" charset="-122"/>
                <a:cs typeface="Calibri" pitchFamily="34" charset="-120"/>
              </a:rPr>
              <a:t>›</a:t>
            </a:r>
            <a:endParaRPr lang="en-US" sz="3000" dirty="0"/>
          </a:p>
        </p:txBody>
      </p:sp>
      <p:sp>
        <p:nvSpPr>
          <p:cNvPr id="18" name="Shape 15"/>
          <p:cNvSpPr/>
          <p:nvPr/>
        </p:nvSpPr>
        <p:spPr>
          <a:xfrm>
            <a:off x="5084064" y="1874520"/>
            <a:ext cx="1938528" cy="1828800"/>
          </a:xfrm>
          <a:prstGeom prst="roundRect">
            <a:avLst>
              <a:gd name="adj" fmla="val 6000"/>
            </a:avLst>
          </a:prstGeom>
          <a:solidFill>
            <a:srgbClr val="F2F4F8"/>
          </a:solidFill>
          <a:ln w="12700">
            <a:solidFill>
              <a:srgbClr val="F2F4F8"/>
            </a:solidFill>
            <a:prstDash val="solid"/>
          </a:ln>
        </p:spPr>
      </p:sp>
      <p:sp>
        <p:nvSpPr>
          <p:cNvPr id="19" name="Shape 16"/>
          <p:cNvSpPr/>
          <p:nvPr/>
        </p:nvSpPr>
        <p:spPr>
          <a:xfrm>
            <a:off x="5266944" y="2057400"/>
            <a:ext cx="457200" cy="457200"/>
          </a:xfrm>
          <a:prstGeom prst="ellipse">
            <a:avLst/>
          </a:prstGeom>
          <a:solidFill>
            <a:srgbClr val="C8203F"/>
          </a:solidFill>
          <a:ln w="12700">
            <a:solidFill>
              <a:srgbClr val="C8203F"/>
            </a:solidFill>
            <a:prstDash val="solid"/>
          </a:ln>
        </p:spPr>
      </p:sp>
      <p:sp>
        <p:nvSpPr>
          <p:cNvPr id="20" name="Text 17"/>
          <p:cNvSpPr txBox="1"/>
          <p:nvPr/>
        </p:nvSpPr>
        <p:spPr>
          <a:xfrm>
            <a:off x="5266944" y="20574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txBox="1"/>
          <p:nvPr/>
        </p:nvSpPr>
        <p:spPr>
          <a:xfrm>
            <a:off x="5266944" y="2651760"/>
            <a:ext cx="1618488" cy="384048"/>
          </a:xfrm>
          <a:prstGeom prst="rect">
            <a:avLst/>
          </a:prstGeom>
          <a:noFill/>
          <a:ln/>
        </p:spPr>
        <p:txBody>
          <a:bodyPr wrap="square" lIns="0" tIns="0" rIns="0" bIns="0" rtlCol="0" anchor="ctr"/>
          <a:lstStyle/>
          <a:p>
            <a:pPr indent="0" marL="0">
              <a:buNone/>
            </a:pPr>
            <a:r>
              <a:rPr lang="en-US" sz="1650" b="1" dirty="0">
                <a:solidFill>
                  <a:srgbClr val="1D2230"/>
                </a:solidFill>
                <a:latin typeface="Calibri" pitchFamily="34" charset="0"/>
                <a:ea typeface="Calibri" pitchFamily="34" charset="-122"/>
                <a:cs typeface="Calibri" pitchFamily="34" charset="-120"/>
              </a:rPr>
              <a:t>Detect state</a:t>
            </a:r>
            <a:endParaRPr lang="en-US" sz="1650" dirty="0"/>
          </a:p>
        </p:txBody>
      </p:sp>
      <p:sp>
        <p:nvSpPr>
          <p:cNvPr id="22" name="Text 19"/>
          <p:cNvSpPr txBox="1"/>
          <p:nvPr/>
        </p:nvSpPr>
        <p:spPr>
          <a:xfrm>
            <a:off x="5266944" y="3035808"/>
            <a:ext cx="1618488" cy="594360"/>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Unusually high (up) or low (down)?</a:t>
            </a:r>
            <a:endParaRPr lang="en-US" sz="1250" dirty="0"/>
          </a:p>
        </p:txBody>
      </p:sp>
      <p:sp>
        <p:nvSpPr>
          <p:cNvPr id="23" name="Text 20"/>
          <p:cNvSpPr txBox="1"/>
          <p:nvPr/>
        </p:nvSpPr>
        <p:spPr>
          <a:xfrm>
            <a:off x="7022592" y="2468880"/>
            <a:ext cx="329184" cy="548640"/>
          </a:xfrm>
          <a:prstGeom prst="rect">
            <a:avLst/>
          </a:prstGeom>
          <a:noFill/>
          <a:ln/>
        </p:spPr>
        <p:txBody>
          <a:bodyPr wrap="square" lIns="0" tIns="0" rIns="0" bIns="0" rtlCol="0" anchor="ctr"/>
          <a:lstStyle/>
          <a:p>
            <a:pPr algn="ctr" indent="0" marL="0">
              <a:buNone/>
            </a:pPr>
            <a:r>
              <a:rPr lang="en-US" sz="3000" b="1" dirty="0">
                <a:solidFill>
                  <a:srgbClr val="9AA3B8"/>
                </a:solidFill>
                <a:latin typeface="Calibri" pitchFamily="34" charset="0"/>
                <a:ea typeface="Calibri" pitchFamily="34" charset="-122"/>
                <a:cs typeface="Calibri" pitchFamily="34" charset="-120"/>
              </a:rPr>
              <a:t>›</a:t>
            </a:r>
            <a:endParaRPr lang="en-US" sz="3000" dirty="0"/>
          </a:p>
        </p:txBody>
      </p:sp>
      <p:sp>
        <p:nvSpPr>
          <p:cNvPr id="24" name="Shape 21"/>
          <p:cNvSpPr/>
          <p:nvPr/>
        </p:nvSpPr>
        <p:spPr>
          <a:xfrm>
            <a:off x="7351776" y="1874520"/>
            <a:ext cx="1938528" cy="1828800"/>
          </a:xfrm>
          <a:prstGeom prst="roundRect">
            <a:avLst>
              <a:gd name="adj" fmla="val 6000"/>
            </a:avLst>
          </a:prstGeom>
          <a:solidFill>
            <a:srgbClr val="F2F4F8"/>
          </a:solidFill>
          <a:ln w="12700">
            <a:solidFill>
              <a:srgbClr val="F2F4F8"/>
            </a:solidFill>
            <a:prstDash val="solid"/>
          </a:ln>
        </p:spPr>
      </p:sp>
      <p:sp>
        <p:nvSpPr>
          <p:cNvPr id="25" name="Shape 22"/>
          <p:cNvSpPr/>
          <p:nvPr/>
        </p:nvSpPr>
        <p:spPr>
          <a:xfrm>
            <a:off x="7534656" y="2057400"/>
            <a:ext cx="457200" cy="457200"/>
          </a:xfrm>
          <a:prstGeom prst="ellipse">
            <a:avLst/>
          </a:prstGeom>
          <a:solidFill>
            <a:srgbClr val="252B3D"/>
          </a:solidFill>
          <a:ln w="12700">
            <a:solidFill>
              <a:srgbClr val="252B3D"/>
            </a:solidFill>
            <a:prstDash val="solid"/>
          </a:ln>
        </p:spPr>
      </p:sp>
      <p:sp>
        <p:nvSpPr>
          <p:cNvPr id="26" name="Text 23"/>
          <p:cNvSpPr txBox="1"/>
          <p:nvPr/>
        </p:nvSpPr>
        <p:spPr>
          <a:xfrm>
            <a:off x="7534656" y="20574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7" name="Text 24"/>
          <p:cNvSpPr txBox="1"/>
          <p:nvPr/>
        </p:nvSpPr>
        <p:spPr>
          <a:xfrm>
            <a:off x="7534656" y="2651760"/>
            <a:ext cx="1618488" cy="384048"/>
          </a:xfrm>
          <a:prstGeom prst="rect">
            <a:avLst/>
          </a:prstGeom>
          <a:noFill/>
          <a:ln/>
        </p:spPr>
        <p:txBody>
          <a:bodyPr wrap="square" lIns="0" tIns="0" rIns="0" bIns="0" rtlCol="0" anchor="ctr"/>
          <a:lstStyle/>
          <a:p>
            <a:pPr indent="0" marL="0">
              <a:buNone/>
            </a:pPr>
            <a:r>
              <a:rPr lang="en-US" sz="1650" b="1" dirty="0">
                <a:solidFill>
                  <a:srgbClr val="1D2230"/>
                </a:solidFill>
                <a:latin typeface="Calibri" pitchFamily="34" charset="0"/>
                <a:ea typeface="Calibri" pitchFamily="34" charset="-122"/>
                <a:cs typeface="Calibri" pitchFamily="34" charset="-120"/>
              </a:rPr>
              <a:t>Trigger offer</a:t>
            </a:r>
            <a:endParaRPr lang="en-US" sz="1650" dirty="0"/>
          </a:p>
        </p:txBody>
      </p:sp>
      <p:sp>
        <p:nvSpPr>
          <p:cNvPr id="28" name="Text 25"/>
          <p:cNvSpPr txBox="1"/>
          <p:nvPr/>
        </p:nvSpPr>
        <p:spPr>
          <a:xfrm>
            <a:off x="7534656" y="3035808"/>
            <a:ext cx="1618488" cy="594360"/>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Offer appears at that instant</a:t>
            </a:r>
            <a:endParaRPr lang="en-US" sz="1250" dirty="0"/>
          </a:p>
        </p:txBody>
      </p:sp>
      <p:sp>
        <p:nvSpPr>
          <p:cNvPr id="29" name="Text 26"/>
          <p:cNvSpPr txBox="1"/>
          <p:nvPr/>
        </p:nvSpPr>
        <p:spPr>
          <a:xfrm>
            <a:off x="9290304" y="2468880"/>
            <a:ext cx="329184" cy="548640"/>
          </a:xfrm>
          <a:prstGeom prst="rect">
            <a:avLst/>
          </a:prstGeom>
          <a:noFill/>
          <a:ln/>
        </p:spPr>
        <p:txBody>
          <a:bodyPr wrap="square" lIns="0" tIns="0" rIns="0" bIns="0" rtlCol="0" anchor="ctr"/>
          <a:lstStyle/>
          <a:p>
            <a:pPr algn="ctr" indent="0" marL="0">
              <a:buNone/>
            </a:pPr>
            <a:r>
              <a:rPr lang="en-US" sz="3000" b="1" dirty="0">
                <a:solidFill>
                  <a:srgbClr val="9AA3B8"/>
                </a:solidFill>
                <a:latin typeface="Calibri" pitchFamily="34" charset="0"/>
                <a:ea typeface="Calibri" pitchFamily="34" charset="-122"/>
                <a:cs typeface="Calibri" pitchFamily="34" charset="-120"/>
              </a:rPr>
              <a:t>›</a:t>
            </a:r>
            <a:endParaRPr lang="en-US" sz="3000" dirty="0"/>
          </a:p>
        </p:txBody>
      </p:sp>
      <p:sp>
        <p:nvSpPr>
          <p:cNvPr id="30" name="Shape 27"/>
          <p:cNvSpPr/>
          <p:nvPr/>
        </p:nvSpPr>
        <p:spPr>
          <a:xfrm>
            <a:off x="9619488" y="1874520"/>
            <a:ext cx="1938528" cy="1828800"/>
          </a:xfrm>
          <a:prstGeom prst="roundRect">
            <a:avLst>
              <a:gd name="adj" fmla="val 6000"/>
            </a:avLst>
          </a:prstGeom>
          <a:solidFill>
            <a:srgbClr val="F2F4F8"/>
          </a:solidFill>
          <a:ln w="12700">
            <a:solidFill>
              <a:srgbClr val="F2F4F8"/>
            </a:solidFill>
            <a:prstDash val="solid"/>
          </a:ln>
        </p:spPr>
      </p:sp>
      <p:sp>
        <p:nvSpPr>
          <p:cNvPr id="31" name="Shape 28"/>
          <p:cNvSpPr/>
          <p:nvPr/>
        </p:nvSpPr>
        <p:spPr>
          <a:xfrm>
            <a:off x="9802368" y="2057400"/>
            <a:ext cx="457200" cy="457200"/>
          </a:xfrm>
          <a:prstGeom prst="ellipse">
            <a:avLst/>
          </a:prstGeom>
          <a:solidFill>
            <a:srgbClr val="1E8E5A"/>
          </a:solidFill>
          <a:ln w="12700">
            <a:solidFill>
              <a:srgbClr val="1E8E5A"/>
            </a:solidFill>
            <a:prstDash val="solid"/>
          </a:ln>
        </p:spPr>
      </p:sp>
      <p:sp>
        <p:nvSpPr>
          <p:cNvPr id="32" name="Text 29"/>
          <p:cNvSpPr txBox="1"/>
          <p:nvPr/>
        </p:nvSpPr>
        <p:spPr>
          <a:xfrm>
            <a:off x="9802368" y="20574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30"/>
          <p:cNvSpPr txBox="1"/>
          <p:nvPr/>
        </p:nvSpPr>
        <p:spPr>
          <a:xfrm>
            <a:off x="9802368" y="2651760"/>
            <a:ext cx="1618488" cy="384048"/>
          </a:xfrm>
          <a:prstGeom prst="rect">
            <a:avLst/>
          </a:prstGeom>
          <a:noFill/>
          <a:ln/>
        </p:spPr>
        <p:txBody>
          <a:bodyPr wrap="square" lIns="0" tIns="0" rIns="0" bIns="0" rtlCol="0" anchor="ctr"/>
          <a:lstStyle/>
          <a:p>
            <a:pPr indent="0" marL="0">
              <a:buNone/>
            </a:pPr>
            <a:r>
              <a:rPr lang="en-US" sz="1650" b="1" dirty="0">
                <a:solidFill>
                  <a:srgbClr val="1D2230"/>
                </a:solidFill>
                <a:latin typeface="Calibri" pitchFamily="34" charset="0"/>
                <a:ea typeface="Calibri" pitchFamily="34" charset="-122"/>
                <a:cs typeface="Calibri" pitchFamily="34" charset="-120"/>
              </a:rPr>
              <a:t>Decide</a:t>
            </a:r>
            <a:endParaRPr lang="en-US" sz="1650" dirty="0"/>
          </a:p>
        </p:txBody>
      </p:sp>
      <p:sp>
        <p:nvSpPr>
          <p:cNvPr id="34" name="Text 31"/>
          <p:cNvSpPr txBox="1"/>
          <p:nvPr/>
        </p:nvSpPr>
        <p:spPr>
          <a:xfrm>
            <a:off x="9802368" y="3035808"/>
            <a:ext cx="1618488" cy="594360"/>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Accept or reject</a:t>
            </a:r>
            <a:endParaRPr lang="en-US" sz="1250" dirty="0"/>
          </a:p>
        </p:txBody>
      </p:sp>
      <p:sp>
        <p:nvSpPr>
          <p:cNvPr id="35" name="Text 32"/>
          <p:cNvSpPr txBox="1"/>
          <p:nvPr/>
        </p:nvSpPr>
        <p:spPr>
          <a:xfrm>
            <a:off x="548640" y="4069080"/>
            <a:ext cx="10972800" cy="411480"/>
          </a:xfrm>
          <a:prstGeom prst="rect">
            <a:avLst/>
          </a:prstGeom>
          <a:noFill/>
          <a:ln/>
        </p:spPr>
        <p:txBody>
          <a:bodyPr wrap="square" lIns="0" tIns="0" rIns="0" bIns="0" rtlCol="0" anchor="ctr"/>
          <a:lstStyle/>
          <a:p>
            <a:pPr indent="0" marL="0">
              <a:buNone/>
            </a:pPr>
            <a:r>
              <a:rPr lang="en-US" sz="2000" b="1" dirty="0">
                <a:solidFill>
                  <a:srgbClr val="1D2230"/>
                </a:solidFill>
                <a:latin typeface="Cambria" pitchFamily="34" charset="0"/>
                <a:ea typeface="Cambria" pitchFamily="34" charset="-122"/>
                <a:cs typeface="Cambria" pitchFamily="34" charset="-120"/>
              </a:rPr>
              <a:t>Expectation: the two regions push choices in opposite directions</a:t>
            </a:r>
            <a:endParaRPr lang="en-US" sz="2000" dirty="0"/>
          </a:p>
        </p:txBody>
      </p:sp>
      <p:sp>
        <p:nvSpPr>
          <p:cNvPr id="36" name="Shape 33"/>
          <p:cNvSpPr/>
          <p:nvPr/>
        </p:nvSpPr>
        <p:spPr>
          <a:xfrm>
            <a:off x="548640" y="4617720"/>
            <a:ext cx="5394960" cy="1188720"/>
          </a:xfrm>
          <a:prstGeom prst="roundRect">
            <a:avLst>
              <a:gd name="adj" fmla="val 9231"/>
            </a:avLst>
          </a:prstGeom>
          <a:solidFill>
            <a:srgbClr val="E7F4EC"/>
          </a:solidFill>
          <a:ln w="12700">
            <a:solidFill>
              <a:srgbClr val="E7F4EC"/>
            </a:solidFill>
            <a:prstDash val="solid"/>
          </a:ln>
        </p:spPr>
      </p:sp>
      <p:sp>
        <p:nvSpPr>
          <p:cNvPr id="37" name="Text 34"/>
          <p:cNvSpPr txBox="1"/>
          <p:nvPr/>
        </p:nvSpPr>
        <p:spPr>
          <a:xfrm>
            <a:off x="822960" y="4754880"/>
            <a:ext cx="4937760" cy="365760"/>
          </a:xfrm>
          <a:prstGeom prst="rect">
            <a:avLst/>
          </a:prstGeom>
          <a:noFill/>
          <a:ln/>
        </p:spPr>
        <p:txBody>
          <a:bodyPr wrap="square" lIns="0" tIns="0" rIns="0" bIns="0" rtlCol="0" anchor="ctr"/>
          <a:lstStyle/>
          <a:p>
            <a:pPr indent="0" marL="0">
              <a:buNone/>
            </a:pPr>
            <a:r>
              <a:rPr lang="en-US" sz="1650" b="1" dirty="0">
                <a:solidFill>
                  <a:srgbClr val="1E8E5A"/>
                </a:solidFill>
                <a:latin typeface="Calibri" pitchFamily="34" charset="0"/>
                <a:ea typeface="Calibri" pitchFamily="34" charset="-122"/>
                <a:cs typeface="Calibri" pitchFamily="34" charset="-120"/>
              </a:rPr>
              <a:t>vmPFC up-state</a:t>
            </a:r>
            <a:endParaRPr lang="en-US" sz="1650" dirty="0"/>
          </a:p>
        </p:txBody>
      </p:sp>
      <p:sp>
        <p:nvSpPr>
          <p:cNvPr id="38" name="Text 35"/>
          <p:cNvSpPr txBox="1"/>
          <p:nvPr/>
        </p:nvSpPr>
        <p:spPr>
          <a:xfrm>
            <a:off x="822960" y="5138928"/>
            <a:ext cx="4937760" cy="502920"/>
          </a:xfrm>
          <a:prstGeom prst="rect">
            <a:avLst/>
          </a:prstGeom>
          <a:noFill/>
          <a:ln/>
        </p:spPr>
        <p:txBody>
          <a:bodyPr wrap="square" lIns="0" tIns="0" rIns="0" bIns="0" rtlCol="0" anchor="ctr"/>
          <a:lstStyle/>
          <a:p>
            <a:pPr indent="0" marL="0">
              <a:buNone/>
            </a:pPr>
            <a:r>
              <a:rPr lang="en-US" sz="1400" dirty="0">
                <a:solidFill>
                  <a:srgbClr val="1D2230"/>
                </a:solidFill>
                <a:latin typeface="Calibri" pitchFamily="34" charset="0"/>
                <a:ea typeface="Calibri" pitchFamily="34" charset="-122"/>
                <a:cs typeface="Calibri" pitchFamily="34" charset="-120"/>
              </a:rPr>
              <a:t>pleasant part feels more important  →  expected: accept more</a:t>
            </a:r>
            <a:endParaRPr lang="en-US" sz="1400" dirty="0"/>
          </a:p>
        </p:txBody>
      </p:sp>
      <p:sp>
        <p:nvSpPr>
          <p:cNvPr id="39" name="Shape 36"/>
          <p:cNvSpPr/>
          <p:nvPr/>
        </p:nvSpPr>
        <p:spPr>
          <a:xfrm>
            <a:off x="6172200" y="4617720"/>
            <a:ext cx="5394960" cy="1188720"/>
          </a:xfrm>
          <a:prstGeom prst="roundRect">
            <a:avLst>
              <a:gd name="adj" fmla="val 9231"/>
            </a:avLst>
          </a:prstGeom>
          <a:solidFill>
            <a:srgbClr val="FBE8EC"/>
          </a:solidFill>
          <a:ln w="12700">
            <a:solidFill>
              <a:srgbClr val="FBE8EC"/>
            </a:solidFill>
            <a:prstDash val="solid"/>
          </a:ln>
        </p:spPr>
      </p:sp>
      <p:sp>
        <p:nvSpPr>
          <p:cNvPr id="40" name="Text 37"/>
          <p:cNvSpPr txBox="1"/>
          <p:nvPr/>
        </p:nvSpPr>
        <p:spPr>
          <a:xfrm>
            <a:off x="6446520" y="4754880"/>
            <a:ext cx="4937760" cy="365760"/>
          </a:xfrm>
          <a:prstGeom prst="rect">
            <a:avLst/>
          </a:prstGeom>
          <a:noFill/>
          <a:ln/>
        </p:spPr>
        <p:txBody>
          <a:bodyPr wrap="square" lIns="0" tIns="0" rIns="0" bIns="0" rtlCol="0" anchor="ctr"/>
          <a:lstStyle/>
          <a:p>
            <a:pPr indent="0" marL="0">
              <a:buNone/>
            </a:pPr>
            <a:r>
              <a:rPr lang="en-US" sz="1650" b="1" dirty="0">
                <a:solidFill>
                  <a:srgbClr val="C8203F"/>
                </a:solidFill>
                <a:latin typeface="Calibri" pitchFamily="34" charset="0"/>
                <a:ea typeface="Calibri" pitchFamily="34" charset="-122"/>
                <a:cs typeface="Calibri" pitchFamily="34" charset="-120"/>
              </a:rPr>
              <a:t>Insula up-state</a:t>
            </a:r>
            <a:endParaRPr lang="en-US" sz="1650" dirty="0"/>
          </a:p>
        </p:txBody>
      </p:sp>
      <p:sp>
        <p:nvSpPr>
          <p:cNvPr id="41" name="Text 38"/>
          <p:cNvSpPr txBox="1"/>
          <p:nvPr/>
        </p:nvSpPr>
        <p:spPr>
          <a:xfrm>
            <a:off x="6446520" y="5138928"/>
            <a:ext cx="4937760" cy="502920"/>
          </a:xfrm>
          <a:prstGeom prst="rect">
            <a:avLst/>
          </a:prstGeom>
          <a:noFill/>
          <a:ln/>
        </p:spPr>
        <p:txBody>
          <a:bodyPr wrap="square" lIns="0" tIns="0" rIns="0" bIns="0" rtlCol="0" anchor="ctr"/>
          <a:lstStyle/>
          <a:p>
            <a:pPr indent="0" marL="0">
              <a:buNone/>
            </a:pPr>
            <a:r>
              <a:rPr lang="en-US" sz="1400" dirty="0">
                <a:solidFill>
                  <a:srgbClr val="1D2230"/>
                </a:solidFill>
                <a:latin typeface="Calibri" pitchFamily="34" charset="0"/>
                <a:ea typeface="Calibri" pitchFamily="34" charset="-122"/>
                <a:cs typeface="Calibri" pitchFamily="34" charset="-120"/>
              </a:rPr>
              <a:t>unpleasant part feels more important  →  expected: accept less</a:t>
            </a:r>
            <a:endParaRPr lang="en-US" sz="1400" dirty="0"/>
          </a:p>
        </p:txBody>
      </p:sp>
      <p:sp>
        <p:nvSpPr>
          <p:cNvPr id="42" name="Text 39"/>
          <p:cNvSpPr txBox="1"/>
          <p:nvPr/>
        </p:nvSpPr>
        <p:spPr>
          <a:xfrm>
            <a:off x="548640" y="6473952"/>
            <a:ext cx="7315200" cy="256032"/>
          </a:xfrm>
          <a:prstGeom prst="rect">
            <a:avLst/>
          </a:prstGeom>
          <a:noFill/>
          <a:ln/>
        </p:spPr>
        <p:txBody>
          <a:bodyPr wrap="square" lIns="0" tIns="0" rIns="0" bIns="0" rtlCol="0" anchor="ctr"/>
          <a:lstStyle/>
          <a:p>
            <a:pPr indent="0" marL="0">
              <a:buNone/>
            </a:pPr>
            <a:r>
              <a:rPr lang="en-US" sz="950" dirty="0">
                <a:solidFill>
                  <a:srgbClr val="5B6275"/>
                </a:solidFill>
                <a:latin typeface="Calibri" pitchFamily="34" charset="0"/>
                <a:ea typeface="Calibri" pitchFamily="34" charset="-122"/>
                <a:cs typeface="Calibri" pitchFamily="34" charset="-120"/>
              </a:rPr>
              <a:t>Baratin et al., Nature Communications (2026)</a:t>
            </a:r>
            <a:endParaRPr lang="en-US" sz="950" dirty="0"/>
          </a:p>
        </p:txBody>
      </p:sp>
      <p:sp>
        <p:nvSpPr>
          <p:cNvPr id="43" name="Text 40"/>
          <p:cNvSpPr txBox="1"/>
          <p:nvPr/>
        </p:nvSpPr>
        <p:spPr>
          <a:xfrm>
            <a:off x="11094415" y="6473952"/>
            <a:ext cx="548640" cy="256032"/>
          </a:xfrm>
          <a:prstGeom prst="rect">
            <a:avLst/>
          </a:prstGeom>
          <a:noFill/>
          <a:ln/>
        </p:spPr>
        <p:txBody>
          <a:bodyPr wrap="square" lIns="0" tIns="0" rIns="0" bIns="0" rtlCol="0" anchor="ctr"/>
          <a:lstStyle/>
          <a:p>
            <a:pPr algn="r" indent="0" marL="0">
              <a:buNone/>
            </a:pPr>
            <a:r>
              <a:rPr lang="en-US" sz="1000" dirty="0">
                <a:solidFill>
                  <a:srgbClr val="5B6275"/>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384048"/>
            <a:ext cx="1121054" cy="292608"/>
          </a:xfrm>
          <a:prstGeom prst="roundRect">
            <a:avLst>
              <a:gd name="adj" fmla="val 50000"/>
            </a:avLst>
          </a:prstGeom>
          <a:solidFill>
            <a:srgbClr val="1F6FC5"/>
          </a:solidFill>
          <a:ln w="12700">
            <a:solidFill>
              <a:srgbClr val="1F6FC5"/>
            </a:solidFill>
            <a:prstDash val="solid"/>
          </a:ln>
        </p:spPr>
      </p:sp>
      <p:sp>
        <p:nvSpPr>
          <p:cNvPr id="4" name="Text 1"/>
          <p:cNvSpPr txBox="1"/>
          <p:nvPr/>
        </p:nvSpPr>
        <p:spPr>
          <a:xfrm>
            <a:off x="548640" y="384048"/>
            <a:ext cx="1121054" cy="29260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METHODS</a:t>
            </a:r>
            <a:endParaRPr lang="en-US" sz="1100" dirty="0"/>
          </a:p>
        </p:txBody>
      </p:sp>
      <p:sp>
        <p:nvSpPr>
          <p:cNvPr id="5" name="Text 2"/>
          <p:cNvSpPr txBox="1"/>
          <p:nvPr/>
        </p:nvSpPr>
        <p:spPr>
          <a:xfrm>
            <a:off x="548640" y="749808"/>
            <a:ext cx="11094415" cy="731520"/>
          </a:xfrm>
          <a:prstGeom prst="rect">
            <a:avLst/>
          </a:prstGeom>
          <a:noFill/>
          <a:ln/>
        </p:spPr>
        <p:txBody>
          <a:bodyPr wrap="square" lIns="0" tIns="0" rIns="0" bIns="0" rtlCol="0" anchor="t"/>
          <a:lstStyle/>
          <a:p>
            <a:pPr indent="0" marL="0">
              <a:buNone/>
            </a:pPr>
            <a:r>
              <a:rPr lang="en-US" sz="3000" b="1" dirty="0">
                <a:solidFill>
                  <a:srgbClr val="1D2230"/>
                </a:solidFill>
                <a:latin typeface="Cambria" pitchFamily="34" charset="0"/>
                <a:ea typeface="Cambria" pitchFamily="34" charset="-122"/>
                <a:cs typeface="Cambria" pitchFamily="34" charset="-120"/>
              </a:rPr>
              <a:t>Participants and tasks</a:t>
            </a:r>
            <a:endParaRPr lang="en-US" sz="3000" dirty="0"/>
          </a:p>
        </p:txBody>
      </p:sp>
      <p:sp>
        <p:nvSpPr>
          <p:cNvPr id="6" name="Text 3"/>
          <p:cNvSpPr txBox="1"/>
          <p:nvPr/>
        </p:nvSpPr>
        <p:spPr>
          <a:xfrm>
            <a:off x="548640" y="1691640"/>
            <a:ext cx="2926080" cy="640080"/>
          </a:xfrm>
          <a:prstGeom prst="rect">
            <a:avLst/>
          </a:prstGeom>
          <a:noFill/>
          <a:ln/>
        </p:spPr>
        <p:txBody>
          <a:bodyPr wrap="square" lIns="0" tIns="0" rIns="0" bIns="0" rtlCol="0" anchor="b"/>
          <a:lstStyle/>
          <a:p>
            <a:pPr indent="0" marL="0">
              <a:buNone/>
            </a:pPr>
            <a:r>
              <a:rPr lang="en-US" sz="4000" b="1" dirty="0">
                <a:solidFill>
                  <a:srgbClr val="1D2230"/>
                </a:solidFill>
                <a:latin typeface="Cambria" pitchFamily="34" charset="0"/>
                <a:ea typeface="Cambria" pitchFamily="34" charset="-122"/>
                <a:cs typeface="Cambria" pitchFamily="34" charset="-120"/>
              </a:rPr>
              <a:t>12</a:t>
            </a:r>
            <a:endParaRPr lang="en-US" sz="4000" dirty="0"/>
          </a:p>
        </p:txBody>
      </p:sp>
      <p:sp>
        <p:nvSpPr>
          <p:cNvPr id="7" name="Text 4"/>
          <p:cNvSpPr txBox="1"/>
          <p:nvPr/>
        </p:nvSpPr>
        <p:spPr>
          <a:xfrm>
            <a:off x="548640" y="2377440"/>
            <a:ext cx="2926080" cy="548640"/>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epilepsy patients with brain electrodes, avg. age 34, 5 women</a:t>
            </a:r>
            <a:endParaRPr lang="en-US" sz="1250" dirty="0"/>
          </a:p>
        </p:txBody>
      </p:sp>
      <p:sp>
        <p:nvSpPr>
          <p:cNvPr id="8" name="Text 5"/>
          <p:cNvSpPr txBox="1"/>
          <p:nvPr/>
        </p:nvSpPr>
        <p:spPr>
          <a:xfrm>
            <a:off x="548640" y="2971800"/>
            <a:ext cx="2926080" cy="640080"/>
          </a:xfrm>
          <a:prstGeom prst="rect">
            <a:avLst/>
          </a:prstGeom>
          <a:noFill/>
          <a:ln/>
        </p:spPr>
        <p:txBody>
          <a:bodyPr wrap="square" lIns="0" tIns="0" rIns="0" bIns="0" rtlCol="0" anchor="b"/>
          <a:lstStyle/>
          <a:p>
            <a:pPr indent="0" marL="0">
              <a:buNone/>
            </a:pPr>
            <a:r>
              <a:rPr lang="en-US" sz="3600" b="1" dirty="0">
                <a:solidFill>
                  <a:srgbClr val="C8203F"/>
                </a:solidFill>
                <a:latin typeface="Cambria" pitchFamily="34" charset="0"/>
                <a:ea typeface="Cambria" pitchFamily="34" charset="-122"/>
                <a:cs typeface="Cambria" pitchFamily="34" charset="-120"/>
              </a:rPr>
              <a:t>7 / 8</a:t>
            </a:r>
            <a:endParaRPr lang="en-US" sz="3600" dirty="0"/>
          </a:p>
        </p:txBody>
      </p:sp>
      <p:sp>
        <p:nvSpPr>
          <p:cNvPr id="9" name="Text 6"/>
          <p:cNvSpPr txBox="1"/>
          <p:nvPr/>
        </p:nvSpPr>
        <p:spPr>
          <a:xfrm>
            <a:off x="548640" y="3657600"/>
            <a:ext cx="2926080" cy="548640"/>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sessions driven by the insula / by the vmPFC</a:t>
            </a:r>
            <a:endParaRPr lang="en-US" sz="1250" dirty="0"/>
          </a:p>
        </p:txBody>
      </p:sp>
      <p:sp>
        <p:nvSpPr>
          <p:cNvPr id="10" name="Text 7"/>
          <p:cNvSpPr txBox="1"/>
          <p:nvPr/>
        </p:nvSpPr>
        <p:spPr>
          <a:xfrm>
            <a:off x="548640" y="4251960"/>
            <a:ext cx="2926080" cy="640080"/>
          </a:xfrm>
          <a:prstGeom prst="rect">
            <a:avLst/>
          </a:prstGeom>
          <a:noFill/>
          <a:ln/>
        </p:spPr>
        <p:txBody>
          <a:bodyPr wrap="square" lIns="0" tIns="0" rIns="0" bIns="0" rtlCol="0" anchor="b"/>
          <a:lstStyle/>
          <a:p>
            <a:pPr indent="0" marL="0">
              <a:buNone/>
            </a:pPr>
            <a:r>
              <a:rPr lang="en-US" sz="3600" b="1" dirty="0">
                <a:solidFill>
                  <a:srgbClr val="1F6FC5"/>
                </a:solidFill>
                <a:latin typeface="Cambria" pitchFamily="34" charset="0"/>
                <a:ea typeface="Cambria" pitchFamily="34" charset="-122"/>
                <a:cs typeface="Cambria" pitchFamily="34" charset="-120"/>
              </a:rPr>
              <a:t>240</a:t>
            </a:r>
            <a:endParaRPr lang="en-US" sz="3600" dirty="0"/>
          </a:p>
        </p:txBody>
      </p:sp>
      <p:sp>
        <p:nvSpPr>
          <p:cNvPr id="11" name="Text 8"/>
          <p:cNvSpPr txBox="1"/>
          <p:nvPr/>
        </p:nvSpPr>
        <p:spPr>
          <a:xfrm>
            <a:off x="548640" y="4937760"/>
            <a:ext cx="2926080" cy="548640"/>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imagined scenarios rated: 120 pleasant, 120 unpleasant</a:t>
            </a:r>
            <a:endParaRPr lang="en-US" sz="1250" dirty="0"/>
          </a:p>
        </p:txBody>
      </p:sp>
      <p:sp>
        <p:nvSpPr>
          <p:cNvPr id="12" name="Shape 9"/>
          <p:cNvSpPr/>
          <p:nvPr/>
        </p:nvSpPr>
        <p:spPr>
          <a:xfrm>
            <a:off x="3840480" y="1737360"/>
            <a:ext cx="4709160" cy="4114800"/>
          </a:xfrm>
          <a:prstGeom prst="roundRect">
            <a:avLst>
              <a:gd name="adj" fmla="val 2667"/>
            </a:avLst>
          </a:prstGeom>
          <a:solidFill>
            <a:srgbClr val="F2F4F8"/>
          </a:solidFill>
          <a:ln w="12700">
            <a:solidFill>
              <a:srgbClr val="F2F4F8"/>
            </a:solidFill>
            <a:prstDash val="solid"/>
          </a:ln>
        </p:spPr>
      </p:sp>
      <p:sp>
        <p:nvSpPr>
          <p:cNvPr id="13" name="Text 10"/>
          <p:cNvSpPr txBox="1"/>
          <p:nvPr/>
        </p:nvSpPr>
        <p:spPr>
          <a:xfrm>
            <a:off x="4069080" y="1874520"/>
            <a:ext cx="4297680" cy="365760"/>
          </a:xfrm>
          <a:prstGeom prst="rect">
            <a:avLst/>
          </a:prstGeom>
          <a:noFill/>
          <a:ln/>
        </p:spPr>
        <p:txBody>
          <a:bodyPr wrap="square" lIns="0" tIns="0" rIns="0" bIns="0" rtlCol="0" anchor="ctr"/>
          <a:lstStyle/>
          <a:p>
            <a:pPr indent="0" marL="0">
              <a:buNone/>
            </a:pPr>
            <a:r>
              <a:rPr lang="en-US" sz="1600" b="1" dirty="0">
                <a:solidFill>
                  <a:srgbClr val="1F6FC5"/>
                </a:solidFill>
                <a:latin typeface="Calibri" pitchFamily="34" charset="0"/>
                <a:ea typeface="Calibri" pitchFamily="34" charset="-122"/>
                <a:cs typeface="Calibri" pitchFamily="34" charset="-120"/>
              </a:rPr>
              <a:t>1  </a:t>
            </a:r>
            <a:pPr indent="0" marL="0">
              <a:buNone/>
            </a:pPr>
            <a:r>
              <a:rPr lang="en-US" sz="1600" b="1" dirty="0">
                <a:solidFill>
                  <a:srgbClr val="1D2230"/>
                </a:solidFill>
                <a:latin typeface="Calibri" pitchFamily="34" charset="0"/>
                <a:ea typeface="Calibri" pitchFamily="34" charset="-122"/>
                <a:cs typeface="Calibri" pitchFamily="34" charset="-120"/>
              </a:rPr>
              <a:t>Rating task (offline)</a:t>
            </a:r>
            <a:endParaRPr lang="en-US" sz="1600" dirty="0"/>
          </a:p>
        </p:txBody>
      </p:sp>
      <p:pic>
        <p:nvPicPr>
          <p:cNvPr id="14" name="Image 0" descr="/tmp/claude-0/-home-user-DOC/b62d63f6-2ef2-5ee3-9869-de2bf75305bc/scratchpad/img/f1b.png">    </p:cNvPr>
          <p:cNvPicPr>
            <a:picLocks noChangeAspect="1"/>
          </p:cNvPicPr>
          <p:nvPr/>
        </p:nvPicPr>
        <p:blipFill>
          <a:blip r:embed="rId1"/>
          <a:stretch>
            <a:fillRect/>
          </a:stretch>
        </p:blipFill>
        <p:spPr>
          <a:xfrm>
            <a:off x="4023360" y="2521940"/>
            <a:ext cx="4343400" cy="2271319"/>
          </a:xfrm>
          <a:prstGeom prst="rect">
            <a:avLst/>
          </a:prstGeom>
        </p:spPr>
      </p:pic>
      <p:sp>
        <p:nvSpPr>
          <p:cNvPr id="15" name="Text 11"/>
          <p:cNvSpPr txBox="1"/>
          <p:nvPr/>
        </p:nvSpPr>
        <p:spPr>
          <a:xfrm>
            <a:off x="4069080" y="5074920"/>
            <a:ext cx="4297680" cy="640080"/>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Rate how much you'd like / dislike each scenario → a personal score per item.</a:t>
            </a:r>
            <a:endParaRPr lang="en-US" sz="1250" dirty="0"/>
          </a:p>
        </p:txBody>
      </p:sp>
      <p:sp>
        <p:nvSpPr>
          <p:cNvPr id="16" name="Shape 12"/>
          <p:cNvSpPr/>
          <p:nvPr/>
        </p:nvSpPr>
        <p:spPr>
          <a:xfrm>
            <a:off x="8778240" y="1737360"/>
            <a:ext cx="2880360" cy="4114800"/>
          </a:xfrm>
          <a:prstGeom prst="roundRect">
            <a:avLst>
              <a:gd name="adj" fmla="val 3810"/>
            </a:avLst>
          </a:prstGeom>
          <a:solidFill>
            <a:srgbClr val="F2F4F8"/>
          </a:solidFill>
          <a:ln w="12700">
            <a:solidFill>
              <a:srgbClr val="F2F4F8"/>
            </a:solidFill>
            <a:prstDash val="solid"/>
          </a:ln>
        </p:spPr>
      </p:sp>
      <p:sp>
        <p:nvSpPr>
          <p:cNvPr id="17" name="Text 13"/>
          <p:cNvSpPr txBox="1"/>
          <p:nvPr/>
        </p:nvSpPr>
        <p:spPr>
          <a:xfrm>
            <a:off x="8961120" y="1874520"/>
            <a:ext cx="2651760" cy="365760"/>
          </a:xfrm>
          <a:prstGeom prst="rect">
            <a:avLst/>
          </a:prstGeom>
          <a:noFill/>
          <a:ln/>
        </p:spPr>
        <p:txBody>
          <a:bodyPr wrap="square" lIns="0" tIns="0" rIns="0" bIns="0" rtlCol="0" anchor="ctr"/>
          <a:lstStyle/>
          <a:p>
            <a:pPr indent="0" marL="0">
              <a:buNone/>
            </a:pPr>
            <a:r>
              <a:rPr lang="en-US" sz="1600" b="1" dirty="0">
                <a:solidFill>
                  <a:srgbClr val="C8203F"/>
                </a:solidFill>
                <a:latin typeface="Calibri" pitchFamily="34" charset="0"/>
                <a:ea typeface="Calibri" pitchFamily="34" charset="-122"/>
                <a:cs typeface="Calibri" pitchFamily="34" charset="-120"/>
              </a:rPr>
              <a:t>2  </a:t>
            </a:r>
            <a:pPr indent="0" marL="0">
              <a:buNone/>
            </a:pPr>
            <a:r>
              <a:rPr lang="en-US" sz="1600" b="1" dirty="0">
                <a:solidFill>
                  <a:srgbClr val="1D2230"/>
                </a:solidFill>
                <a:latin typeface="Calibri" pitchFamily="34" charset="0"/>
                <a:ea typeface="Calibri" pitchFamily="34" charset="-122"/>
                <a:cs typeface="Calibri" pitchFamily="34" charset="-120"/>
              </a:rPr>
              <a:t>Accept / reject (live)</a:t>
            </a:r>
            <a:endParaRPr lang="en-US" sz="1600" dirty="0"/>
          </a:p>
        </p:txBody>
      </p:sp>
      <p:pic>
        <p:nvPicPr>
          <p:cNvPr id="18" name="Image 1" descr="/tmp/claude-0/-home-user-DOC/b62d63f6-2ef2-5ee3-9869-de2bf75305bc/scratchpad/img/f1c.png">    </p:cNvPr>
          <p:cNvPicPr>
            <a:picLocks noChangeAspect="1"/>
          </p:cNvPicPr>
          <p:nvPr/>
        </p:nvPicPr>
        <p:blipFill>
          <a:blip r:embed="rId2"/>
          <a:stretch>
            <a:fillRect/>
          </a:stretch>
        </p:blipFill>
        <p:spPr>
          <a:xfrm>
            <a:off x="8915400" y="2596569"/>
            <a:ext cx="2606040" cy="2122061"/>
          </a:xfrm>
          <a:prstGeom prst="rect">
            <a:avLst/>
          </a:prstGeom>
        </p:spPr>
      </p:pic>
      <p:sp>
        <p:nvSpPr>
          <p:cNvPr id="19" name="Text 14"/>
          <p:cNvSpPr txBox="1"/>
          <p:nvPr/>
        </p:nvSpPr>
        <p:spPr>
          <a:xfrm>
            <a:off x="8961120" y="5074920"/>
            <a:ext cx="2560320" cy="731520"/>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The “+” stays until the brain state is detected, then the offer appears.</a:t>
            </a:r>
            <a:endParaRPr lang="en-US" sz="1250" dirty="0"/>
          </a:p>
        </p:txBody>
      </p:sp>
      <p:sp>
        <p:nvSpPr>
          <p:cNvPr id="20" name="Text 15"/>
          <p:cNvSpPr txBox="1"/>
          <p:nvPr/>
        </p:nvSpPr>
        <p:spPr>
          <a:xfrm>
            <a:off x="548640" y="6473952"/>
            <a:ext cx="7315200" cy="256032"/>
          </a:xfrm>
          <a:prstGeom prst="rect">
            <a:avLst/>
          </a:prstGeom>
          <a:noFill/>
          <a:ln/>
        </p:spPr>
        <p:txBody>
          <a:bodyPr wrap="square" lIns="0" tIns="0" rIns="0" bIns="0" rtlCol="0" anchor="ctr"/>
          <a:lstStyle/>
          <a:p>
            <a:pPr indent="0" marL="0">
              <a:buNone/>
            </a:pPr>
            <a:r>
              <a:rPr lang="en-US" sz="950" dirty="0">
                <a:solidFill>
                  <a:srgbClr val="5B6275"/>
                </a:solidFill>
                <a:latin typeface="Calibri" pitchFamily="34" charset="0"/>
                <a:ea typeface="Calibri" pitchFamily="34" charset="-122"/>
                <a:cs typeface="Calibri" pitchFamily="34" charset="-120"/>
              </a:rPr>
              <a:t>Figure panels: Baratin et al., Nat Commun 2026 (CC BY-NC-ND 4.0)</a:t>
            </a:r>
            <a:endParaRPr lang="en-US" sz="950" dirty="0"/>
          </a:p>
        </p:txBody>
      </p:sp>
      <p:sp>
        <p:nvSpPr>
          <p:cNvPr id="21" name="Text 16"/>
          <p:cNvSpPr txBox="1"/>
          <p:nvPr/>
        </p:nvSpPr>
        <p:spPr>
          <a:xfrm>
            <a:off x="11094415" y="6473952"/>
            <a:ext cx="548640" cy="256032"/>
          </a:xfrm>
          <a:prstGeom prst="rect">
            <a:avLst/>
          </a:prstGeom>
          <a:noFill/>
          <a:ln/>
        </p:spPr>
        <p:txBody>
          <a:bodyPr wrap="square" lIns="0" tIns="0" rIns="0" bIns="0" rtlCol="0" anchor="ctr"/>
          <a:lstStyle/>
          <a:p>
            <a:pPr algn="r" indent="0" marL="0">
              <a:buNone/>
            </a:pPr>
            <a:r>
              <a:rPr lang="en-US" sz="1000" dirty="0">
                <a:solidFill>
                  <a:srgbClr val="5B6275"/>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384048"/>
            <a:ext cx="1121054" cy="292608"/>
          </a:xfrm>
          <a:prstGeom prst="roundRect">
            <a:avLst>
              <a:gd name="adj" fmla="val 50000"/>
            </a:avLst>
          </a:prstGeom>
          <a:solidFill>
            <a:srgbClr val="1F6FC5"/>
          </a:solidFill>
          <a:ln w="12700">
            <a:solidFill>
              <a:srgbClr val="1F6FC5"/>
            </a:solidFill>
            <a:prstDash val="solid"/>
          </a:ln>
        </p:spPr>
      </p:sp>
      <p:sp>
        <p:nvSpPr>
          <p:cNvPr id="4" name="Text 1"/>
          <p:cNvSpPr txBox="1"/>
          <p:nvPr/>
        </p:nvSpPr>
        <p:spPr>
          <a:xfrm>
            <a:off x="548640" y="384048"/>
            <a:ext cx="1121054" cy="29260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METHODS</a:t>
            </a:r>
            <a:endParaRPr lang="en-US" sz="1100" dirty="0"/>
          </a:p>
        </p:txBody>
      </p:sp>
      <p:sp>
        <p:nvSpPr>
          <p:cNvPr id="5" name="Text 2"/>
          <p:cNvSpPr txBox="1"/>
          <p:nvPr/>
        </p:nvSpPr>
        <p:spPr>
          <a:xfrm>
            <a:off x="548640" y="749808"/>
            <a:ext cx="11094415" cy="731520"/>
          </a:xfrm>
          <a:prstGeom prst="rect">
            <a:avLst/>
          </a:prstGeom>
          <a:noFill/>
          <a:ln/>
        </p:spPr>
        <p:txBody>
          <a:bodyPr wrap="square" lIns="0" tIns="0" rIns="0" bIns="0" rtlCol="0" anchor="t"/>
          <a:lstStyle/>
          <a:p>
            <a:pPr indent="0" marL="0">
              <a:buNone/>
            </a:pPr>
            <a:r>
              <a:rPr lang="en-US" sz="3000" b="1" dirty="0">
                <a:solidFill>
                  <a:srgbClr val="1D2230"/>
                </a:solidFill>
                <a:latin typeface="Cambria" pitchFamily="34" charset="0"/>
                <a:ea typeface="Cambria" pitchFamily="34" charset="-122"/>
                <a:cs typeface="Cambria" pitchFamily="34" charset="-120"/>
              </a:rPr>
              <a:t>The closed-loop brain–computer interface</a:t>
            </a:r>
            <a:endParaRPr lang="en-US" sz="3000" dirty="0"/>
          </a:p>
        </p:txBody>
      </p:sp>
      <p:sp>
        <p:nvSpPr>
          <p:cNvPr id="6" name="Shape 3"/>
          <p:cNvSpPr/>
          <p:nvPr/>
        </p:nvSpPr>
        <p:spPr>
          <a:xfrm>
            <a:off x="548640" y="1691640"/>
            <a:ext cx="6629400" cy="4206240"/>
          </a:xfrm>
          <a:prstGeom prst="roundRect">
            <a:avLst>
              <a:gd name="adj" fmla="val 2609"/>
            </a:avLst>
          </a:prstGeom>
          <a:solidFill>
            <a:srgbClr val="F2F4F8"/>
          </a:solidFill>
          <a:ln w="12700">
            <a:solidFill>
              <a:srgbClr val="F2F4F8"/>
            </a:solidFill>
            <a:prstDash val="solid"/>
          </a:ln>
        </p:spPr>
      </p:sp>
      <p:pic>
        <p:nvPicPr>
          <p:cNvPr id="7" name="Image 0" descr="/tmp/claude-0/-home-user-DOC/b62d63f6-2ef2-5ee3-9869-de2bf75305bc/scratchpad/img/f1a.png">    </p:cNvPr>
          <p:cNvPicPr>
            <a:picLocks noChangeAspect="1"/>
          </p:cNvPicPr>
          <p:nvPr/>
        </p:nvPicPr>
        <p:blipFill>
          <a:blip r:embed="rId1"/>
          <a:stretch>
            <a:fillRect/>
          </a:stretch>
        </p:blipFill>
        <p:spPr>
          <a:xfrm>
            <a:off x="685800" y="1946526"/>
            <a:ext cx="6355080" cy="3696467"/>
          </a:xfrm>
          <a:prstGeom prst="rect">
            <a:avLst/>
          </a:prstGeom>
        </p:spPr>
      </p:pic>
      <p:sp>
        <p:nvSpPr>
          <p:cNvPr id="8" name="Shape 4"/>
          <p:cNvSpPr/>
          <p:nvPr/>
        </p:nvSpPr>
        <p:spPr>
          <a:xfrm>
            <a:off x="7498080" y="1737360"/>
            <a:ext cx="402336" cy="402336"/>
          </a:xfrm>
          <a:prstGeom prst="ellipse">
            <a:avLst/>
          </a:prstGeom>
          <a:solidFill>
            <a:srgbClr val="252B3D"/>
          </a:solidFill>
          <a:ln w="12700">
            <a:solidFill>
              <a:srgbClr val="252B3D"/>
            </a:solidFill>
            <a:prstDash val="solid"/>
          </a:ln>
        </p:spPr>
      </p:sp>
      <p:sp>
        <p:nvSpPr>
          <p:cNvPr id="9" name="Text 5"/>
          <p:cNvSpPr txBox="1"/>
          <p:nvPr/>
        </p:nvSpPr>
        <p:spPr>
          <a:xfrm>
            <a:off x="7498080" y="17373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6"/>
          <p:cNvSpPr txBox="1"/>
          <p:nvPr/>
        </p:nvSpPr>
        <p:spPr>
          <a:xfrm>
            <a:off x="8046720" y="1682496"/>
            <a:ext cx="3611880" cy="566928"/>
          </a:xfrm>
          <a:prstGeom prst="rect">
            <a:avLst/>
          </a:prstGeom>
          <a:noFill/>
          <a:ln/>
        </p:spPr>
        <p:txBody>
          <a:bodyPr wrap="square" lIns="0" tIns="0" rIns="0" bIns="0" rtlCol="0" anchor="ctr"/>
          <a:lstStyle/>
          <a:p>
            <a:pPr indent="0" marL="0">
              <a:buNone/>
            </a:pPr>
            <a:r>
              <a:rPr lang="en-US" sz="1400" dirty="0">
                <a:solidFill>
                  <a:srgbClr val="1D2230"/>
                </a:solidFill>
                <a:latin typeface="Calibri" pitchFamily="34" charset="0"/>
                <a:ea typeface="Calibri" pitchFamily="34" charset="-122"/>
                <a:cs typeface="Calibri" pitchFamily="34" charset="-120"/>
              </a:rPr>
              <a:t>Hospital amplifier samples at 512 Hz, streams over TCP/IP</a:t>
            </a:r>
            <a:endParaRPr lang="en-US" sz="1400" dirty="0"/>
          </a:p>
        </p:txBody>
      </p:sp>
      <p:sp>
        <p:nvSpPr>
          <p:cNvPr id="11" name="Shape 7"/>
          <p:cNvSpPr/>
          <p:nvPr/>
        </p:nvSpPr>
        <p:spPr>
          <a:xfrm>
            <a:off x="7498080" y="2423160"/>
            <a:ext cx="402336" cy="402336"/>
          </a:xfrm>
          <a:prstGeom prst="ellipse">
            <a:avLst/>
          </a:prstGeom>
          <a:solidFill>
            <a:srgbClr val="252B3D"/>
          </a:solidFill>
          <a:ln w="12700">
            <a:solidFill>
              <a:srgbClr val="252B3D"/>
            </a:solidFill>
            <a:prstDash val="solid"/>
          </a:ln>
        </p:spPr>
      </p:sp>
      <p:sp>
        <p:nvSpPr>
          <p:cNvPr id="12" name="Text 8"/>
          <p:cNvSpPr txBox="1"/>
          <p:nvPr/>
        </p:nvSpPr>
        <p:spPr>
          <a:xfrm>
            <a:off x="7498080" y="24231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9"/>
          <p:cNvSpPr txBox="1"/>
          <p:nvPr/>
        </p:nvSpPr>
        <p:spPr>
          <a:xfrm>
            <a:off x="8046720" y="2368296"/>
            <a:ext cx="3611880" cy="566928"/>
          </a:xfrm>
          <a:prstGeom prst="rect">
            <a:avLst/>
          </a:prstGeom>
          <a:noFill/>
          <a:ln/>
        </p:spPr>
        <p:txBody>
          <a:bodyPr wrap="square" lIns="0" tIns="0" rIns="0" bIns="0" rtlCol="0" anchor="ctr"/>
          <a:lstStyle/>
          <a:p>
            <a:pPr indent="0" marL="0">
              <a:buNone/>
            </a:pPr>
            <a:r>
              <a:rPr lang="en-US" sz="1400" dirty="0">
                <a:solidFill>
                  <a:srgbClr val="1D2230"/>
                </a:solidFill>
                <a:latin typeface="Calibri" pitchFamily="34" charset="0"/>
                <a:ea typeface="Calibri" pitchFamily="34" charset="-122"/>
                <a:cs typeface="Calibri" pitchFamily="34" charset="-120"/>
              </a:rPr>
              <a:t>BCI2000 → data buffer → MATLAB</a:t>
            </a:r>
            <a:endParaRPr lang="en-US" sz="1400" dirty="0"/>
          </a:p>
        </p:txBody>
      </p:sp>
      <p:sp>
        <p:nvSpPr>
          <p:cNvPr id="14" name="Shape 10"/>
          <p:cNvSpPr/>
          <p:nvPr/>
        </p:nvSpPr>
        <p:spPr>
          <a:xfrm>
            <a:off x="7498080" y="3108960"/>
            <a:ext cx="402336" cy="402336"/>
          </a:xfrm>
          <a:prstGeom prst="ellipse">
            <a:avLst/>
          </a:prstGeom>
          <a:solidFill>
            <a:srgbClr val="252B3D"/>
          </a:solidFill>
          <a:ln w="12700">
            <a:solidFill>
              <a:srgbClr val="252B3D"/>
            </a:solidFill>
            <a:prstDash val="solid"/>
          </a:ln>
        </p:spPr>
      </p:sp>
      <p:sp>
        <p:nvSpPr>
          <p:cNvPr id="15" name="Text 11"/>
          <p:cNvSpPr txBox="1"/>
          <p:nvPr/>
        </p:nvSpPr>
        <p:spPr>
          <a:xfrm>
            <a:off x="7498080" y="31089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2"/>
          <p:cNvSpPr txBox="1"/>
          <p:nvPr/>
        </p:nvSpPr>
        <p:spPr>
          <a:xfrm>
            <a:off x="8046720" y="3054096"/>
            <a:ext cx="3611880" cy="566928"/>
          </a:xfrm>
          <a:prstGeom prst="rect">
            <a:avLst/>
          </a:prstGeom>
          <a:noFill/>
          <a:ln/>
        </p:spPr>
        <p:txBody>
          <a:bodyPr wrap="square" lIns="0" tIns="0" rIns="0" bIns="0" rtlCol="0" anchor="ctr"/>
          <a:lstStyle/>
          <a:p>
            <a:pPr indent="0" marL="0">
              <a:buNone/>
            </a:pPr>
            <a:r>
              <a:rPr lang="en-US" sz="1400" dirty="0">
                <a:solidFill>
                  <a:srgbClr val="1D2230"/>
                </a:solidFill>
                <a:latin typeface="Calibri" pitchFamily="34" charset="0"/>
                <a:ea typeface="Calibri" pitchFamily="34" charset="-122"/>
                <a:cs typeface="Calibri" pitchFamily="34" charset="-120"/>
              </a:rPr>
              <a:t>Subtract neighbouring contacts (removes distant noise)</a:t>
            </a:r>
            <a:endParaRPr lang="en-US" sz="1400" dirty="0"/>
          </a:p>
        </p:txBody>
      </p:sp>
      <p:sp>
        <p:nvSpPr>
          <p:cNvPr id="17" name="Shape 13"/>
          <p:cNvSpPr/>
          <p:nvPr/>
        </p:nvSpPr>
        <p:spPr>
          <a:xfrm>
            <a:off x="7498080" y="3794760"/>
            <a:ext cx="402336" cy="402336"/>
          </a:xfrm>
          <a:prstGeom prst="ellipse">
            <a:avLst/>
          </a:prstGeom>
          <a:solidFill>
            <a:srgbClr val="252B3D"/>
          </a:solidFill>
          <a:ln w="12700">
            <a:solidFill>
              <a:srgbClr val="252B3D"/>
            </a:solidFill>
            <a:prstDash val="solid"/>
          </a:ln>
        </p:spPr>
      </p:sp>
      <p:sp>
        <p:nvSpPr>
          <p:cNvPr id="18" name="Text 14"/>
          <p:cNvSpPr txBox="1"/>
          <p:nvPr/>
        </p:nvSpPr>
        <p:spPr>
          <a:xfrm>
            <a:off x="7498080" y="37947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5"/>
          <p:cNvSpPr txBox="1"/>
          <p:nvPr/>
        </p:nvSpPr>
        <p:spPr>
          <a:xfrm>
            <a:off x="8046720" y="3739896"/>
            <a:ext cx="3611880" cy="566928"/>
          </a:xfrm>
          <a:prstGeom prst="rect">
            <a:avLst/>
          </a:prstGeom>
          <a:noFill/>
          <a:ln/>
        </p:spPr>
        <p:txBody>
          <a:bodyPr wrap="square" lIns="0" tIns="0" rIns="0" bIns="0" rtlCol="0" anchor="ctr"/>
          <a:lstStyle/>
          <a:p>
            <a:pPr indent="0" marL="0">
              <a:buNone/>
            </a:pPr>
            <a:r>
              <a:rPr lang="en-US" sz="1400" dirty="0">
                <a:solidFill>
                  <a:srgbClr val="1D2230"/>
                </a:solidFill>
                <a:latin typeface="Calibri" pitchFamily="34" charset="0"/>
                <a:ea typeface="Calibri" pitchFamily="34" charset="-122"/>
                <a:cs typeface="Calibri" pitchFamily="34" charset="-120"/>
              </a:rPr>
              <a:t>Every 30 ms: FFT of last 1 s, sum 70–150 Hz power</a:t>
            </a:r>
            <a:endParaRPr lang="en-US" sz="1400" dirty="0"/>
          </a:p>
        </p:txBody>
      </p:sp>
      <p:sp>
        <p:nvSpPr>
          <p:cNvPr id="20" name="Shape 16"/>
          <p:cNvSpPr/>
          <p:nvPr/>
        </p:nvSpPr>
        <p:spPr>
          <a:xfrm>
            <a:off x="7498080" y="4480560"/>
            <a:ext cx="402336" cy="402336"/>
          </a:xfrm>
          <a:prstGeom prst="ellipse">
            <a:avLst/>
          </a:prstGeom>
          <a:solidFill>
            <a:srgbClr val="252B3D"/>
          </a:solidFill>
          <a:ln w="12700">
            <a:solidFill>
              <a:srgbClr val="252B3D"/>
            </a:solidFill>
            <a:prstDash val="solid"/>
          </a:ln>
        </p:spPr>
      </p:sp>
      <p:sp>
        <p:nvSpPr>
          <p:cNvPr id="21" name="Text 17"/>
          <p:cNvSpPr txBox="1"/>
          <p:nvPr/>
        </p:nvSpPr>
        <p:spPr>
          <a:xfrm>
            <a:off x="7498080" y="44805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18"/>
          <p:cNvSpPr txBox="1"/>
          <p:nvPr/>
        </p:nvSpPr>
        <p:spPr>
          <a:xfrm>
            <a:off x="8046720" y="4425696"/>
            <a:ext cx="3611880" cy="566928"/>
          </a:xfrm>
          <a:prstGeom prst="rect">
            <a:avLst/>
          </a:prstGeom>
          <a:noFill/>
          <a:ln/>
        </p:spPr>
        <p:txBody>
          <a:bodyPr wrap="square" lIns="0" tIns="0" rIns="0" bIns="0" rtlCol="0" anchor="ctr"/>
          <a:lstStyle/>
          <a:p>
            <a:pPr indent="0" marL="0">
              <a:buNone/>
            </a:pPr>
            <a:r>
              <a:rPr lang="en-US" sz="1400" dirty="0">
                <a:solidFill>
                  <a:srgbClr val="1D2230"/>
                </a:solidFill>
                <a:latin typeface="Calibri" pitchFamily="34" charset="0"/>
                <a:ea typeface="Calibri" pitchFamily="34" charset="-122"/>
                <a:cs typeface="Calibri" pitchFamily="34" charset="-120"/>
              </a:rPr>
              <a:t>Average channels, smooth 0.5 s, compare to threshold</a:t>
            </a:r>
            <a:endParaRPr lang="en-US" sz="1400" dirty="0"/>
          </a:p>
        </p:txBody>
      </p:sp>
      <p:sp>
        <p:nvSpPr>
          <p:cNvPr id="23" name="Shape 19"/>
          <p:cNvSpPr/>
          <p:nvPr/>
        </p:nvSpPr>
        <p:spPr>
          <a:xfrm>
            <a:off x="7498080" y="5166360"/>
            <a:ext cx="402336" cy="402336"/>
          </a:xfrm>
          <a:prstGeom prst="ellipse">
            <a:avLst/>
          </a:prstGeom>
          <a:solidFill>
            <a:srgbClr val="C8203F"/>
          </a:solidFill>
          <a:ln w="12700">
            <a:solidFill>
              <a:srgbClr val="C8203F"/>
            </a:solidFill>
            <a:prstDash val="solid"/>
          </a:ln>
        </p:spPr>
      </p:sp>
      <p:sp>
        <p:nvSpPr>
          <p:cNvPr id="24" name="Text 20"/>
          <p:cNvSpPr txBox="1"/>
          <p:nvPr/>
        </p:nvSpPr>
        <p:spPr>
          <a:xfrm>
            <a:off x="7498080" y="51663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5" name="Text 21"/>
          <p:cNvSpPr txBox="1"/>
          <p:nvPr/>
        </p:nvSpPr>
        <p:spPr>
          <a:xfrm>
            <a:off x="8046720" y="5111496"/>
            <a:ext cx="3611880" cy="566928"/>
          </a:xfrm>
          <a:prstGeom prst="rect">
            <a:avLst/>
          </a:prstGeom>
          <a:noFill/>
          <a:ln/>
        </p:spPr>
        <p:txBody>
          <a:bodyPr wrap="square" lIns="0" tIns="0" rIns="0" bIns="0" rtlCol="0" anchor="ctr"/>
          <a:lstStyle/>
          <a:p>
            <a:pPr indent="0" marL="0">
              <a:buNone/>
            </a:pPr>
            <a:r>
              <a:rPr lang="en-US" sz="1400" dirty="0">
                <a:solidFill>
                  <a:srgbClr val="1D2230"/>
                </a:solidFill>
                <a:latin typeface="Calibri" pitchFamily="34" charset="0"/>
                <a:ea typeface="Calibri" pitchFamily="34" charset="-122"/>
                <a:cs typeface="Calibri" pitchFamily="34" charset="-120"/>
              </a:rPr>
              <a:t>Threshold crossed → offer on screen (timeout 30 s)</a:t>
            </a:r>
            <a:endParaRPr lang="en-US" sz="1400" dirty="0"/>
          </a:p>
        </p:txBody>
      </p:sp>
      <p:sp>
        <p:nvSpPr>
          <p:cNvPr id="26" name="Text 22"/>
          <p:cNvSpPr txBox="1"/>
          <p:nvPr/>
        </p:nvSpPr>
        <p:spPr>
          <a:xfrm>
            <a:off x="548640" y="6473952"/>
            <a:ext cx="7315200" cy="256032"/>
          </a:xfrm>
          <a:prstGeom prst="rect">
            <a:avLst/>
          </a:prstGeom>
          <a:noFill/>
          <a:ln/>
        </p:spPr>
        <p:txBody>
          <a:bodyPr wrap="square" lIns="0" tIns="0" rIns="0" bIns="0" rtlCol="0" anchor="ctr"/>
          <a:lstStyle/>
          <a:p>
            <a:pPr indent="0" marL="0">
              <a:buNone/>
            </a:pPr>
            <a:r>
              <a:rPr lang="en-US" sz="950" dirty="0">
                <a:solidFill>
                  <a:srgbClr val="5B6275"/>
                </a:solidFill>
                <a:latin typeface="Calibri" pitchFamily="34" charset="0"/>
                <a:ea typeface="Calibri" pitchFamily="34" charset="-122"/>
                <a:cs typeface="Calibri" pitchFamily="34" charset="-120"/>
              </a:rPr>
              <a:t>Figure panels: Baratin et al., Nat Commun 2026 (CC BY-NC-ND 4.0)</a:t>
            </a:r>
            <a:endParaRPr lang="en-US" sz="950" dirty="0"/>
          </a:p>
        </p:txBody>
      </p:sp>
      <p:sp>
        <p:nvSpPr>
          <p:cNvPr id="27" name="Text 23"/>
          <p:cNvSpPr txBox="1"/>
          <p:nvPr/>
        </p:nvSpPr>
        <p:spPr>
          <a:xfrm>
            <a:off x="11094415" y="6473952"/>
            <a:ext cx="548640" cy="256032"/>
          </a:xfrm>
          <a:prstGeom prst="rect">
            <a:avLst/>
          </a:prstGeom>
          <a:noFill/>
          <a:ln/>
        </p:spPr>
        <p:txBody>
          <a:bodyPr wrap="square" lIns="0" tIns="0" rIns="0" bIns="0" rtlCol="0" anchor="ctr"/>
          <a:lstStyle/>
          <a:p>
            <a:pPr algn="r" indent="0" marL="0">
              <a:buNone/>
            </a:pPr>
            <a:r>
              <a:rPr lang="en-US" sz="1000" dirty="0">
                <a:solidFill>
                  <a:srgbClr val="5B627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384048"/>
            <a:ext cx="1121054" cy="292608"/>
          </a:xfrm>
          <a:prstGeom prst="roundRect">
            <a:avLst>
              <a:gd name="adj" fmla="val 50000"/>
            </a:avLst>
          </a:prstGeom>
          <a:solidFill>
            <a:srgbClr val="1F6FC5"/>
          </a:solidFill>
          <a:ln w="12700">
            <a:solidFill>
              <a:srgbClr val="1F6FC5"/>
            </a:solidFill>
            <a:prstDash val="solid"/>
          </a:ln>
        </p:spPr>
      </p:sp>
      <p:sp>
        <p:nvSpPr>
          <p:cNvPr id="4" name="Text 1"/>
          <p:cNvSpPr txBox="1"/>
          <p:nvPr/>
        </p:nvSpPr>
        <p:spPr>
          <a:xfrm>
            <a:off x="548640" y="384048"/>
            <a:ext cx="1121054" cy="29260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METHODS</a:t>
            </a:r>
            <a:endParaRPr lang="en-US" sz="1100" dirty="0"/>
          </a:p>
        </p:txBody>
      </p:sp>
      <p:sp>
        <p:nvSpPr>
          <p:cNvPr id="5" name="Text 2"/>
          <p:cNvSpPr txBox="1"/>
          <p:nvPr/>
        </p:nvSpPr>
        <p:spPr>
          <a:xfrm>
            <a:off x="548640" y="749808"/>
            <a:ext cx="11094415" cy="731520"/>
          </a:xfrm>
          <a:prstGeom prst="rect">
            <a:avLst/>
          </a:prstGeom>
          <a:noFill/>
          <a:ln/>
        </p:spPr>
        <p:txBody>
          <a:bodyPr wrap="square" lIns="0" tIns="0" rIns="0" bIns="0" rtlCol="0" anchor="t"/>
          <a:lstStyle/>
          <a:p>
            <a:pPr indent="0" marL="0">
              <a:buNone/>
            </a:pPr>
            <a:r>
              <a:rPr lang="en-US" sz="3000" b="1" dirty="0">
                <a:solidFill>
                  <a:srgbClr val="1D2230"/>
                </a:solidFill>
                <a:latin typeface="Cambria" pitchFamily="34" charset="0"/>
                <a:ea typeface="Cambria" pitchFamily="34" charset="-122"/>
                <a:cs typeface="Cambria" pitchFamily="34" charset="-120"/>
              </a:rPr>
              <a:t>Detecting up- and down-states, controlling difficulty</a:t>
            </a:r>
            <a:endParaRPr lang="en-US" sz="3000" dirty="0"/>
          </a:p>
        </p:txBody>
      </p:sp>
      <p:sp>
        <p:nvSpPr>
          <p:cNvPr id="6" name="Text 3"/>
          <p:cNvSpPr txBox="1"/>
          <p:nvPr/>
        </p:nvSpPr>
        <p:spPr>
          <a:xfrm>
            <a:off x="548640" y="1691640"/>
            <a:ext cx="2377440" cy="640080"/>
          </a:xfrm>
          <a:prstGeom prst="rect">
            <a:avLst/>
          </a:prstGeom>
          <a:noFill/>
          <a:ln/>
        </p:spPr>
        <p:txBody>
          <a:bodyPr wrap="square" lIns="0" tIns="0" rIns="0" bIns="0" rtlCol="0" anchor="b"/>
          <a:lstStyle/>
          <a:p>
            <a:pPr indent="0" marL="0">
              <a:buNone/>
            </a:pPr>
            <a:r>
              <a:rPr lang="en-US" sz="3800" b="1" dirty="0">
                <a:solidFill>
                  <a:srgbClr val="252B3D"/>
                </a:solidFill>
                <a:latin typeface="Cambria" pitchFamily="34" charset="0"/>
                <a:ea typeface="Cambria" pitchFamily="34" charset="-122"/>
                <a:cs typeface="Cambria" pitchFamily="34" charset="-120"/>
              </a:rPr>
              <a:t>20 s</a:t>
            </a:r>
            <a:endParaRPr lang="en-US" sz="3800" dirty="0"/>
          </a:p>
        </p:txBody>
      </p:sp>
      <p:sp>
        <p:nvSpPr>
          <p:cNvPr id="7" name="Text 4"/>
          <p:cNvSpPr txBox="1"/>
          <p:nvPr/>
        </p:nvSpPr>
        <p:spPr>
          <a:xfrm>
            <a:off x="548640" y="2377440"/>
            <a:ext cx="2377440" cy="548640"/>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sliding window for the running median and spread</a:t>
            </a:r>
            <a:endParaRPr lang="en-US" sz="1250" dirty="0"/>
          </a:p>
        </p:txBody>
      </p:sp>
      <p:sp>
        <p:nvSpPr>
          <p:cNvPr id="8" name="Text 5"/>
          <p:cNvSpPr txBox="1"/>
          <p:nvPr/>
        </p:nvSpPr>
        <p:spPr>
          <a:xfrm>
            <a:off x="3337560" y="1691640"/>
            <a:ext cx="2377440" cy="640080"/>
          </a:xfrm>
          <a:prstGeom prst="rect">
            <a:avLst/>
          </a:prstGeom>
          <a:noFill/>
          <a:ln/>
        </p:spPr>
        <p:txBody>
          <a:bodyPr wrap="square" lIns="0" tIns="0" rIns="0" bIns="0" rtlCol="0" anchor="b"/>
          <a:lstStyle/>
          <a:p>
            <a:pPr indent="0" marL="0">
              <a:buNone/>
            </a:pPr>
            <a:r>
              <a:rPr lang="en-US" sz="3800" b="1" dirty="0">
                <a:solidFill>
                  <a:srgbClr val="C8203F"/>
                </a:solidFill>
                <a:latin typeface="Cambria" pitchFamily="34" charset="0"/>
                <a:ea typeface="Cambria" pitchFamily="34" charset="-122"/>
                <a:cs typeface="Cambria" pitchFamily="34" charset="-120"/>
              </a:rPr>
              <a:t>±3.5 MAD</a:t>
            </a:r>
            <a:endParaRPr lang="en-US" sz="3800" dirty="0"/>
          </a:p>
        </p:txBody>
      </p:sp>
      <p:sp>
        <p:nvSpPr>
          <p:cNvPr id="9" name="Text 6"/>
          <p:cNvSpPr txBox="1"/>
          <p:nvPr/>
        </p:nvSpPr>
        <p:spPr>
          <a:xfrm>
            <a:off x="3337560" y="2377440"/>
            <a:ext cx="2377440" cy="548640"/>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threshold: 3.5 × robust spread above / below the median</a:t>
            </a:r>
            <a:endParaRPr lang="en-US" sz="1250" dirty="0"/>
          </a:p>
        </p:txBody>
      </p:sp>
      <p:sp>
        <p:nvSpPr>
          <p:cNvPr id="10" name="Text 7"/>
          <p:cNvSpPr txBox="1"/>
          <p:nvPr/>
        </p:nvSpPr>
        <p:spPr>
          <a:xfrm>
            <a:off x="6583680" y="1691640"/>
            <a:ext cx="2377440" cy="640080"/>
          </a:xfrm>
          <a:prstGeom prst="rect">
            <a:avLst/>
          </a:prstGeom>
          <a:noFill/>
          <a:ln/>
        </p:spPr>
        <p:txBody>
          <a:bodyPr wrap="square" lIns="0" tIns="0" rIns="0" bIns="0" rtlCol="0" anchor="b"/>
          <a:lstStyle/>
          <a:p>
            <a:pPr indent="0" marL="0">
              <a:buNone/>
            </a:pPr>
            <a:r>
              <a:rPr lang="en-US" sz="3800" b="1" dirty="0">
                <a:solidFill>
                  <a:srgbClr val="1F6FC5"/>
                </a:solidFill>
                <a:latin typeface="Cambria" pitchFamily="34" charset="0"/>
                <a:ea typeface="Cambria" pitchFamily="34" charset="-122"/>
                <a:cs typeface="Cambria" pitchFamily="34" charset="-120"/>
              </a:rPr>
              <a:t>35 + 35</a:t>
            </a:r>
            <a:endParaRPr lang="en-US" sz="3800" dirty="0"/>
          </a:p>
        </p:txBody>
      </p:sp>
      <p:sp>
        <p:nvSpPr>
          <p:cNvPr id="11" name="Text 8"/>
          <p:cNvSpPr txBox="1"/>
          <p:nvPr/>
        </p:nvSpPr>
        <p:spPr>
          <a:xfrm>
            <a:off x="6583680" y="2377440"/>
            <a:ext cx="2377440" cy="548640"/>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up- and down-state trials per session, alternating</a:t>
            </a:r>
            <a:endParaRPr lang="en-US" sz="1250" dirty="0"/>
          </a:p>
        </p:txBody>
      </p:sp>
      <p:sp>
        <p:nvSpPr>
          <p:cNvPr id="12" name="Text 9"/>
          <p:cNvSpPr txBox="1"/>
          <p:nvPr/>
        </p:nvSpPr>
        <p:spPr>
          <a:xfrm>
            <a:off x="9372600" y="1691640"/>
            <a:ext cx="2377440" cy="640080"/>
          </a:xfrm>
          <a:prstGeom prst="rect">
            <a:avLst/>
          </a:prstGeom>
          <a:noFill/>
          <a:ln/>
        </p:spPr>
        <p:txBody>
          <a:bodyPr wrap="square" lIns="0" tIns="0" rIns="0" bIns="0" rtlCol="0" anchor="b"/>
          <a:lstStyle/>
          <a:p>
            <a:pPr indent="0" marL="0">
              <a:buNone/>
            </a:pPr>
            <a:r>
              <a:rPr lang="en-US" sz="3800" b="1" dirty="0">
                <a:solidFill>
                  <a:srgbClr val="1E8E5A"/>
                </a:solidFill>
                <a:latin typeface="Cambria" pitchFamily="34" charset="0"/>
                <a:ea typeface="Cambria" pitchFamily="34" charset="-122"/>
                <a:cs typeface="Cambria" pitchFamily="34" charset="-120"/>
              </a:rPr>
              <a:t>≥ 70%</a:t>
            </a:r>
            <a:endParaRPr lang="en-US" sz="3800" dirty="0"/>
          </a:p>
        </p:txBody>
      </p:sp>
      <p:sp>
        <p:nvSpPr>
          <p:cNvPr id="13" name="Text 10"/>
          <p:cNvSpPr txBox="1"/>
          <p:nvPr/>
        </p:nvSpPr>
        <p:spPr>
          <a:xfrm>
            <a:off x="9372600" y="2377440"/>
            <a:ext cx="2377440" cy="548640"/>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of offers are hard (close to a 50/50 choice)</a:t>
            </a:r>
            <a:endParaRPr lang="en-US" sz="1250" dirty="0"/>
          </a:p>
        </p:txBody>
      </p:sp>
      <p:sp>
        <p:nvSpPr>
          <p:cNvPr id="14" name="Shape 11"/>
          <p:cNvSpPr/>
          <p:nvPr/>
        </p:nvSpPr>
        <p:spPr>
          <a:xfrm>
            <a:off x="548640" y="3429000"/>
            <a:ext cx="5440680" cy="2468880"/>
          </a:xfrm>
          <a:prstGeom prst="roundRect">
            <a:avLst>
              <a:gd name="adj" fmla="val 4444"/>
            </a:avLst>
          </a:prstGeom>
          <a:solidFill>
            <a:srgbClr val="F2F4F8"/>
          </a:solidFill>
          <a:ln w="12700">
            <a:solidFill>
              <a:srgbClr val="F2F4F8"/>
            </a:solidFill>
            <a:prstDash val="solid"/>
          </a:ln>
        </p:spPr>
      </p:sp>
      <p:sp>
        <p:nvSpPr>
          <p:cNvPr id="15" name="Text 12"/>
          <p:cNvSpPr txBox="1"/>
          <p:nvPr/>
        </p:nvSpPr>
        <p:spPr>
          <a:xfrm>
            <a:off x="822960" y="3566160"/>
            <a:ext cx="5029200" cy="411480"/>
          </a:xfrm>
          <a:prstGeom prst="rect">
            <a:avLst/>
          </a:prstGeom>
          <a:noFill/>
          <a:ln/>
        </p:spPr>
        <p:txBody>
          <a:bodyPr wrap="square" lIns="0" tIns="0" rIns="0" bIns="0" rtlCol="0" anchor="ctr"/>
          <a:lstStyle/>
          <a:p>
            <a:pPr indent="0" marL="0">
              <a:buNone/>
            </a:pPr>
            <a:r>
              <a:rPr lang="en-US" sz="1800" b="1" dirty="0">
                <a:solidFill>
                  <a:srgbClr val="1D2230"/>
                </a:solidFill>
                <a:latin typeface="Cambria" pitchFamily="34" charset="0"/>
                <a:ea typeface="Cambria" pitchFamily="34" charset="-122"/>
                <a:cs typeface="Cambria" pitchFamily="34" charset="-120"/>
              </a:rPr>
              <a:t>Adaptive threshold = streaming outlier detection</a:t>
            </a:r>
            <a:endParaRPr lang="en-US" sz="1800" dirty="0"/>
          </a:p>
        </p:txBody>
      </p:sp>
      <p:sp>
        <p:nvSpPr>
          <p:cNvPr id="16" name="Text 13"/>
          <p:cNvSpPr txBox="1"/>
          <p:nvPr/>
        </p:nvSpPr>
        <p:spPr>
          <a:xfrm>
            <a:off x="822960" y="4069080"/>
            <a:ext cx="4937760" cy="1737360"/>
          </a:xfrm>
          <a:prstGeom prst="rect">
            <a:avLst/>
          </a:prstGeom>
          <a:noFill/>
          <a:ln/>
        </p:spPr>
        <p:txBody>
          <a:bodyPr wrap="square" lIns="0" tIns="0" rIns="0" bIns="0" rtlCol="0" anchor="t"/>
          <a:lstStyle/>
          <a:p>
            <a:pPr marL="203200" indent="-203200">
              <a:spcAft>
                <a:spcPts val="800"/>
              </a:spcAft>
              <a:buSzPct val="100000"/>
              <a:buChar char="•"/>
            </a:pPr>
            <a:r>
              <a:rPr lang="en-US" sz="1450" dirty="0">
                <a:solidFill>
                  <a:srgbClr val="1D2230"/>
                </a:solidFill>
                <a:latin typeface="Calibri" pitchFamily="34" charset="0"/>
                <a:ea typeface="Calibri" pitchFamily="34" charset="-122"/>
                <a:cs typeface="Calibri" pitchFamily="34" charset="-120"/>
              </a:rPr>
              <a:t>Thresholds update continuously as the signal drifts</a:t>
            </a:r>
            <a:endParaRPr lang="en-US" sz="1450" dirty="0"/>
          </a:p>
          <a:p>
            <a:pPr marL="203200" indent="-203200">
              <a:spcAft>
                <a:spcPts val="800"/>
              </a:spcAft>
              <a:buSzPct val="100000"/>
              <a:buChar char="•"/>
            </a:pPr>
            <a:r>
              <a:rPr lang="en-US" sz="1450" dirty="0">
                <a:solidFill>
                  <a:srgbClr val="1D2230"/>
                </a:solidFill>
                <a:latin typeface="Calibri" pitchFamily="34" charset="0"/>
                <a:ea typeface="Calibri" pitchFamily="34" charset="-122"/>
                <a:cs typeface="Calibri" pitchFamily="34" charset="-120"/>
              </a:rPr>
              <a:t>No calibration phase needed</a:t>
            </a:r>
            <a:endParaRPr lang="en-US" sz="1450" dirty="0"/>
          </a:p>
          <a:p>
            <a:pPr marL="203200" indent="-203200">
              <a:spcAft>
                <a:spcPts val="800"/>
              </a:spcAft>
              <a:buSzPct val="100000"/>
              <a:buChar char="•"/>
            </a:pPr>
            <a:r>
              <a:rPr lang="en-US" sz="1450" dirty="0">
                <a:solidFill>
                  <a:srgbClr val="1D2230"/>
                </a:solidFill>
                <a:latin typeface="Calibri" pitchFamily="34" charset="0"/>
                <a:ea typeface="Calibri" pitchFamily="34" charset="-122"/>
                <a:cs typeface="Calibri" pitchFamily="34" charset="-120"/>
              </a:rPr>
              <a:t>Detected spikes get 0.8 weight, so one outlier can't hijack the threshold</a:t>
            </a:r>
            <a:endParaRPr lang="en-US" sz="1450" dirty="0"/>
          </a:p>
        </p:txBody>
      </p:sp>
      <p:sp>
        <p:nvSpPr>
          <p:cNvPr id="17" name="Shape 14"/>
          <p:cNvSpPr/>
          <p:nvPr/>
        </p:nvSpPr>
        <p:spPr>
          <a:xfrm>
            <a:off x="6217920" y="3429000"/>
            <a:ext cx="5440680" cy="2468880"/>
          </a:xfrm>
          <a:prstGeom prst="roundRect">
            <a:avLst>
              <a:gd name="adj" fmla="val 4444"/>
            </a:avLst>
          </a:prstGeom>
          <a:solidFill>
            <a:srgbClr val="F2F4F8"/>
          </a:solidFill>
          <a:ln w="12700">
            <a:solidFill>
              <a:srgbClr val="F2F4F8"/>
            </a:solidFill>
            <a:prstDash val="solid"/>
          </a:ln>
        </p:spPr>
      </p:sp>
      <p:sp>
        <p:nvSpPr>
          <p:cNvPr id="18" name="Text 15"/>
          <p:cNvSpPr txBox="1"/>
          <p:nvPr/>
        </p:nvSpPr>
        <p:spPr>
          <a:xfrm>
            <a:off x="6492240" y="3566160"/>
            <a:ext cx="4937760" cy="411480"/>
          </a:xfrm>
          <a:prstGeom prst="rect">
            <a:avLst/>
          </a:prstGeom>
          <a:noFill/>
          <a:ln/>
        </p:spPr>
        <p:txBody>
          <a:bodyPr wrap="square" lIns="0" tIns="0" rIns="0" bIns="0" rtlCol="0" anchor="ctr"/>
          <a:lstStyle/>
          <a:p>
            <a:pPr indent="0" marL="0">
              <a:buNone/>
            </a:pPr>
            <a:r>
              <a:rPr lang="en-US" sz="1800" b="1" dirty="0">
                <a:solidFill>
                  <a:srgbClr val="1D2230"/>
                </a:solidFill>
                <a:latin typeface="Cambria" pitchFamily="34" charset="0"/>
                <a:ea typeface="Cambria" pitchFamily="34" charset="-122"/>
                <a:cs typeface="Cambria" pitchFamily="34" charset="-120"/>
              </a:rPr>
              <a:t>Making the brain state matter</a:t>
            </a:r>
            <a:endParaRPr lang="en-US" sz="1800" dirty="0"/>
          </a:p>
        </p:txBody>
      </p:sp>
      <p:sp>
        <p:nvSpPr>
          <p:cNvPr id="19" name="Text 16"/>
          <p:cNvSpPr txBox="1"/>
          <p:nvPr/>
        </p:nvSpPr>
        <p:spPr>
          <a:xfrm>
            <a:off x="6492240" y="4069080"/>
            <a:ext cx="4937760" cy="1737360"/>
          </a:xfrm>
          <a:prstGeom prst="rect">
            <a:avLst/>
          </a:prstGeom>
          <a:noFill/>
          <a:ln/>
        </p:spPr>
        <p:txBody>
          <a:bodyPr wrap="square" lIns="0" tIns="0" rIns="0" bIns="0" rtlCol="0" anchor="t"/>
          <a:lstStyle/>
          <a:p>
            <a:pPr marL="203200" indent="-203200">
              <a:spcAft>
                <a:spcPts val="800"/>
              </a:spcAft>
              <a:buSzPct val="100000"/>
              <a:buChar char="•"/>
            </a:pPr>
            <a:r>
              <a:rPr lang="en-US" sz="1450" dirty="0">
                <a:solidFill>
                  <a:srgbClr val="1D2230"/>
                </a:solidFill>
                <a:latin typeface="Calibri" pitchFamily="34" charset="0"/>
                <a:ea typeface="Calibri" pitchFamily="34" charset="-122"/>
                <a:cs typeface="Calibri" pitchFamily="34" charset="-120"/>
              </a:rPr>
              <a:t>Hard offers: pleasant item ≈ 15 points better than unpleasant (from a pilot study)</a:t>
            </a:r>
            <a:endParaRPr lang="en-US" sz="1450" dirty="0"/>
          </a:p>
          <a:p>
            <a:pPr marL="203200" indent="-203200">
              <a:spcAft>
                <a:spcPts val="800"/>
              </a:spcAft>
              <a:buSzPct val="100000"/>
              <a:buChar char="•"/>
            </a:pPr>
            <a:r>
              <a:rPr lang="en-US" sz="1450" dirty="0">
                <a:solidFill>
                  <a:srgbClr val="1D2230"/>
                </a:solidFill>
                <a:latin typeface="Calibri" pitchFamily="34" charset="0"/>
                <a:ea typeface="Calibri" pitchFamily="34" charset="-122"/>
                <a:cs typeface="Calibri" pitchFamily="34" charset="-120"/>
              </a:rPr>
              <a:t>Up- and down-state offers matched in difficulty</a:t>
            </a:r>
            <a:endParaRPr lang="en-US" sz="1450" dirty="0"/>
          </a:p>
          <a:p>
            <a:pPr marL="203200" indent="-203200">
              <a:spcAft>
                <a:spcPts val="800"/>
              </a:spcAft>
              <a:buSzPct val="100000"/>
              <a:buChar char="•"/>
            </a:pPr>
            <a:r>
              <a:rPr lang="en-US" sz="1450" dirty="0">
                <a:solidFill>
                  <a:srgbClr val="1D2230"/>
                </a:solidFill>
                <a:latin typeface="Calibri" pitchFamily="34" charset="0"/>
                <a:ea typeface="Calibri" pitchFamily="34" charset="-122"/>
                <a:cs typeface="Calibri" pitchFamily="34" charset="-120"/>
              </a:rPr>
              <a:t>Participants didn't know their brain triggered the trials</a:t>
            </a:r>
            <a:endParaRPr lang="en-US" sz="1450" dirty="0"/>
          </a:p>
        </p:txBody>
      </p:sp>
      <p:sp>
        <p:nvSpPr>
          <p:cNvPr id="20" name="Text 17"/>
          <p:cNvSpPr txBox="1"/>
          <p:nvPr/>
        </p:nvSpPr>
        <p:spPr>
          <a:xfrm>
            <a:off x="548640" y="6473952"/>
            <a:ext cx="7315200" cy="256032"/>
          </a:xfrm>
          <a:prstGeom prst="rect">
            <a:avLst/>
          </a:prstGeom>
          <a:noFill/>
          <a:ln/>
        </p:spPr>
        <p:txBody>
          <a:bodyPr wrap="square" lIns="0" tIns="0" rIns="0" bIns="0" rtlCol="0" anchor="ctr"/>
          <a:lstStyle/>
          <a:p>
            <a:pPr indent="0" marL="0">
              <a:buNone/>
            </a:pPr>
            <a:r>
              <a:rPr lang="en-US" sz="950" dirty="0">
                <a:solidFill>
                  <a:srgbClr val="5B6275"/>
                </a:solidFill>
                <a:latin typeface="Calibri" pitchFamily="34" charset="0"/>
                <a:ea typeface="Calibri" pitchFamily="34" charset="-122"/>
                <a:cs typeface="Calibri" pitchFamily="34" charset="-120"/>
              </a:rPr>
              <a:t>Baratin et al., Nature Communications (2026)</a:t>
            </a:r>
            <a:endParaRPr lang="en-US" sz="950" dirty="0"/>
          </a:p>
        </p:txBody>
      </p:sp>
      <p:sp>
        <p:nvSpPr>
          <p:cNvPr id="21" name="Text 18"/>
          <p:cNvSpPr txBox="1"/>
          <p:nvPr/>
        </p:nvSpPr>
        <p:spPr>
          <a:xfrm>
            <a:off x="11094415" y="6473952"/>
            <a:ext cx="548640" cy="256032"/>
          </a:xfrm>
          <a:prstGeom prst="rect">
            <a:avLst/>
          </a:prstGeom>
          <a:noFill/>
          <a:ln/>
        </p:spPr>
        <p:txBody>
          <a:bodyPr wrap="square" lIns="0" tIns="0" rIns="0" bIns="0" rtlCol="0" anchor="ctr"/>
          <a:lstStyle/>
          <a:p>
            <a:pPr algn="r" indent="0" marL="0">
              <a:buNone/>
            </a:pPr>
            <a:r>
              <a:rPr lang="en-US" sz="1000" dirty="0">
                <a:solidFill>
                  <a:srgbClr val="5B6275"/>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384048"/>
            <a:ext cx="1121054" cy="292608"/>
          </a:xfrm>
          <a:prstGeom prst="roundRect">
            <a:avLst>
              <a:gd name="adj" fmla="val 50000"/>
            </a:avLst>
          </a:prstGeom>
          <a:solidFill>
            <a:srgbClr val="1E8E5A"/>
          </a:solidFill>
          <a:ln w="12700">
            <a:solidFill>
              <a:srgbClr val="1E8E5A"/>
            </a:solidFill>
            <a:prstDash val="solid"/>
          </a:ln>
        </p:spPr>
      </p:sp>
      <p:sp>
        <p:nvSpPr>
          <p:cNvPr id="4" name="Text 1"/>
          <p:cNvSpPr txBox="1"/>
          <p:nvPr/>
        </p:nvSpPr>
        <p:spPr>
          <a:xfrm>
            <a:off x="548640" y="384048"/>
            <a:ext cx="1121054" cy="29260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RESULTS</a:t>
            </a:r>
            <a:endParaRPr lang="en-US" sz="1100" dirty="0"/>
          </a:p>
        </p:txBody>
      </p:sp>
      <p:sp>
        <p:nvSpPr>
          <p:cNvPr id="5" name="Text 2"/>
          <p:cNvSpPr txBox="1"/>
          <p:nvPr/>
        </p:nvSpPr>
        <p:spPr>
          <a:xfrm>
            <a:off x="548640" y="749808"/>
            <a:ext cx="11094415" cy="731520"/>
          </a:xfrm>
          <a:prstGeom prst="rect">
            <a:avLst/>
          </a:prstGeom>
          <a:noFill/>
          <a:ln/>
        </p:spPr>
        <p:txBody>
          <a:bodyPr wrap="square" lIns="0" tIns="0" rIns="0" bIns="0" rtlCol="0" anchor="t"/>
          <a:lstStyle/>
          <a:p>
            <a:pPr indent="0" marL="0">
              <a:buNone/>
            </a:pPr>
            <a:r>
              <a:rPr lang="en-US" sz="3000" b="1" dirty="0">
                <a:solidFill>
                  <a:srgbClr val="1D2230"/>
                </a:solidFill>
                <a:latin typeface="Cambria" pitchFamily="34" charset="0"/>
                <a:ea typeface="Cambria" pitchFamily="34" charset="-122"/>
                <a:cs typeface="Cambria" pitchFamily="34" charset="-120"/>
              </a:rPr>
              <a:t>Sanity check: choices follow the value of the offer</a:t>
            </a:r>
            <a:endParaRPr lang="en-US" sz="3000" dirty="0"/>
          </a:p>
        </p:txBody>
      </p:sp>
      <p:sp>
        <p:nvSpPr>
          <p:cNvPr id="6" name="Shape 3"/>
          <p:cNvSpPr/>
          <p:nvPr/>
        </p:nvSpPr>
        <p:spPr>
          <a:xfrm>
            <a:off x="548640" y="1691640"/>
            <a:ext cx="5120640" cy="4206240"/>
          </a:xfrm>
          <a:prstGeom prst="roundRect">
            <a:avLst>
              <a:gd name="adj" fmla="val 2609"/>
            </a:avLst>
          </a:prstGeom>
          <a:solidFill>
            <a:srgbClr val="F2F4F8"/>
          </a:solidFill>
          <a:ln w="12700">
            <a:solidFill>
              <a:srgbClr val="F2F4F8"/>
            </a:solidFill>
            <a:prstDash val="solid"/>
          </a:ln>
        </p:spPr>
      </p:sp>
      <p:pic>
        <p:nvPicPr>
          <p:cNvPr id="7" name="Image 0" descr="/tmp/claude-0/-home-user-DOC/b62d63f6-2ef2-5ee3-9869-de2bf75305bc/scratchpad/img/f1d.png">    </p:cNvPr>
          <p:cNvPicPr>
            <a:picLocks noChangeAspect="1"/>
          </p:cNvPicPr>
          <p:nvPr/>
        </p:nvPicPr>
        <p:blipFill>
          <a:blip r:embed="rId1"/>
          <a:stretch>
            <a:fillRect/>
          </a:stretch>
        </p:blipFill>
        <p:spPr>
          <a:xfrm>
            <a:off x="1084928" y="1874520"/>
            <a:ext cx="4048065" cy="3383280"/>
          </a:xfrm>
          <a:prstGeom prst="rect">
            <a:avLst/>
          </a:prstGeom>
        </p:spPr>
      </p:pic>
      <p:sp>
        <p:nvSpPr>
          <p:cNvPr id="8" name="Text 4"/>
          <p:cNvSpPr txBox="1"/>
          <p:nvPr/>
        </p:nvSpPr>
        <p:spPr>
          <a:xfrm>
            <a:off x="731520" y="5303520"/>
            <a:ext cx="4754880" cy="457200"/>
          </a:xfrm>
          <a:prstGeom prst="rect">
            <a:avLst/>
          </a:prstGeom>
          <a:noFill/>
          <a:ln/>
        </p:spPr>
        <p:txBody>
          <a:bodyPr wrap="square" lIns="0" tIns="0" rIns="0" bIns="0" rtlCol="0" anchor="ctr"/>
          <a:lstStyle/>
          <a:p>
            <a:pPr algn="ctr" indent="0" marL="0">
              <a:buNone/>
            </a:pPr>
            <a:r>
              <a:rPr lang="en-US" sz="1200" dirty="0">
                <a:solidFill>
                  <a:srgbClr val="5B6275"/>
                </a:solidFill>
                <a:latin typeface="Calibri" pitchFamily="34" charset="0"/>
                <a:ea typeface="Calibri" pitchFamily="34" charset="-122"/>
                <a:cs typeface="Calibri" pitchFamily="34" charset="-120"/>
              </a:rPr>
              <a:t>Probability of accepting vs. how good the deal is (black = average, grey = each person)</a:t>
            </a:r>
            <a:endParaRPr lang="en-US" sz="1200" dirty="0"/>
          </a:p>
        </p:txBody>
      </p:sp>
      <p:sp>
        <p:nvSpPr>
          <p:cNvPr id="9" name="Text 5"/>
          <p:cNvSpPr txBox="1"/>
          <p:nvPr/>
        </p:nvSpPr>
        <p:spPr>
          <a:xfrm>
            <a:off x="6172200" y="1737360"/>
            <a:ext cx="2560320" cy="640080"/>
          </a:xfrm>
          <a:prstGeom prst="rect">
            <a:avLst/>
          </a:prstGeom>
          <a:noFill/>
          <a:ln/>
        </p:spPr>
        <p:txBody>
          <a:bodyPr wrap="square" lIns="0" tIns="0" rIns="0" bIns="0" rtlCol="0" anchor="b"/>
          <a:lstStyle/>
          <a:p>
            <a:pPr indent="0" marL="0">
              <a:buNone/>
            </a:pPr>
            <a:r>
              <a:rPr lang="en-US" sz="3200" b="1" dirty="0">
                <a:solidFill>
                  <a:srgbClr val="1D2230"/>
                </a:solidFill>
                <a:latin typeface="Cambria" pitchFamily="34" charset="0"/>
                <a:ea typeface="Cambria" pitchFamily="34" charset="-122"/>
                <a:cs typeface="Cambria" pitchFamily="34" charset="-120"/>
              </a:rPr>
              <a:t>z = 16.9</a:t>
            </a:r>
            <a:endParaRPr lang="en-US" sz="3200" dirty="0"/>
          </a:p>
        </p:txBody>
      </p:sp>
      <p:sp>
        <p:nvSpPr>
          <p:cNvPr id="10" name="Text 6"/>
          <p:cNvSpPr txBox="1"/>
          <p:nvPr/>
        </p:nvSpPr>
        <p:spPr>
          <a:xfrm>
            <a:off x="6172200" y="2423160"/>
            <a:ext cx="2560320" cy="548640"/>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better deals are accepted far more often (β = 1.15)</a:t>
            </a:r>
            <a:endParaRPr lang="en-US" sz="1250" dirty="0"/>
          </a:p>
        </p:txBody>
      </p:sp>
      <p:sp>
        <p:nvSpPr>
          <p:cNvPr id="11" name="Text 7"/>
          <p:cNvSpPr txBox="1"/>
          <p:nvPr/>
        </p:nvSpPr>
        <p:spPr>
          <a:xfrm>
            <a:off x="9006840" y="1737360"/>
            <a:ext cx="2560320" cy="640080"/>
          </a:xfrm>
          <a:prstGeom prst="rect">
            <a:avLst/>
          </a:prstGeom>
          <a:noFill/>
          <a:ln/>
        </p:spPr>
        <p:txBody>
          <a:bodyPr wrap="square" lIns="0" tIns="0" rIns="0" bIns="0" rtlCol="0" anchor="b"/>
          <a:lstStyle/>
          <a:p>
            <a:pPr indent="0" marL="0">
              <a:buNone/>
            </a:pPr>
            <a:r>
              <a:rPr lang="en-US" sz="3200" b="1" dirty="0">
                <a:solidFill>
                  <a:srgbClr val="1D2230"/>
                </a:solidFill>
                <a:latin typeface="Cambria" pitchFamily="34" charset="0"/>
                <a:ea typeface="Cambria" pitchFamily="34" charset="-122"/>
                <a:cs typeface="Cambria" pitchFamily="34" charset="-120"/>
              </a:rPr>
              <a:t>8.2 s</a:t>
            </a:r>
            <a:endParaRPr lang="en-US" sz="3200" dirty="0"/>
          </a:p>
        </p:txBody>
      </p:sp>
      <p:sp>
        <p:nvSpPr>
          <p:cNvPr id="12" name="Text 8"/>
          <p:cNvSpPr txBox="1"/>
          <p:nvPr/>
        </p:nvSpPr>
        <p:spPr>
          <a:xfrm>
            <a:off x="9006840" y="2423160"/>
            <a:ext cx="2560320" cy="548640"/>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average time per choice</a:t>
            </a:r>
            <a:endParaRPr lang="en-US" sz="1250" dirty="0"/>
          </a:p>
        </p:txBody>
      </p:sp>
      <p:sp>
        <p:nvSpPr>
          <p:cNvPr id="13" name="Text 9"/>
          <p:cNvSpPr txBox="1"/>
          <p:nvPr/>
        </p:nvSpPr>
        <p:spPr>
          <a:xfrm>
            <a:off x="6172200" y="3154680"/>
            <a:ext cx="2560320" cy="640080"/>
          </a:xfrm>
          <a:prstGeom prst="rect">
            <a:avLst/>
          </a:prstGeom>
          <a:noFill/>
          <a:ln/>
        </p:spPr>
        <p:txBody>
          <a:bodyPr wrap="square" lIns="0" tIns="0" rIns="0" bIns="0" rtlCol="0" anchor="b"/>
          <a:lstStyle/>
          <a:p>
            <a:pPr indent="0" marL="0">
              <a:buNone/>
            </a:pPr>
            <a:r>
              <a:rPr lang="en-US" sz="3200" b="1" dirty="0">
                <a:solidFill>
                  <a:srgbClr val="1D2230"/>
                </a:solidFill>
                <a:latin typeface="Cambria" pitchFamily="34" charset="0"/>
                <a:ea typeface="Cambria" pitchFamily="34" charset="-122"/>
                <a:cs typeface="Cambria" pitchFamily="34" charset="-120"/>
              </a:rPr>
              <a:t>p = 0.042</a:t>
            </a:r>
            <a:endParaRPr lang="en-US" sz="3200" dirty="0"/>
          </a:p>
        </p:txBody>
      </p:sp>
      <p:sp>
        <p:nvSpPr>
          <p:cNvPr id="14" name="Text 10"/>
          <p:cNvSpPr txBox="1"/>
          <p:nvPr/>
        </p:nvSpPr>
        <p:spPr>
          <a:xfrm>
            <a:off x="6172200" y="3840480"/>
            <a:ext cx="2560320" cy="548640"/>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harder choices take longer</a:t>
            </a:r>
            <a:endParaRPr lang="en-US" sz="1250" dirty="0"/>
          </a:p>
        </p:txBody>
      </p:sp>
      <p:sp>
        <p:nvSpPr>
          <p:cNvPr id="15" name="Shape 11"/>
          <p:cNvSpPr/>
          <p:nvPr/>
        </p:nvSpPr>
        <p:spPr>
          <a:xfrm>
            <a:off x="6172200" y="4572000"/>
            <a:ext cx="5486400" cy="1325880"/>
          </a:xfrm>
          <a:prstGeom prst="roundRect">
            <a:avLst>
              <a:gd name="adj" fmla="val 8276"/>
            </a:avLst>
          </a:prstGeom>
          <a:solidFill>
            <a:srgbClr val="E7F4EC"/>
          </a:solidFill>
          <a:ln w="12700">
            <a:solidFill>
              <a:srgbClr val="E7F4EC"/>
            </a:solidFill>
            <a:prstDash val="solid"/>
          </a:ln>
        </p:spPr>
      </p:sp>
      <p:sp>
        <p:nvSpPr>
          <p:cNvPr id="16" name="Text 12"/>
          <p:cNvSpPr txBox="1"/>
          <p:nvPr/>
        </p:nvSpPr>
        <p:spPr>
          <a:xfrm>
            <a:off x="6400800" y="4663440"/>
            <a:ext cx="5074920" cy="1143000"/>
          </a:xfrm>
          <a:prstGeom prst="rect">
            <a:avLst/>
          </a:prstGeom>
          <a:noFill/>
          <a:ln/>
        </p:spPr>
        <p:txBody>
          <a:bodyPr wrap="square" lIns="0" tIns="0" rIns="0" bIns="0" rtlCol="0" anchor="ctr"/>
          <a:lstStyle/>
          <a:p>
            <a:pPr indent="0" marL="0">
              <a:buNone/>
            </a:pPr>
            <a:r>
              <a:rPr lang="en-US" sz="1500" b="1" dirty="0">
                <a:solidFill>
                  <a:srgbClr val="1E8E5A"/>
                </a:solidFill>
                <a:latin typeface="Calibri" pitchFamily="34" charset="0"/>
                <a:ea typeface="Calibri" pitchFamily="34" charset="-122"/>
                <a:cs typeface="Calibri" pitchFamily="34" charset="-120"/>
              </a:rPr>
              <a:t>Fair comparison: </a:t>
            </a:r>
            <a:pPr indent="0" marL="0">
              <a:buNone/>
            </a:pPr>
            <a:r>
              <a:rPr lang="en-US" sz="1500" dirty="0">
                <a:solidFill>
                  <a:srgbClr val="1D2230"/>
                </a:solidFill>
                <a:latin typeface="Calibri" pitchFamily="34" charset="0"/>
                <a:ea typeface="Calibri" pitchFamily="34" charset="-122"/>
                <a:cs typeface="Calibri" pitchFamily="34" charset="-120"/>
              </a:rPr>
              <a:t>up- and down-state trials had the same difficulty (p = 0.93) and response time (p = 0.94).</a:t>
            </a:r>
            <a:endParaRPr lang="en-US" sz="1500" dirty="0"/>
          </a:p>
        </p:txBody>
      </p:sp>
      <p:sp>
        <p:nvSpPr>
          <p:cNvPr id="17" name="Text 13"/>
          <p:cNvSpPr txBox="1"/>
          <p:nvPr/>
        </p:nvSpPr>
        <p:spPr>
          <a:xfrm>
            <a:off x="548640" y="6473952"/>
            <a:ext cx="7315200" cy="256032"/>
          </a:xfrm>
          <a:prstGeom prst="rect">
            <a:avLst/>
          </a:prstGeom>
          <a:noFill/>
          <a:ln/>
        </p:spPr>
        <p:txBody>
          <a:bodyPr wrap="square" lIns="0" tIns="0" rIns="0" bIns="0" rtlCol="0" anchor="ctr"/>
          <a:lstStyle/>
          <a:p>
            <a:pPr indent="0" marL="0">
              <a:buNone/>
            </a:pPr>
            <a:r>
              <a:rPr lang="en-US" sz="950" dirty="0">
                <a:solidFill>
                  <a:srgbClr val="5B6275"/>
                </a:solidFill>
                <a:latin typeface="Calibri" pitchFamily="34" charset="0"/>
                <a:ea typeface="Calibri" pitchFamily="34" charset="-122"/>
                <a:cs typeface="Calibri" pitchFamily="34" charset="-120"/>
              </a:rPr>
              <a:t>Figure panels: Baratin et al., Nat Commun 2026 (CC BY-NC-ND 4.0)</a:t>
            </a:r>
            <a:endParaRPr lang="en-US" sz="950" dirty="0"/>
          </a:p>
        </p:txBody>
      </p:sp>
      <p:sp>
        <p:nvSpPr>
          <p:cNvPr id="18" name="Text 14"/>
          <p:cNvSpPr txBox="1"/>
          <p:nvPr/>
        </p:nvSpPr>
        <p:spPr>
          <a:xfrm>
            <a:off x="11094415" y="6473952"/>
            <a:ext cx="548640" cy="256032"/>
          </a:xfrm>
          <a:prstGeom prst="rect">
            <a:avLst/>
          </a:prstGeom>
          <a:noFill/>
          <a:ln/>
        </p:spPr>
        <p:txBody>
          <a:bodyPr wrap="square" lIns="0" tIns="0" rIns="0" bIns="0" rtlCol="0" anchor="ctr"/>
          <a:lstStyle/>
          <a:p>
            <a:pPr algn="r" indent="0" marL="0">
              <a:buNone/>
            </a:pPr>
            <a:r>
              <a:rPr lang="en-US" sz="1000" dirty="0">
                <a:solidFill>
                  <a:srgbClr val="5B627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384048"/>
            <a:ext cx="3063240" cy="292608"/>
          </a:xfrm>
          <a:prstGeom prst="roundRect">
            <a:avLst>
              <a:gd name="adj" fmla="val 50000"/>
            </a:avLst>
          </a:prstGeom>
          <a:solidFill>
            <a:srgbClr val="C8203F"/>
          </a:solidFill>
          <a:ln w="12700">
            <a:solidFill>
              <a:srgbClr val="C8203F"/>
            </a:solidFill>
            <a:prstDash val="solid"/>
          </a:ln>
        </p:spPr>
      </p:sp>
      <p:sp>
        <p:nvSpPr>
          <p:cNvPr id="4" name="Text 1"/>
          <p:cNvSpPr txBox="1"/>
          <p:nvPr/>
        </p:nvSpPr>
        <p:spPr>
          <a:xfrm>
            <a:off x="548640" y="384048"/>
            <a:ext cx="3063240" cy="29260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RESULTS · ANTERIOR INSULA</a:t>
            </a:r>
            <a:endParaRPr lang="en-US" sz="1100" dirty="0"/>
          </a:p>
        </p:txBody>
      </p:sp>
      <p:sp>
        <p:nvSpPr>
          <p:cNvPr id="5" name="Text 2"/>
          <p:cNvSpPr txBox="1"/>
          <p:nvPr/>
        </p:nvSpPr>
        <p:spPr>
          <a:xfrm>
            <a:off x="548640" y="749808"/>
            <a:ext cx="11094415" cy="731520"/>
          </a:xfrm>
          <a:prstGeom prst="rect">
            <a:avLst/>
          </a:prstGeom>
          <a:noFill/>
          <a:ln/>
        </p:spPr>
        <p:txBody>
          <a:bodyPr wrap="square" lIns="0" tIns="0" rIns="0" bIns="0" rtlCol="0" anchor="t"/>
          <a:lstStyle/>
          <a:p>
            <a:pPr indent="0" marL="0">
              <a:buNone/>
            </a:pPr>
            <a:r>
              <a:rPr lang="en-US" sz="3000" b="1" dirty="0">
                <a:solidFill>
                  <a:srgbClr val="1D2230"/>
                </a:solidFill>
                <a:latin typeface="Cambria" pitchFamily="34" charset="0"/>
                <a:ea typeface="Cambria" pitchFamily="34" charset="-122"/>
                <a:cs typeface="Cambria" pitchFamily="34" charset="-120"/>
              </a:rPr>
              <a:t>Main result: insula up-states make people accept more</a:t>
            </a:r>
            <a:endParaRPr lang="en-US" sz="3000" dirty="0"/>
          </a:p>
        </p:txBody>
      </p:sp>
      <p:sp>
        <p:nvSpPr>
          <p:cNvPr id="6" name="Shape 3"/>
          <p:cNvSpPr/>
          <p:nvPr/>
        </p:nvSpPr>
        <p:spPr>
          <a:xfrm>
            <a:off x="548640" y="1691640"/>
            <a:ext cx="3840480" cy="4206240"/>
          </a:xfrm>
          <a:prstGeom prst="roundRect">
            <a:avLst>
              <a:gd name="adj" fmla="val 2857"/>
            </a:avLst>
          </a:prstGeom>
          <a:solidFill>
            <a:srgbClr val="FBE8EC"/>
          </a:solidFill>
          <a:ln w="12700">
            <a:solidFill>
              <a:srgbClr val="FBE8EC"/>
            </a:solidFill>
            <a:prstDash val="solid"/>
          </a:ln>
        </p:spPr>
      </p:sp>
      <p:pic>
        <p:nvPicPr>
          <p:cNvPr id="7" name="Image 0" descr="/tmp/claude-0/-home-user-DOC/b62d63f6-2ef2-5ee3-9869-de2bf75305bc/scratchpad/img/f2b.png">    </p:cNvPr>
          <p:cNvPicPr>
            <a:picLocks noChangeAspect="1"/>
          </p:cNvPicPr>
          <p:nvPr/>
        </p:nvPicPr>
        <p:blipFill>
          <a:blip r:embed="rId1"/>
          <a:stretch>
            <a:fillRect/>
          </a:stretch>
        </p:blipFill>
        <p:spPr>
          <a:xfrm>
            <a:off x="975360" y="1828800"/>
            <a:ext cx="2987040" cy="3520440"/>
          </a:xfrm>
          <a:prstGeom prst="rect">
            <a:avLst/>
          </a:prstGeom>
        </p:spPr>
      </p:pic>
      <p:sp>
        <p:nvSpPr>
          <p:cNvPr id="8" name="Text 4"/>
          <p:cNvSpPr txBox="1"/>
          <p:nvPr/>
        </p:nvSpPr>
        <p:spPr>
          <a:xfrm>
            <a:off x="640080" y="5394960"/>
            <a:ext cx="3657600" cy="365760"/>
          </a:xfrm>
          <a:prstGeom prst="rect">
            <a:avLst/>
          </a:prstGeom>
          <a:noFill/>
          <a:ln/>
        </p:spPr>
        <p:txBody>
          <a:bodyPr wrap="square" lIns="0" tIns="0" rIns="0" bIns="0" rtlCol="0" anchor="ctr"/>
          <a:lstStyle/>
          <a:p>
            <a:pPr algn="ctr" indent="0" marL="0">
              <a:buNone/>
            </a:pPr>
            <a:r>
              <a:rPr lang="en-US" sz="1200" dirty="0">
                <a:solidFill>
                  <a:srgbClr val="5B6275"/>
                </a:solidFill>
                <a:latin typeface="Calibri" pitchFamily="34" charset="0"/>
                <a:ea typeface="Calibri" pitchFamily="34" charset="-122"/>
                <a:cs typeface="Calibri" pitchFamily="34" charset="-120"/>
              </a:rPr>
              <a:t>Acceptance, up vs. down (n = 7 insula sessions)</a:t>
            </a:r>
            <a:endParaRPr lang="en-US" sz="1200" dirty="0"/>
          </a:p>
        </p:txBody>
      </p:sp>
      <p:sp>
        <p:nvSpPr>
          <p:cNvPr id="9" name="Text 5"/>
          <p:cNvSpPr txBox="1"/>
          <p:nvPr/>
        </p:nvSpPr>
        <p:spPr>
          <a:xfrm>
            <a:off x="4800600" y="1737360"/>
            <a:ext cx="6858000" cy="868680"/>
          </a:xfrm>
          <a:prstGeom prst="rect">
            <a:avLst/>
          </a:prstGeom>
          <a:noFill/>
          <a:ln/>
        </p:spPr>
        <p:txBody>
          <a:bodyPr wrap="square" lIns="0" tIns="0" rIns="0" bIns="0" rtlCol="0" anchor="t"/>
          <a:lstStyle/>
          <a:p>
            <a:pPr indent="0" marL="0">
              <a:buNone/>
            </a:pPr>
            <a:r>
              <a:rPr lang="en-US" sz="2100" b="1" dirty="0">
                <a:solidFill>
                  <a:srgbClr val="1D2230"/>
                </a:solidFill>
                <a:latin typeface="Cambria" pitchFamily="34" charset="0"/>
                <a:ea typeface="Cambria" pitchFamily="34" charset="-122"/>
                <a:cs typeface="Cambria" pitchFamily="34" charset="-120"/>
              </a:rPr>
              <a:t>Offers shown when the insula was unusually active were accepted more often.</a:t>
            </a:r>
            <a:endParaRPr lang="en-US" sz="2100" dirty="0"/>
          </a:p>
        </p:txBody>
      </p:sp>
      <p:sp>
        <p:nvSpPr>
          <p:cNvPr id="10" name="Text 6"/>
          <p:cNvSpPr txBox="1"/>
          <p:nvPr/>
        </p:nvSpPr>
        <p:spPr>
          <a:xfrm>
            <a:off x="4800600" y="2743200"/>
            <a:ext cx="3200400" cy="640080"/>
          </a:xfrm>
          <a:prstGeom prst="rect">
            <a:avLst/>
          </a:prstGeom>
          <a:noFill/>
          <a:ln/>
        </p:spPr>
        <p:txBody>
          <a:bodyPr wrap="square" lIns="0" tIns="0" rIns="0" bIns="0" rtlCol="0" anchor="b"/>
          <a:lstStyle/>
          <a:p>
            <a:pPr indent="0" marL="0">
              <a:buNone/>
            </a:pPr>
            <a:r>
              <a:rPr lang="en-US" sz="3600" b="1" dirty="0">
                <a:solidFill>
                  <a:srgbClr val="C8203F"/>
                </a:solidFill>
                <a:latin typeface="Cambria" pitchFamily="34" charset="0"/>
                <a:ea typeface="Cambria" pitchFamily="34" charset="-122"/>
                <a:cs typeface="Cambria" pitchFamily="34" charset="-120"/>
              </a:rPr>
              <a:t>β = 0.44</a:t>
            </a:r>
            <a:endParaRPr lang="en-US" sz="3600" dirty="0"/>
          </a:p>
        </p:txBody>
      </p:sp>
      <p:sp>
        <p:nvSpPr>
          <p:cNvPr id="11" name="Text 7"/>
          <p:cNvSpPr txBox="1"/>
          <p:nvPr/>
        </p:nvSpPr>
        <p:spPr>
          <a:xfrm>
            <a:off x="4800600" y="3429000"/>
            <a:ext cx="3200400" cy="548640"/>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p = 0.040: significant, after accounting for how good each deal was</a:t>
            </a:r>
            <a:endParaRPr lang="en-US" sz="1250" dirty="0"/>
          </a:p>
        </p:txBody>
      </p:sp>
      <p:sp>
        <p:nvSpPr>
          <p:cNvPr id="12" name="Text 8"/>
          <p:cNvSpPr txBox="1"/>
          <p:nvPr/>
        </p:nvSpPr>
        <p:spPr>
          <a:xfrm>
            <a:off x="8412480" y="2743200"/>
            <a:ext cx="3200400" cy="640080"/>
          </a:xfrm>
          <a:prstGeom prst="rect">
            <a:avLst/>
          </a:prstGeom>
          <a:noFill/>
          <a:ln/>
        </p:spPr>
        <p:txBody>
          <a:bodyPr wrap="square" lIns="0" tIns="0" rIns="0" bIns="0" rtlCol="0" anchor="b"/>
          <a:lstStyle/>
          <a:p>
            <a:pPr indent="0" marL="0">
              <a:buNone/>
            </a:pPr>
            <a:r>
              <a:rPr lang="en-US" sz="3600" b="1" dirty="0">
                <a:solidFill>
                  <a:srgbClr val="C8203F"/>
                </a:solidFill>
                <a:latin typeface="Cambria" pitchFamily="34" charset="0"/>
                <a:ea typeface="Cambria" pitchFamily="34" charset="-122"/>
                <a:cs typeface="Cambria" pitchFamily="34" charset="-120"/>
              </a:rPr>
              <a:t>β = 0.47</a:t>
            </a:r>
            <a:endParaRPr lang="en-US" sz="3600" dirty="0"/>
          </a:p>
        </p:txBody>
      </p:sp>
      <p:sp>
        <p:nvSpPr>
          <p:cNvPr id="13" name="Text 9"/>
          <p:cNvSpPr txBox="1"/>
          <p:nvPr/>
        </p:nvSpPr>
        <p:spPr>
          <a:xfrm>
            <a:off x="8412480" y="3429000"/>
            <a:ext cx="3200400" cy="548640"/>
          </a:xfrm>
          <a:prstGeom prst="rect">
            <a:avLst/>
          </a:prstGeom>
          <a:noFill/>
          <a:ln/>
        </p:spPr>
        <p:txBody>
          <a:bodyPr wrap="square" lIns="0" tIns="0" rIns="0" bIns="0" rtlCol="0" anchor="t"/>
          <a:lstStyle/>
          <a:p>
            <a:pPr indent="0" marL="0">
              <a:buNone/>
            </a:pPr>
            <a:r>
              <a:rPr lang="en-US" sz="1250" dirty="0">
                <a:solidFill>
                  <a:srgbClr val="5B6275"/>
                </a:solidFill>
                <a:latin typeface="Calibri" pitchFamily="34" charset="0"/>
                <a:ea typeface="Calibri" pitchFamily="34" charset="-122"/>
                <a:cs typeface="Calibri" pitchFamily="34" charset="-120"/>
              </a:rPr>
              <a:t>p = 0.014 after removing trials with epileptic spikes</a:t>
            </a:r>
            <a:endParaRPr lang="en-US" sz="1250" dirty="0"/>
          </a:p>
        </p:txBody>
      </p:sp>
      <p:sp>
        <p:nvSpPr>
          <p:cNvPr id="14" name="Shape 10"/>
          <p:cNvSpPr/>
          <p:nvPr/>
        </p:nvSpPr>
        <p:spPr>
          <a:xfrm>
            <a:off x="4800600" y="4434840"/>
            <a:ext cx="6858000" cy="1463040"/>
          </a:xfrm>
          <a:prstGeom prst="roundRect">
            <a:avLst>
              <a:gd name="adj" fmla="val 7500"/>
            </a:avLst>
          </a:prstGeom>
          <a:solidFill>
            <a:srgbClr val="161A26"/>
          </a:solidFill>
          <a:ln w="12700">
            <a:solidFill>
              <a:srgbClr val="161A26"/>
            </a:solidFill>
            <a:prstDash val="solid"/>
          </a:ln>
        </p:spPr>
      </p:sp>
      <p:sp>
        <p:nvSpPr>
          <p:cNvPr id="15" name="Text 11"/>
          <p:cNvSpPr txBox="1"/>
          <p:nvPr/>
        </p:nvSpPr>
        <p:spPr>
          <a:xfrm>
            <a:off x="5074920" y="4526280"/>
            <a:ext cx="6400800" cy="1280160"/>
          </a:xfrm>
          <a:prstGeom prst="rect">
            <a:avLst/>
          </a:prstGeom>
          <a:noFill/>
          <a:ln/>
        </p:spPr>
        <p:txBody>
          <a:bodyPr wrap="square" lIns="0" tIns="0" rIns="0" bIns="0" rtlCol="0" anchor="ctr"/>
          <a:lstStyle/>
          <a:p>
            <a:pPr indent="0" marL="0">
              <a:buNone/>
            </a:pPr>
            <a:r>
              <a:rPr lang="en-US" sz="1500" b="1" dirty="0">
                <a:solidFill>
                  <a:srgbClr val="F2A3B3"/>
                </a:solidFill>
                <a:latin typeface="Calibri" pitchFamily="34" charset="0"/>
                <a:ea typeface="Calibri" pitchFamily="34" charset="-122"/>
                <a:cs typeface="Calibri" pitchFamily="34" charset="-120"/>
              </a:rPr>
              <a:t>Surprise: </a:t>
            </a:r>
            <a:pPr indent="0" marL="0">
              <a:buNone/>
            </a:pPr>
            <a:r>
              <a:rPr lang="en-US" sz="1500" dirty="0">
                <a:solidFill>
                  <a:srgbClr val="E6E9F0"/>
                </a:solidFill>
                <a:latin typeface="Calibri" pitchFamily="34" charset="0"/>
                <a:ea typeface="Calibri" pitchFamily="34" charset="-122"/>
                <a:cs typeface="Calibri" pitchFamily="34" charset="-120"/>
              </a:rPr>
              <a:t>the opposite of the expectation. A more active “unpleasant” region should mean fewer acceptances. What happens after the offer appears explains it.</a:t>
            </a:r>
            <a:endParaRPr lang="en-US" sz="1500" dirty="0"/>
          </a:p>
        </p:txBody>
      </p:sp>
      <p:sp>
        <p:nvSpPr>
          <p:cNvPr id="16" name="Text 12"/>
          <p:cNvSpPr txBox="1"/>
          <p:nvPr/>
        </p:nvSpPr>
        <p:spPr>
          <a:xfrm>
            <a:off x="548640" y="6473952"/>
            <a:ext cx="7315200" cy="256032"/>
          </a:xfrm>
          <a:prstGeom prst="rect">
            <a:avLst/>
          </a:prstGeom>
          <a:noFill/>
          <a:ln/>
        </p:spPr>
        <p:txBody>
          <a:bodyPr wrap="square" lIns="0" tIns="0" rIns="0" bIns="0" rtlCol="0" anchor="ctr"/>
          <a:lstStyle/>
          <a:p>
            <a:pPr indent="0" marL="0">
              <a:buNone/>
            </a:pPr>
            <a:r>
              <a:rPr lang="en-US" sz="950" dirty="0">
                <a:solidFill>
                  <a:srgbClr val="5B6275"/>
                </a:solidFill>
                <a:latin typeface="Calibri" pitchFamily="34" charset="0"/>
                <a:ea typeface="Calibri" pitchFamily="34" charset="-122"/>
                <a:cs typeface="Calibri" pitchFamily="34" charset="-120"/>
              </a:rPr>
              <a:t>Figure panels: Baratin et al., Nat Commun 2026 (CC BY-NC-ND 4.0)</a:t>
            </a:r>
            <a:endParaRPr lang="en-US" sz="950" dirty="0"/>
          </a:p>
        </p:txBody>
      </p:sp>
      <p:sp>
        <p:nvSpPr>
          <p:cNvPr id="17" name="Text 13"/>
          <p:cNvSpPr txBox="1"/>
          <p:nvPr/>
        </p:nvSpPr>
        <p:spPr>
          <a:xfrm>
            <a:off x="11094415" y="6473952"/>
            <a:ext cx="548640" cy="256032"/>
          </a:xfrm>
          <a:prstGeom prst="rect">
            <a:avLst/>
          </a:prstGeom>
          <a:noFill/>
          <a:ln/>
        </p:spPr>
        <p:txBody>
          <a:bodyPr wrap="square" lIns="0" tIns="0" rIns="0" bIns="0" rtlCol="0" anchor="ctr"/>
          <a:lstStyle/>
          <a:p>
            <a:pPr algn="r" indent="0" marL="0">
              <a:buNone/>
            </a:pPr>
            <a:r>
              <a:rPr lang="en-US" sz="1000" dirty="0">
                <a:solidFill>
                  <a:srgbClr val="5B627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384048"/>
            <a:ext cx="3063240" cy="292608"/>
          </a:xfrm>
          <a:prstGeom prst="roundRect">
            <a:avLst>
              <a:gd name="adj" fmla="val 50000"/>
            </a:avLst>
          </a:prstGeom>
          <a:solidFill>
            <a:srgbClr val="C8203F"/>
          </a:solidFill>
          <a:ln w="12700">
            <a:solidFill>
              <a:srgbClr val="C8203F"/>
            </a:solidFill>
            <a:prstDash val="solid"/>
          </a:ln>
        </p:spPr>
      </p:sp>
      <p:sp>
        <p:nvSpPr>
          <p:cNvPr id="4" name="Text 1"/>
          <p:cNvSpPr txBox="1"/>
          <p:nvPr/>
        </p:nvSpPr>
        <p:spPr>
          <a:xfrm>
            <a:off x="548640" y="384048"/>
            <a:ext cx="3063240" cy="29260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RESULTS · ANTERIOR INSULA</a:t>
            </a:r>
            <a:endParaRPr lang="en-US" sz="1100" dirty="0"/>
          </a:p>
        </p:txBody>
      </p:sp>
      <p:sp>
        <p:nvSpPr>
          <p:cNvPr id="5" name="Text 2"/>
          <p:cNvSpPr txBox="1"/>
          <p:nvPr/>
        </p:nvSpPr>
        <p:spPr>
          <a:xfrm>
            <a:off x="548640" y="749808"/>
            <a:ext cx="11094415" cy="731520"/>
          </a:xfrm>
          <a:prstGeom prst="rect">
            <a:avLst/>
          </a:prstGeom>
          <a:noFill/>
          <a:ln/>
        </p:spPr>
        <p:txBody>
          <a:bodyPr wrap="square" lIns="0" tIns="0" rIns="0" bIns="0" rtlCol="0" anchor="t"/>
          <a:lstStyle/>
          <a:p>
            <a:pPr indent="0" marL="0">
              <a:buNone/>
            </a:pPr>
            <a:r>
              <a:rPr lang="en-US" sz="3000" b="1" dirty="0">
                <a:solidFill>
                  <a:srgbClr val="1D2230"/>
                </a:solidFill>
                <a:latin typeface="Cambria" pitchFamily="34" charset="0"/>
                <a:ea typeface="Cambria" pitchFamily="34" charset="-122"/>
                <a:cs typeface="Cambria" pitchFamily="34" charset="-120"/>
              </a:rPr>
              <a:t>Insula activity: high before the offer, suppressed after</a:t>
            </a:r>
            <a:endParaRPr lang="en-US" sz="3000" dirty="0"/>
          </a:p>
        </p:txBody>
      </p:sp>
      <p:pic>
        <p:nvPicPr>
          <p:cNvPr id="6" name="Image 0" descr="/tmp/claude-0/-home-user-DOC/b62d63f6-2ef2-5ee3-9869-de2bf75305bc/scratchpad/img/f2c.png">    </p:cNvPr>
          <p:cNvPicPr>
            <a:picLocks noChangeAspect="1"/>
          </p:cNvPicPr>
          <p:nvPr/>
        </p:nvPicPr>
        <p:blipFill>
          <a:blip r:embed="rId1"/>
          <a:stretch>
            <a:fillRect/>
          </a:stretch>
        </p:blipFill>
        <p:spPr>
          <a:xfrm>
            <a:off x="728663" y="1645920"/>
            <a:ext cx="2931795" cy="2606040"/>
          </a:xfrm>
          <a:prstGeom prst="rect">
            <a:avLst/>
          </a:prstGeom>
        </p:spPr>
      </p:pic>
      <p:sp>
        <p:nvSpPr>
          <p:cNvPr id="7" name="Text 3"/>
          <p:cNvSpPr txBox="1"/>
          <p:nvPr/>
        </p:nvSpPr>
        <p:spPr>
          <a:xfrm>
            <a:off x="502920" y="4297680"/>
            <a:ext cx="3383280" cy="320040"/>
          </a:xfrm>
          <a:prstGeom prst="rect">
            <a:avLst/>
          </a:prstGeom>
          <a:noFill/>
          <a:ln/>
        </p:spPr>
        <p:txBody>
          <a:bodyPr wrap="square" lIns="0" tIns="0" rIns="0" bIns="0" rtlCol="0" anchor="ctr"/>
          <a:lstStyle/>
          <a:p>
            <a:pPr algn="ctr" indent="0" marL="0">
              <a:buNone/>
            </a:pPr>
            <a:r>
              <a:rPr lang="en-US" sz="1150" dirty="0">
                <a:solidFill>
                  <a:srgbClr val="5B6275"/>
                </a:solidFill>
                <a:latin typeface="Calibri" pitchFamily="34" charset="0"/>
                <a:ea typeface="Calibri" pitchFamily="34" charset="-122"/>
                <a:cs typeface="Calibri" pitchFamily="34" charset="-120"/>
              </a:rPr>
              <a:t>Spectrogram: up minus down</a:t>
            </a:r>
            <a:endParaRPr lang="en-US" sz="1150" dirty="0"/>
          </a:p>
        </p:txBody>
      </p:sp>
      <p:pic>
        <p:nvPicPr>
          <p:cNvPr id="8" name="Image 1" descr="/tmp/claude-0/-home-user-DOC/b62d63f6-2ef2-5ee3-9869-de2bf75305bc/scratchpad/img/f2d.png">    </p:cNvPr>
          <p:cNvPicPr>
            <a:picLocks noChangeAspect="1"/>
          </p:cNvPicPr>
          <p:nvPr/>
        </p:nvPicPr>
        <p:blipFill>
          <a:blip r:embed="rId2"/>
          <a:stretch>
            <a:fillRect/>
          </a:stretch>
        </p:blipFill>
        <p:spPr>
          <a:xfrm>
            <a:off x="4266247" y="1645920"/>
            <a:ext cx="3583305" cy="2606040"/>
          </a:xfrm>
          <a:prstGeom prst="rect">
            <a:avLst/>
          </a:prstGeom>
        </p:spPr>
      </p:pic>
      <p:sp>
        <p:nvSpPr>
          <p:cNvPr id="9" name="Text 4"/>
          <p:cNvSpPr txBox="1"/>
          <p:nvPr/>
        </p:nvSpPr>
        <p:spPr>
          <a:xfrm>
            <a:off x="4023360" y="4297680"/>
            <a:ext cx="4069080" cy="320040"/>
          </a:xfrm>
          <a:prstGeom prst="rect">
            <a:avLst/>
          </a:prstGeom>
          <a:noFill/>
          <a:ln/>
        </p:spPr>
        <p:txBody>
          <a:bodyPr wrap="square" lIns="0" tIns="0" rIns="0" bIns="0" rtlCol="0" anchor="ctr"/>
          <a:lstStyle/>
          <a:p>
            <a:pPr algn="ctr" indent="0" marL="0">
              <a:buNone/>
            </a:pPr>
            <a:r>
              <a:rPr lang="en-US" sz="1150" dirty="0">
                <a:solidFill>
                  <a:srgbClr val="5B6275"/>
                </a:solidFill>
                <a:latin typeface="Calibri" pitchFamily="34" charset="0"/>
                <a:ea typeface="Calibri" pitchFamily="34" charset="-122"/>
                <a:cs typeface="Calibri" pitchFamily="34" charset="-120"/>
              </a:rPr>
              <a:t>Activity over time (red = up, blue = down)</a:t>
            </a:r>
            <a:endParaRPr lang="en-US" sz="1150" dirty="0"/>
          </a:p>
        </p:txBody>
      </p:sp>
      <p:pic>
        <p:nvPicPr>
          <p:cNvPr id="10" name="Image 2" descr="/tmp/claude-0/-home-user-DOC/b62d63f6-2ef2-5ee3-9869-de2bf75305bc/scratchpad/img/f2e.png">    </p:cNvPr>
          <p:cNvPicPr>
            <a:picLocks noChangeAspect="1"/>
          </p:cNvPicPr>
          <p:nvPr/>
        </p:nvPicPr>
        <p:blipFill>
          <a:blip r:embed="rId3"/>
          <a:stretch>
            <a:fillRect/>
          </a:stretch>
        </p:blipFill>
        <p:spPr>
          <a:xfrm>
            <a:off x="8486314" y="1645920"/>
            <a:ext cx="2092611" cy="2606040"/>
          </a:xfrm>
          <a:prstGeom prst="rect">
            <a:avLst/>
          </a:prstGeom>
        </p:spPr>
      </p:pic>
      <p:sp>
        <p:nvSpPr>
          <p:cNvPr id="11" name="Text 5"/>
          <p:cNvSpPr txBox="1"/>
          <p:nvPr/>
        </p:nvSpPr>
        <p:spPr>
          <a:xfrm>
            <a:off x="8229600" y="4297680"/>
            <a:ext cx="2606040" cy="320040"/>
          </a:xfrm>
          <a:prstGeom prst="rect">
            <a:avLst/>
          </a:prstGeom>
          <a:noFill/>
          <a:ln/>
        </p:spPr>
        <p:txBody>
          <a:bodyPr wrap="square" lIns="0" tIns="0" rIns="0" bIns="0" rtlCol="0" anchor="ctr"/>
          <a:lstStyle/>
          <a:p>
            <a:pPr algn="ctr" indent="0" marL="0">
              <a:buNone/>
            </a:pPr>
            <a:r>
              <a:rPr lang="en-US" sz="1150" dirty="0">
                <a:solidFill>
                  <a:srgbClr val="5B6275"/>
                </a:solidFill>
                <a:latin typeface="Calibri" pitchFamily="34" charset="0"/>
                <a:ea typeface="Calibri" pitchFamily="34" charset="-122"/>
                <a:cs typeface="Calibri" pitchFamily="34" charset="-120"/>
              </a:rPr>
              <a:t>Up minus down, per person</a:t>
            </a:r>
            <a:endParaRPr lang="en-US" sz="1150" dirty="0"/>
          </a:p>
        </p:txBody>
      </p:sp>
      <p:sp>
        <p:nvSpPr>
          <p:cNvPr id="12" name="Shape 6"/>
          <p:cNvSpPr/>
          <p:nvPr/>
        </p:nvSpPr>
        <p:spPr>
          <a:xfrm>
            <a:off x="548640" y="4800600"/>
            <a:ext cx="3566160" cy="1417320"/>
          </a:xfrm>
          <a:prstGeom prst="roundRect">
            <a:avLst>
              <a:gd name="adj" fmla="val 7742"/>
            </a:avLst>
          </a:prstGeom>
          <a:solidFill>
            <a:srgbClr val="F2F4F8"/>
          </a:solidFill>
          <a:ln w="12700">
            <a:solidFill>
              <a:srgbClr val="F2F4F8"/>
            </a:solidFill>
            <a:prstDash val="solid"/>
          </a:ln>
        </p:spPr>
      </p:sp>
      <p:sp>
        <p:nvSpPr>
          <p:cNvPr id="13" name="Shape 7"/>
          <p:cNvSpPr/>
          <p:nvPr/>
        </p:nvSpPr>
        <p:spPr>
          <a:xfrm>
            <a:off x="731520" y="4937760"/>
            <a:ext cx="274320" cy="274320"/>
          </a:xfrm>
          <a:prstGeom prst="ellipse">
            <a:avLst/>
          </a:prstGeom>
          <a:solidFill>
            <a:srgbClr val="C8203F"/>
          </a:solidFill>
          <a:ln w="12700">
            <a:solidFill>
              <a:srgbClr val="C8203F"/>
            </a:solidFill>
            <a:prstDash val="solid"/>
          </a:ln>
        </p:spPr>
      </p:sp>
      <p:sp>
        <p:nvSpPr>
          <p:cNvPr id="14" name="Text 8"/>
          <p:cNvSpPr txBox="1"/>
          <p:nvPr/>
        </p:nvSpPr>
        <p:spPr>
          <a:xfrm>
            <a:off x="731520" y="4937760"/>
            <a:ext cx="274320" cy="274320"/>
          </a:xfrm>
          <a:prstGeom prst="rect">
            <a:avLst/>
          </a:prstGeom>
          <a:noFill/>
          <a:ln/>
        </p:spPr>
        <p:txBody>
          <a:bodyPr wrap="square" lIns="0" tIns="0" rIns="0" bIns="0" rtlCol="0" anchor="ctr"/>
          <a:lstStyle/>
          <a:p>
            <a:pPr algn="ctr" indent="0" marL="0">
              <a:buNone/>
            </a:pPr>
            <a:endParaRPr lang="en-US" sz="800" dirty="0"/>
          </a:p>
        </p:txBody>
      </p:sp>
      <p:sp>
        <p:nvSpPr>
          <p:cNvPr id="15" name="Text 9"/>
          <p:cNvSpPr txBox="1"/>
          <p:nvPr/>
        </p:nvSpPr>
        <p:spPr>
          <a:xfrm>
            <a:off x="1115568" y="4892040"/>
            <a:ext cx="2880360" cy="365760"/>
          </a:xfrm>
          <a:prstGeom prst="rect">
            <a:avLst/>
          </a:prstGeom>
          <a:noFill/>
          <a:ln/>
        </p:spPr>
        <p:txBody>
          <a:bodyPr wrap="square" lIns="0" tIns="0" rIns="0" bIns="0" rtlCol="0" anchor="ctr"/>
          <a:lstStyle/>
          <a:p>
            <a:pPr indent="0" marL="0">
              <a:buNone/>
            </a:pPr>
            <a:r>
              <a:rPr lang="en-US" sz="1500" b="1" dirty="0">
                <a:solidFill>
                  <a:srgbClr val="1D2230"/>
                </a:solidFill>
                <a:latin typeface="Calibri" pitchFamily="34" charset="0"/>
                <a:ea typeface="Calibri" pitchFamily="34" charset="-122"/>
                <a:cs typeface="Calibri" pitchFamily="34" charset="-120"/>
              </a:rPr>
              <a:t>The activity flips</a:t>
            </a:r>
            <a:endParaRPr lang="en-US" sz="1500" dirty="0"/>
          </a:p>
        </p:txBody>
      </p:sp>
      <p:sp>
        <p:nvSpPr>
          <p:cNvPr id="16" name="Text 10"/>
          <p:cNvSpPr txBox="1"/>
          <p:nvPr/>
        </p:nvSpPr>
        <p:spPr>
          <a:xfrm>
            <a:off x="777240" y="5303520"/>
            <a:ext cx="3200400" cy="868680"/>
          </a:xfrm>
          <a:prstGeom prst="rect">
            <a:avLst/>
          </a:prstGeom>
          <a:noFill/>
          <a:ln/>
        </p:spPr>
        <p:txBody>
          <a:bodyPr wrap="square" lIns="0" tIns="0" rIns="0" bIns="0" rtlCol="0" anchor="t"/>
          <a:lstStyle/>
          <a:p>
            <a:pPr indent="0" marL="0">
              <a:buNone/>
            </a:pPr>
            <a:r>
              <a:rPr lang="en-US" sz="1300" dirty="0">
                <a:solidFill>
                  <a:srgbClr val="5B6275"/>
                </a:solidFill>
                <a:latin typeface="Calibri" pitchFamily="34" charset="0"/>
                <a:ea typeface="Calibri" pitchFamily="34" charset="-122"/>
                <a:cs typeface="Calibri" pitchFamily="34" charset="-120"/>
              </a:rPr>
              <a:t>Up-state trials: activity drops after the offer. Down-state trials: it rises.</a:t>
            </a:r>
            <a:endParaRPr lang="en-US" sz="1300" dirty="0"/>
          </a:p>
        </p:txBody>
      </p:sp>
      <p:sp>
        <p:nvSpPr>
          <p:cNvPr id="17" name="Shape 11"/>
          <p:cNvSpPr/>
          <p:nvPr/>
        </p:nvSpPr>
        <p:spPr>
          <a:xfrm>
            <a:off x="4297680" y="4800600"/>
            <a:ext cx="3566160" cy="1417320"/>
          </a:xfrm>
          <a:prstGeom prst="roundRect">
            <a:avLst>
              <a:gd name="adj" fmla="val 7742"/>
            </a:avLst>
          </a:prstGeom>
          <a:solidFill>
            <a:srgbClr val="F2F4F8"/>
          </a:solidFill>
          <a:ln w="12700">
            <a:solidFill>
              <a:srgbClr val="F2F4F8"/>
            </a:solidFill>
            <a:prstDash val="solid"/>
          </a:ln>
        </p:spPr>
      </p:sp>
      <p:sp>
        <p:nvSpPr>
          <p:cNvPr id="18" name="Shape 12"/>
          <p:cNvSpPr/>
          <p:nvPr/>
        </p:nvSpPr>
        <p:spPr>
          <a:xfrm>
            <a:off x="4480560" y="4937760"/>
            <a:ext cx="274320" cy="274320"/>
          </a:xfrm>
          <a:prstGeom prst="ellipse">
            <a:avLst/>
          </a:prstGeom>
          <a:solidFill>
            <a:srgbClr val="252B3D"/>
          </a:solidFill>
          <a:ln w="12700">
            <a:solidFill>
              <a:srgbClr val="252B3D"/>
            </a:solidFill>
            <a:prstDash val="solid"/>
          </a:ln>
        </p:spPr>
      </p:sp>
      <p:sp>
        <p:nvSpPr>
          <p:cNvPr id="19" name="Text 13"/>
          <p:cNvSpPr txBox="1"/>
          <p:nvPr/>
        </p:nvSpPr>
        <p:spPr>
          <a:xfrm>
            <a:off x="4480560" y="4937760"/>
            <a:ext cx="274320" cy="274320"/>
          </a:xfrm>
          <a:prstGeom prst="rect">
            <a:avLst/>
          </a:prstGeom>
          <a:noFill/>
          <a:ln/>
        </p:spPr>
        <p:txBody>
          <a:bodyPr wrap="square" lIns="0" tIns="0" rIns="0" bIns="0" rtlCol="0" anchor="ctr"/>
          <a:lstStyle/>
          <a:p>
            <a:pPr algn="ctr" indent="0" marL="0">
              <a:buNone/>
            </a:pPr>
            <a:endParaRPr lang="en-US" sz="800" dirty="0"/>
          </a:p>
        </p:txBody>
      </p:sp>
      <p:sp>
        <p:nvSpPr>
          <p:cNvPr id="20" name="Text 14"/>
          <p:cNvSpPr txBox="1"/>
          <p:nvPr/>
        </p:nvSpPr>
        <p:spPr>
          <a:xfrm>
            <a:off x="4864608" y="4892040"/>
            <a:ext cx="2880360" cy="365760"/>
          </a:xfrm>
          <a:prstGeom prst="rect">
            <a:avLst/>
          </a:prstGeom>
          <a:noFill/>
          <a:ln/>
        </p:spPr>
        <p:txBody>
          <a:bodyPr wrap="square" lIns="0" tIns="0" rIns="0" bIns="0" rtlCol="0" anchor="ctr"/>
          <a:lstStyle/>
          <a:p>
            <a:pPr indent="0" marL="0">
              <a:buNone/>
            </a:pPr>
            <a:r>
              <a:rPr lang="en-US" sz="1500" b="1" dirty="0">
                <a:solidFill>
                  <a:srgbClr val="1D2230"/>
                </a:solidFill>
                <a:latin typeface="Calibri" pitchFamily="34" charset="0"/>
                <a:ea typeface="Calibri" pitchFamily="34" charset="-122"/>
                <a:cs typeface="Calibri" pitchFamily="34" charset="-120"/>
              </a:rPr>
              <a:t>Very strong statistically</a:t>
            </a:r>
            <a:endParaRPr lang="en-US" sz="1500" dirty="0"/>
          </a:p>
        </p:txBody>
      </p:sp>
      <p:sp>
        <p:nvSpPr>
          <p:cNvPr id="21" name="Text 15"/>
          <p:cNvSpPr txBox="1"/>
          <p:nvPr/>
        </p:nvSpPr>
        <p:spPr>
          <a:xfrm>
            <a:off x="4526280" y="5303520"/>
            <a:ext cx="3200400" cy="868680"/>
          </a:xfrm>
          <a:prstGeom prst="rect">
            <a:avLst/>
          </a:prstGeom>
          <a:noFill/>
          <a:ln/>
        </p:spPr>
        <p:txBody>
          <a:bodyPr wrap="square" lIns="0" tIns="0" rIns="0" bIns="0" rtlCol="0" anchor="t"/>
          <a:lstStyle/>
          <a:p>
            <a:pPr indent="0" marL="0">
              <a:buNone/>
            </a:pPr>
            <a:r>
              <a:rPr lang="en-US" sz="1300" dirty="0">
                <a:solidFill>
                  <a:srgbClr val="5B6275"/>
                </a:solidFill>
                <a:latin typeface="Calibri" pitchFamily="34" charset="0"/>
                <a:ea typeface="Calibri" pitchFamily="34" charset="-122"/>
                <a:cs typeface="Calibri" pitchFamily="34" charset="-120"/>
              </a:rPr>
              <a:t>Seen in every participant (p ≈ 10⁻²⁰).</a:t>
            </a:r>
            <a:endParaRPr lang="en-US" sz="1300" dirty="0"/>
          </a:p>
        </p:txBody>
      </p:sp>
      <p:sp>
        <p:nvSpPr>
          <p:cNvPr id="22" name="Shape 16"/>
          <p:cNvSpPr/>
          <p:nvPr/>
        </p:nvSpPr>
        <p:spPr>
          <a:xfrm>
            <a:off x="8046720" y="4800600"/>
            <a:ext cx="3566160" cy="1417320"/>
          </a:xfrm>
          <a:prstGeom prst="roundRect">
            <a:avLst>
              <a:gd name="adj" fmla="val 7742"/>
            </a:avLst>
          </a:prstGeom>
          <a:solidFill>
            <a:srgbClr val="F2F4F8"/>
          </a:solidFill>
          <a:ln w="12700">
            <a:solidFill>
              <a:srgbClr val="F2F4F8"/>
            </a:solidFill>
            <a:prstDash val="solid"/>
          </a:ln>
        </p:spPr>
      </p:sp>
      <p:sp>
        <p:nvSpPr>
          <p:cNvPr id="23" name="Shape 17"/>
          <p:cNvSpPr/>
          <p:nvPr/>
        </p:nvSpPr>
        <p:spPr>
          <a:xfrm>
            <a:off x="8229600" y="4937760"/>
            <a:ext cx="274320" cy="274320"/>
          </a:xfrm>
          <a:prstGeom prst="ellipse">
            <a:avLst/>
          </a:prstGeom>
          <a:solidFill>
            <a:srgbClr val="1F6FC5"/>
          </a:solidFill>
          <a:ln w="12700">
            <a:solidFill>
              <a:srgbClr val="1F6FC5"/>
            </a:solidFill>
            <a:prstDash val="solid"/>
          </a:ln>
        </p:spPr>
      </p:sp>
      <p:sp>
        <p:nvSpPr>
          <p:cNvPr id="24" name="Text 18"/>
          <p:cNvSpPr txBox="1"/>
          <p:nvPr/>
        </p:nvSpPr>
        <p:spPr>
          <a:xfrm>
            <a:off x="8229600" y="4937760"/>
            <a:ext cx="274320" cy="274320"/>
          </a:xfrm>
          <a:prstGeom prst="rect">
            <a:avLst/>
          </a:prstGeom>
          <a:noFill/>
          <a:ln/>
        </p:spPr>
        <p:txBody>
          <a:bodyPr wrap="square" lIns="0" tIns="0" rIns="0" bIns="0" rtlCol="0" anchor="ctr"/>
          <a:lstStyle/>
          <a:p>
            <a:pPr algn="ctr" indent="0" marL="0">
              <a:buNone/>
            </a:pPr>
            <a:endParaRPr lang="en-US" sz="800" dirty="0"/>
          </a:p>
        </p:txBody>
      </p:sp>
      <p:sp>
        <p:nvSpPr>
          <p:cNvPr id="25" name="Text 19"/>
          <p:cNvSpPr txBox="1"/>
          <p:nvPr/>
        </p:nvSpPr>
        <p:spPr>
          <a:xfrm>
            <a:off x="8613648" y="4892040"/>
            <a:ext cx="2880360" cy="365760"/>
          </a:xfrm>
          <a:prstGeom prst="rect">
            <a:avLst/>
          </a:prstGeom>
          <a:noFill/>
          <a:ln/>
        </p:spPr>
        <p:txBody>
          <a:bodyPr wrap="square" lIns="0" tIns="0" rIns="0" bIns="0" rtlCol="0" anchor="ctr"/>
          <a:lstStyle/>
          <a:p>
            <a:pPr indent="0" marL="0">
              <a:buNone/>
            </a:pPr>
            <a:r>
              <a:rPr lang="en-US" sz="1500" b="1" dirty="0">
                <a:solidFill>
                  <a:srgbClr val="1D2230"/>
                </a:solidFill>
                <a:latin typeface="Calibri" pitchFamily="34" charset="0"/>
                <a:ea typeface="Calibri" pitchFamily="34" charset="-122"/>
                <a:cs typeface="Calibri" pitchFamily="34" charset="-120"/>
              </a:rPr>
              <a:t>Only during the task</a:t>
            </a:r>
            <a:endParaRPr lang="en-US" sz="1500" dirty="0"/>
          </a:p>
        </p:txBody>
      </p:sp>
      <p:sp>
        <p:nvSpPr>
          <p:cNvPr id="26" name="Text 20"/>
          <p:cNvSpPr txBox="1"/>
          <p:nvPr/>
        </p:nvSpPr>
        <p:spPr>
          <a:xfrm>
            <a:off x="8275320" y="5303520"/>
            <a:ext cx="3200400" cy="868680"/>
          </a:xfrm>
          <a:prstGeom prst="rect">
            <a:avLst/>
          </a:prstGeom>
          <a:noFill/>
          <a:ln/>
        </p:spPr>
        <p:txBody>
          <a:bodyPr wrap="square" lIns="0" tIns="0" rIns="0" bIns="0" rtlCol="0" anchor="t"/>
          <a:lstStyle/>
          <a:p>
            <a:pPr indent="0" marL="0">
              <a:buNone/>
            </a:pPr>
            <a:r>
              <a:rPr lang="en-US" sz="1300" dirty="0">
                <a:solidFill>
                  <a:srgbClr val="5B6275"/>
                </a:solidFill>
                <a:latin typeface="Calibri" pitchFamily="34" charset="0"/>
                <a:ea typeface="Calibri" pitchFamily="34" charset="-122"/>
                <a:cs typeface="Calibri" pitchFamily="34" charset="-120"/>
              </a:rPr>
              <a:t>No flip in the pauses between trials, so it's not a statistical artefact.</a:t>
            </a:r>
            <a:endParaRPr lang="en-US" sz="1300" dirty="0"/>
          </a:p>
        </p:txBody>
      </p:sp>
      <p:sp>
        <p:nvSpPr>
          <p:cNvPr id="27" name="Text 21"/>
          <p:cNvSpPr txBox="1"/>
          <p:nvPr/>
        </p:nvSpPr>
        <p:spPr>
          <a:xfrm>
            <a:off x="548640" y="6473952"/>
            <a:ext cx="7315200" cy="256032"/>
          </a:xfrm>
          <a:prstGeom prst="rect">
            <a:avLst/>
          </a:prstGeom>
          <a:noFill/>
          <a:ln/>
        </p:spPr>
        <p:txBody>
          <a:bodyPr wrap="square" lIns="0" tIns="0" rIns="0" bIns="0" rtlCol="0" anchor="ctr"/>
          <a:lstStyle/>
          <a:p>
            <a:pPr indent="0" marL="0">
              <a:buNone/>
            </a:pPr>
            <a:r>
              <a:rPr lang="en-US" sz="950" dirty="0">
                <a:solidFill>
                  <a:srgbClr val="5B6275"/>
                </a:solidFill>
                <a:latin typeface="Calibri" pitchFamily="34" charset="0"/>
                <a:ea typeface="Calibri" pitchFamily="34" charset="-122"/>
                <a:cs typeface="Calibri" pitchFamily="34" charset="-120"/>
              </a:rPr>
              <a:t>Figure panels: Baratin et al., Nat Commun 2026 (CC BY-NC-ND 4.0)</a:t>
            </a:r>
            <a:endParaRPr lang="en-US" sz="950" dirty="0"/>
          </a:p>
        </p:txBody>
      </p:sp>
      <p:sp>
        <p:nvSpPr>
          <p:cNvPr id="28" name="Text 22"/>
          <p:cNvSpPr txBox="1"/>
          <p:nvPr/>
        </p:nvSpPr>
        <p:spPr>
          <a:xfrm>
            <a:off x="11094415" y="6473952"/>
            <a:ext cx="548640" cy="256032"/>
          </a:xfrm>
          <a:prstGeom prst="rect">
            <a:avLst/>
          </a:prstGeom>
          <a:noFill/>
          <a:ln/>
        </p:spPr>
        <p:txBody>
          <a:bodyPr wrap="square" lIns="0" tIns="0" rIns="0" bIns="0" rtlCol="0" anchor="ctr"/>
          <a:lstStyle/>
          <a:p>
            <a:pPr algn="r" indent="0" marL="0">
              <a:buNone/>
            </a:pPr>
            <a:r>
              <a:rPr lang="en-US" sz="1000" dirty="0">
                <a:solidFill>
                  <a:srgbClr val="5B627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384048"/>
            <a:ext cx="3063240" cy="292608"/>
          </a:xfrm>
          <a:prstGeom prst="roundRect">
            <a:avLst>
              <a:gd name="adj" fmla="val 50000"/>
            </a:avLst>
          </a:prstGeom>
          <a:solidFill>
            <a:srgbClr val="C8203F"/>
          </a:solidFill>
          <a:ln w="12700">
            <a:solidFill>
              <a:srgbClr val="C8203F"/>
            </a:solidFill>
            <a:prstDash val="solid"/>
          </a:ln>
        </p:spPr>
      </p:sp>
      <p:sp>
        <p:nvSpPr>
          <p:cNvPr id="4" name="Text 1"/>
          <p:cNvSpPr txBox="1"/>
          <p:nvPr/>
        </p:nvSpPr>
        <p:spPr>
          <a:xfrm>
            <a:off x="548640" y="384048"/>
            <a:ext cx="3063240" cy="29260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RESULTS · ANTERIOR INSULA</a:t>
            </a:r>
            <a:endParaRPr lang="en-US" sz="1100" dirty="0"/>
          </a:p>
        </p:txBody>
      </p:sp>
      <p:sp>
        <p:nvSpPr>
          <p:cNvPr id="5" name="Text 2"/>
          <p:cNvSpPr txBox="1"/>
          <p:nvPr/>
        </p:nvSpPr>
        <p:spPr>
          <a:xfrm>
            <a:off x="548640" y="749808"/>
            <a:ext cx="11094415" cy="731520"/>
          </a:xfrm>
          <a:prstGeom prst="rect">
            <a:avLst/>
          </a:prstGeom>
          <a:noFill/>
          <a:ln/>
        </p:spPr>
        <p:txBody>
          <a:bodyPr wrap="square" lIns="0" tIns="0" rIns="0" bIns="0" rtlCol="0" anchor="t"/>
          <a:lstStyle/>
          <a:p>
            <a:pPr indent="0" marL="0">
              <a:buNone/>
            </a:pPr>
            <a:r>
              <a:rPr lang="en-US" sz="3000" b="1" dirty="0">
                <a:solidFill>
                  <a:srgbClr val="1D2230"/>
                </a:solidFill>
                <a:latin typeface="Cambria" pitchFamily="34" charset="0"/>
                <a:ea typeface="Cambria" pitchFamily="34" charset="-122"/>
                <a:cs typeface="Cambria" pitchFamily="34" charset="-120"/>
              </a:rPr>
              <a:t>Which moment predicts the choice?</a:t>
            </a:r>
            <a:endParaRPr lang="en-US" sz="3000" dirty="0"/>
          </a:p>
        </p:txBody>
      </p:sp>
      <p:sp>
        <p:nvSpPr>
          <p:cNvPr id="6" name="Text 3"/>
          <p:cNvSpPr txBox="1"/>
          <p:nvPr/>
        </p:nvSpPr>
        <p:spPr>
          <a:xfrm>
            <a:off x="548640" y="1572768"/>
            <a:ext cx="11064240" cy="365760"/>
          </a:xfrm>
          <a:prstGeom prst="rect">
            <a:avLst/>
          </a:prstGeom>
          <a:noFill/>
          <a:ln/>
        </p:spPr>
        <p:txBody>
          <a:bodyPr wrap="square" lIns="0" tIns="0" rIns="0" bIns="0" rtlCol="0" anchor="ctr"/>
          <a:lstStyle/>
          <a:p>
            <a:pPr indent="0" marL="0">
              <a:buNone/>
            </a:pPr>
            <a:r>
              <a:rPr lang="en-US" sz="1500" i="1" dirty="0">
                <a:solidFill>
                  <a:srgbClr val="5B6275"/>
                </a:solidFill>
                <a:latin typeface="Calibri" pitchFamily="34" charset="0"/>
                <a:ea typeface="Calibri" pitchFamily="34" charset="-122"/>
                <a:cs typeface="Calibri" pitchFamily="34" charset="-120"/>
              </a:rPr>
              <a:t>For each trial: does peak activity in this time window predict yes / no, beyond how good the deal is?</a:t>
            </a:r>
            <a:endParaRPr lang="en-US" sz="1500" dirty="0"/>
          </a:p>
        </p:txBody>
      </p:sp>
      <p:sp>
        <p:nvSpPr>
          <p:cNvPr id="7" name="Shape 4"/>
          <p:cNvSpPr/>
          <p:nvPr/>
        </p:nvSpPr>
        <p:spPr>
          <a:xfrm>
            <a:off x="822960" y="2423160"/>
            <a:ext cx="10515600" cy="0"/>
          </a:xfrm>
          <a:prstGeom prst="line">
            <a:avLst/>
          </a:prstGeom>
          <a:noFill/>
          <a:ln w="19050">
            <a:solidFill>
              <a:srgbClr val="9AA3B8"/>
            </a:solidFill>
            <a:prstDash val="solid"/>
            <a:tailEnd type="triangle"/>
          </a:ln>
        </p:spPr>
      </p:sp>
      <p:sp>
        <p:nvSpPr>
          <p:cNvPr id="8" name="Text 5"/>
          <p:cNvSpPr txBox="1"/>
          <p:nvPr/>
        </p:nvSpPr>
        <p:spPr>
          <a:xfrm>
            <a:off x="10607040" y="2057400"/>
            <a:ext cx="1005840" cy="274320"/>
          </a:xfrm>
          <a:prstGeom prst="rect">
            <a:avLst/>
          </a:prstGeom>
          <a:noFill/>
          <a:ln/>
        </p:spPr>
        <p:txBody>
          <a:bodyPr wrap="square" lIns="0" tIns="0" rIns="0" bIns="0" rtlCol="0" anchor="ctr"/>
          <a:lstStyle/>
          <a:p>
            <a:pPr algn="r" indent="0" marL="0">
              <a:buNone/>
            </a:pPr>
            <a:r>
              <a:rPr lang="en-US" sz="1100" dirty="0">
                <a:solidFill>
                  <a:srgbClr val="5B6275"/>
                </a:solidFill>
                <a:latin typeface="Calibri" pitchFamily="34" charset="0"/>
                <a:ea typeface="Calibri" pitchFamily="34" charset="-122"/>
                <a:cs typeface="Calibri" pitchFamily="34" charset="-120"/>
              </a:rPr>
              <a:t>time →</a:t>
            </a:r>
            <a:endParaRPr lang="en-US" sz="1100" dirty="0"/>
          </a:p>
        </p:txBody>
      </p:sp>
      <p:sp>
        <p:nvSpPr>
          <p:cNvPr id="9" name="Shape 6"/>
          <p:cNvSpPr/>
          <p:nvPr/>
        </p:nvSpPr>
        <p:spPr>
          <a:xfrm>
            <a:off x="2189988" y="2304288"/>
            <a:ext cx="237744" cy="237744"/>
          </a:xfrm>
          <a:prstGeom prst="ellipse">
            <a:avLst/>
          </a:prstGeom>
          <a:solidFill>
            <a:srgbClr val="9AA3B8"/>
          </a:solidFill>
          <a:ln w="25400">
            <a:solidFill>
              <a:srgbClr val="FFFFFF"/>
            </a:solidFill>
            <a:prstDash val="solid"/>
          </a:ln>
        </p:spPr>
      </p:sp>
      <p:sp>
        <p:nvSpPr>
          <p:cNvPr id="10" name="Shape 7"/>
          <p:cNvSpPr/>
          <p:nvPr/>
        </p:nvSpPr>
        <p:spPr>
          <a:xfrm>
            <a:off x="548640" y="2743200"/>
            <a:ext cx="3520440" cy="2148840"/>
          </a:xfrm>
          <a:prstGeom prst="roundRect">
            <a:avLst>
              <a:gd name="adj" fmla="val 5106"/>
            </a:avLst>
          </a:prstGeom>
          <a:solidFill>
            <a:srgbClr val="F2F4F8"/>
          </a:solidFill>
          <a:ln w="12700">
            <a:solidFill>
              <a:srgbClr val="F2F4F8"/>
            </a:solidFill>
            <a:prstDash val="solid"/>
          </a:ln>
        </p:spPr>
      </p:sp>
      <p:sp>
        <p:nvSpPr>
          <p:cNvPr id="11" name="Text 8"/>
          <p:cNvSpPr txBox="1"/>
          <p:nvPr/>
        </p:nvSpPr>
        <p:spPr>
          <a:xfrm>
            <a:off x="822960" y="2880360"/>
            <a:ext cx="2971800" cy="411480"/>
          </a:xfrm>
          <a:prstGeom prst="rect">
            <a:avLst/>
          </a:prstGeom>
          <a:noFill/>
          <a:ln/>
        </p:spPr>
        <p:txBody>
          <a:bodyPr wrap="square" lIns="0" tIns="0" rIns="0" bIns="0" rtlCol="0" anchor="ctr"/>
          <a:lstStyle/>
          <a:p>
            <a:pPr indent="0" marL="0">
              <a:buNone/>
            </a:pPr>
            <a:r>
              <a:rPr lang="en-US" sz="2100" b="1" dirty="0">
                <a:solidFill>
                  <a:srgbClr val="1D2230"/>
                </a:solidFill>
                <a:latin typeface="Cambria" pitchFamily="34" charset="0"/>
                <a:ea typeface="Cambria" pitchFamily="34" charset="-122"/>
                <a:cs typeface="Cambria" pitchFamily="34" charset="-120"/>
              </a:rPr>
              <a:t>Before the offer</a:t>
            </a:r>
            <a:endParaRPr lang="en-US" sz="2100" dirty="0"/>
          </a:p>
        </p:txBody>
      </p:sp>
      <p:sp>
        <p:nvSpPr>
          <p:cNvPr id="12" name="Text 9"/>
          <p:cNvSpPr txBox="1"/>
          <p:nvPr/>
        </p:nvSpPr>
        <p:spPr>
          <a:xfrm>
            <a:off x="822960" y="3291840"/>
            <a:ext cx="2971800" cy="320040"/>
          </a:xfrm>
          <a:prstGeom prst="rect">
            <a:avLst/>
          </a:prstGeom>
          <a:noFill/>
          <a:ln/>
        </p:spPr>
        <p:txBody>
          <a:bodyPr wrap="square" lIns="0" tIns="0" rIns="0" bIns="0" rtlCol="0" anchor="ctr"/>
          <a:lstStyle/>
          <a:p>
            <a:pPr indent="0" marL="0">
              <a:buNone/>
            </a:pPr>
            <a:r>
              <a:rPr lang="en-US" sz="1300" dirty="0">
                <a:solidFill>
                  <a:srgbClr val="5B6275"/>
                </a:solidFill>
                <a:latin typeface="Calibri" pitchFamily="34" charset="0"/>
                <a:ea typeface="Calibri" pitchFamily="34" charset="-122"/>
                <a:cs typeface="Calibri" pitchFamily="34" charset="-120"/>
              </a:rPr>
              <a:t>last 1 s before the offer</a:t>
            </a:r>
            <a:endParaRPr lang="en-US" sz="1300" dirty="0"/>
          </a:p>
        </p:txBody>
      </p:sp>
      <p:sp>
        <p:nvSpPr>
          <p:cNvPr id="13" name="Text 10"/>
          <p:cNvSpPr txBox="1"/>
          <p:nvPr/>
        </p:nvSpPr>
        <p:spPr>
          <a:xfrm>
            <a:off x="822960" y="3703320"/>
            <a:ext cx="2971800" cy="548640"/>
          </a:xfrm>
          <a:prstGeom prst="rect">
            <a:avLst/>
          </a:prstGeom>
          <a:noFill/>
          <a:ln/>
        </p:spPr>
        <p:txBody>
          <a:bodyPr wrap="square" lIns="0" tIns="0" rIns="0" bIns="0" rtlCol="0" anchor="ctr"/>
          <a:lstStyle/>
          <a:p>
            <a:pPr indent="0" marL="0">
              <a:buNone/>
            </a:pPr>
            <a:r>
              <a:rPr lang="en-US" sz="2800" b="1" dirty="0">
                <a:solidFill>
                  <a:srgbClr val="1D2230"/>
                </a:solidFill>
                <a:latin typeface="Cambria" pitchFamily="34" charset="0"/>
                <a:ea typeface="Cambria" pitchFamily="34" charset="-122"/>
                <a:cs typeface="Cambria" pitchFamily="34" charset="-120"/>
              </a:rPr>
              <a:t>p = 0.20</a:t>
            </a:r>
            <a:endParaRPr lang="en-US" sz="2800" dirty="0"/>
          </a:p>
        </p:txBody>
      </p:sp>
      <p:sp>
        <p:nvSpPr>
          <p:cNvPr id="14" name="Text 11"/>
          <p:cNvSpPr txBox="1"/>
          <p:nvPr/>
        </p:nvSpPr>
        <p:spPr>
          <a:xfrm>
            <a:off x="822960" y="4297680"/>
            <a:ext cx="2971800" cy="365760"/>
          </a:xfrm>
          <a:prstGeom prst="rect">
            <a:avLst/>
          </a:prstGeom>
          <a:noFill/>
          <a:ln/>
        </p:spPr>
        <p:txBody>
          <a:bodyPr wrap="square" lIns="0" tIns="0" rIns="0" bIns="0" rtlCol="0" anchor="ctr"/>
          <a:lstStyle/>
          <a:p>
            <a:pPr indent="0" marL="0">
              <a:buNone/>
            </a:pPr>
            <a:r>
              <a:rPr lang="en-US" sz="1400" dirty="0">
                <a:solidFill>
                  <a:srgbClr val="5B6275"/>
                </a:solidFill>
                <a:latin typeface="Calibri" pitchFamily="34" charset="0"/>
                <a:ea typeface="Calibri" pitchFamily="34" charset="-122"/>
                <a:cs typeface="Calibri" pitchFamily="34" charset="-120"/>
              </a:rPr>
              <a:t>✗ not significant</a:t>
            </a:r>
            <a:endParaRPr lang="en-US" sz="1400" dirty="0"/>
          </a:p>
        </p:txBody>
      </p:sp>
      <p:sp>
        <p:nvSpPr>
          <p:cNvPr id="15" name="Shape 12"/>
          <p:cNvSpPr/>
          <p:nvPr/>
        </p:nvSpPr>
        <p:spPr>
          <a:xfrm>
            <a:off x="5939028" y="2304288"/>
            <a:ext cx="237744" cy="237744"/>
          </a:xfrm>
          <a:prstGeom prst="ellipse">
            <a:avLst/>
          </a:prstGeom>
          <a:solidFill>
            <a:srgbClr val="C8203F"/>
          </a:solidFill>
          <a:ln w="25400">
            <a:solidFill>
              <a:srgbClr val="FFFFFF"/>
            </a:solidFill>
            <a:prstDash val="solid"/>
          </a:ln>
        </p:spPr>
      </p:sp>
      <p:sp>
        <p:nvSpPr>
          <p:cNvPr id="16" name="Shape 13"/>
          <p:cNvSpPr/>
          <p:nvPr/>
        </p:nvSpPr>
        <p:spPr>
          <a:xfrm>
            <a:off x="4297680" y="2743200"/>
            <a:ext cx="3520440" cy="2148840"/>
          </a:xfrm>
          <a:prstGeom prst="roundRect">
            <a:avLst>
              <a:gd name="adj" fmla="val 5106"/>
            </a:avLst>
          </a:prstGeom>
          <a:solidFill>
            <a:srgbClr val="C8203F"/>
          </a:solidFill>
          <a:ln w="12700">
            <a:solidFill>
              <a:srgbClr val="C8203F"/>
            </a:solidFill>
            <a:prstDash val="solid"/>
          </a:ln>
        </p:spPr>
      </p:sp>
      <p:sp>
        <p:nvSpPr>
          <p:cNvPr id="17" name="Text 14"/>
          <p:cNvSpPr txBox="1"/>
          <p:nvPr/>
        </p:nvSpPr>
        <p:spPr>
          <a:xfrm>
            <a:off x="4572000" y="2880360"/>
            <a:ext cx="2971800" cy="41148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After the offer</a:t>
            </a:r>
            <a:endParaRPr lang="en-US" sz="2100" dirty="0"/>
          </a:p>
        </p:txBody>
      </p:sp>
      <p:sp>
        <p:nvSpPr>
          <p:cNvPr id="18" name="Text 15"/>
          <p:cNvSpPr txBox="1"/>
          <p:nvPr/>
        </p:nvSpPr>
        <p:spPr>
          <a:xfrm>
            <a:off x="4572000" y="3291840"/>
            <a:ext cx="2971800" cy="320040"/>
          </a:xfrm>
          <a:prstGeom prst="rect">
            <a:avLst/>
          </a:prstGeom>
          <a:noFill/>
          <a:ln/>
        </p:spPr>
        <p:txBody>
          <a:bodyPr wrap="square" lIns="0" tIns="0" rIns="0" bIns="0" rtlCol="0" anchor="ctr"/>
          <a:lstStyle/>
          <a:p>
            <a:pPr indent="0" marL="0">
              <a:buNone/>
            </a:pPr>
            <a:r>
              <a:rPr lang="en-US" sz="1300" dirty="0">
                <a:solidFill>
                  <a:srgbClr val="FBE0E6"/>
                </a:solidFill>
                <a:latin typeface="Calibri" pitchFamily="34" charset="0"/>
                <a:ea typeface="Calibri" pitchFamily="34" charset="-122"/>
                <a:cs typeface="Calibri" pitchFamily="34" charset="-120"/>
              </a:rPr>
              <a:t>2.5 to 4.5 s after the offer</a:t>
            </a:r>
            <a:endParaRPr lang="en-US" sz="1300" dirty="0"/>
          </a:p>
        </p:txBody>
      </p:sp>
      <p:sp>
        <p:nvSpPr>
          <p:cNvPr id="19" name="Text 16"/>
          <p:cNvSpPr txBox="1"/>
          <p:nvPr/>
        </p:nvSpPr>
        <p:spPr>
          <a:xfrm>
            <a:off x="4572000" y="3703320"/>
            <a:ext cx="29718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 = 0.030</a:t>
            </a:r>
            <a:endParaRPr lang="en-US" sz="2800" dirty="0"/>
          </a:p>
        </p:txBody>
      </p:sp>
      <p:sp>
        <p:nvSpPr>
          <p:cNvPr id="20" name="Text 17"/>
          <p:cNvSpPr txBox="1"/>
          <p:nvPr/>
        </p:nvSpPr>
        <p:spPr>
          <a:xfrm>
            <a:off x="4572000" y="4297680"/>
            <a:ext cx="2971800" cy="365760"/>
          </a:xfrm>
          <a:prstGeom prst="rect">
            <a:avLst/>
          </a:prstGeom>
          <a:noFill/>
          <a:ln/>
        </p:spPr>
        <p:txBody>
          <a:bodyPr wrap="square" lIns="0" tIns="0" rIns="0" bIns="0" rtlCol="0" anchor="ctr"/>
          <a:lstStyle/>
          <a:p>
            <a:pPr indent="0" marL="0">
              <a:buNone/>
            </a:pPr>
            <a:r>
              <a:rPr lang="en-US" sz="1400" b="1" dirty="0">
                <a:solidFill>
                  <a:srgbClr val="FBE0E6"/>
                </a:solidFill>
                <a:latin typeface="Calibri" pitchFamily="34" charset="0"/>
                <a:ea typeface="Calibri" pitchFamily="34" charset="-122"/>
                <a:cs typeface="Calibri" pitchFamily="34" charset="-120"/>
              </a:rPr>
              <a:t>✓ predicts the choice</a:t>
            </a:r>
            <a:endParaRPr lang="en-US" sz="1400" dirty="0"/>
          </a:p>
        </p:txBody>
      </p:sp>
      <p:sp>
        <p:nvSpPr>
          <p:cNvPr id="21" name="Shape 18"/>
          <p:cNvSpPr/>
          <p:nvPr/>
        </p:nvSpPr>
        <p:spPr>
          <a:xfrm>
            <a:off x="9688068" y="2304288"/>
            <a:ext cx="237744" cy="237744"/>
          </a:xfrm>
          <a:prstGeom prst="ellipse">
            <a:avLst/>
          </a:prstGeom>
          <a:solidFill>
            <a:srgbClr val="9AA3B8"/>
          </a:solidFill>
          <a:ln w="25400">
            <a:solidFill>
              <a:srgbClr val="FFFFFF"/>
            </a:solidFill>
            <a:prstDash val="solid"/>
          </a:ln>
        </p:spPr>
      </p:sp>
      <p:sp>
        <p:nvSpPr>
          <p:cNvPr id="22" name="Shape 19"/>
          <p:cNvSpPr/>
          <p:nvPr/>
        </p:nvSpPr>
        <p:spPr>
          <a:xfrm>
            <a:off x="8046720" y="2743200"/>
            <a:ext cx="3520440" cy="2148840"/>
          </a:xfrm>
          <a:prstGeom prst="roundRect">
            <a:avLst>
              <a:gd name="adj" fmla="val 5106"/>
            </a:avLst>
          </a:prstGeom>
          <a:solidFill>
            <a:srgbClr val="F2F4F8"/>
          </a:solidFill>
          <a:ln w="12700">
            <a:solidFill>
              <a:srgbClr val="F2F4F8"/>
            </a:solidFill>
            <a:prstDash val="solid"/>
          </a:ln>
        </p:spPr>
      </p:sp>
      <p:sp>
        <p:nvSpPr>
          <p:cNvPr id="23" name="Text 20"/>
          <p:cNvSpPr txBox="1"/>
          <p:nvPr/>
        </p:nvSpPr>
        <p:spPr>
          <a:xfrm>
            <a:off x="8321040" y="2880360"/>
            <a:ext cx="2971800" cy="411480"/>
          </a:xfrm>
          <a:prstGeom prst="rect">
            <a:avLst/>
          </a:prstGeom>
          <a:noFill/>
          <a:ln/>
        </p:spPr>
        <p:txBody>
          <a:bodyPr wrap="square" lIns="0" tIns="0" rIns="0" bIns="0" rtlCol="0" anchor="ctr"/>
          <a:lstStyle/>
          <a:p>
            <a:pPr indent="0" marL="0">
              <a:buNone/>
            </a:pPr>
            <a:r>
              <a:rPr lang="en-US" sz="2100" b="1" dirty="0">
                <a:solidFill>
                  <a:srgbClr val="1D2230"/>
                </a:solidFill>
                <a:latin typeface="Cambria" pitchFamily="34" charset="0"/>
                <a:ea typeface="Cambria" pitchFamily="34" charset="-122"/>
                <a:cs typeface="Cambria" pitchFamily="34" charset="-120"/>
              </a:rPr>
              <a:t>Before the answer</a:t>
            </a:r>
            <a:endParaRPr lang="en-US" sz="2100" dirty="0"/>
          </a:p>
        </p:txBody>
      </p:sp>
      <p:sp>
        <p:nvSpPr>
          <p:cNvPr id="24" name="Text 21"/>
          <p:cNvSpPr txBox="1"/>
          <p:nvPr/>
        </p:nvSpPr>
        <p:spPr>
          <a:xfrm>
            <a:off x="8321040" y="3291840"/>
            <a:ext cx="2971800" cy="320040"/>
          </a:xfrm>
          <a:prstGeom prst="rect">
            <a:avLst/>
          </a:prstGeom>
          <a:noFill/>
          <a:ln/>
        </p:spPr>
        <p:txBody>
          <a:bodyPr wrap="square" lIns="0" tIns="0" rIns="0" bIns="0" rtlCol="0" anchor="ctr"/>
          <a:lstStyle/>
          <a:p>
            <a:pPr indent="0" marL="0">
              <a:buNone/>
            </a:pPr>
            <a:r>
              <a:rPr lang="en-US" sz="1300" dirty="0">
                <a:solidFill>
                  <a:srgbClr val="5B6275"/>
                </a:solidFill>
                <a:latin typeface="Calibri" pitchFamily="34" charset="0"/>
                <a:ea typeface="Calibri" pitchFamily="34" charset="-122"/>
                <a:cs typeface="Calibri" pitchFamily="34" charset="-120"/>
              </a:rPr>
              <a:t>last 1 s before the button press</a:t>
            </a:r>
            <a:endParaRPr lang="en-US" sz="1300" dirty="0"/>
          </a:p>
        </p:txBody>
      </p:sp>
      <p:sp>
        <p:nvSpPr>
          <p:cNvPr id="25" name="Text 22"/>
          <p:cNvSpPr txBox="1"/>
          <p:nvPr/>
        </p:nvSpPr>
        <p:spPr>
          <a:xfrm>
            <a:off x="8321040" y="3703320"/>
            <a:ext cx="2971800" cy="548640"/>
          </a:xfrm>
          <a:prstGeom prst="rect">
            <a:avLst/>
          </a:prstGeom>
          <a:noFill/>
          <a:ln/>
        </p:spPr>
        <p:txBody>
          <a:bodyPr wrap="square" lIns="0" tIns="0" rIns="0" bIns="0" rtlCol="0" anchor="ctr"/>
          <a:lstStyle/>
          <a:p>
            <a:pPr indent="0" marL="0">
              <a:buNone/>
            </a:pPr>
            <a:r>
              <a:rPr lang="en-US" sz="2800" b="1" dirty="0">
                <a:solidFill>
                  <a:srgbClr val="1D2230"/>
                </a:solidFill>
                <a:latin typeface="Cambria" pitchFamily="34" charset="0"/>
                <a:ea typeface="Cambria" pitchFamily="34" charset="-122"/>
                <a:cs typeface="Cambria" pitchFamily="34" charset="-120"/>
              </a:rPr>
              <a:t>p = 0.11</a:t>
            </a:r>
            <a:endParaRPr lang="en-US" sz="2800" dirty="0"/>
          </a:p>
        </p:txBody>
      </p:sp>
      <p:sp>
        <p:nvSpPr>
          <p:cNvPr id="26" name="Text 23"/>
          <p:cNvSpPr txBox="1"/>
          <p:nvPr/>
        </p:nvSpPr>
        <p:spPr>
          <a:xfrm>
            <a:off x="8321040" y="4297680"/>
            <a:ext cx="2971800" cy="365760"/>
          </a:xfrm>
          <a:prstGeom prst="rect">
            <a:avLst/>
          </a:prstGeom>
          <a:noFill/>
          <a:ln/>
        </p:spPr>
        <p:txBody>
          <a:bodyPr wrap="square" lIns="0" tIns="0" rIns="0" bIns="0" rtlCol="0" anchor="ctr"/>
          <a:lstStyle/>
          <a:p>
            <a:pPr indent="0" marL="0">
              <a:buNone/>
            </a:pPr>
            <a:r>
              <a:rPr lang="en-US" sz="1400" dirty="0">
                <a:solidFill>
                  <a:srgbClr val="5B6275"/>
                </a:solidFill>
                <a:latin typeface="Calibri" pitchFamily="34" charset="0"/>
                <a:ea typeface="Calibri" pitchFamily="34" charset="-122"/>
                <a:cs typeface="Calibri" pitchFamily="34" charset="-120"/>
              </a:rPr>
              <a:t>✗ not significant</a:t>
            </a:r>
            <a:endParaRPr lang="en-US" sz="1400" dirty="0"/>
          </a:p>
        </p:txBody>
      </p:sp>
      <p:sp>
        <p:nvSpPr>
          <p:cNvPr id="27" name="Text 24"/>
          <p:cNvSpPr txBox="1"/>
          <p:nvPr/>
        </p:nvSpPr>
        <p:spPr>
          <a:xfrm>
            <a:off x="548640" y="5120640"/>
            <a:ext cx="11064240" cy="11887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D2230"/>
                </a:solidFill>
                <a:latin typeface="Calibri" pitchFamily="34" charset="0"/>
                <a:ea typeface="Calibri" pitchFamily="34" charset="-122"/>
                <a:cs typeface="Calibri" pitchFamily="34" charset="-120"/>
              </a:rPr>
              <a:t>Lower insula activity after the offer → more likely to say yes</a:t>
            </a:r>
            <a:endParaRPr lang="en-US" sz="1500" dirty="0"/>
          </a:p>
          <a:p>
            <a:pPr marL="203200" indent="-203200">
              <a:spcAft>
                <a:spcPts val="800"/>
              </a:spcAft>
              <a:buSzPct val="100000"/>
              <a:buChar char="•"/>
            </a:pPr>
            <a:r>
              <a:rPr lang="en-US" sz="1500" dirty="0">
                <a:solidFill>
                  <a:srgbClr val="1D2230"/>
                </a:solidFill>
                <a:latin typeface="Calibri" pitchFamily="34" charset="0"/>
                <a:ea typeface="Calibri" pitchFamily="34" charset="-122"/>
                <a:cs typeface="Calibri" pitchFamily="34" charset="-120"/>
              </a:rPr>
              <a:t>Holds for easy and hard offers alike</a:t>
            </a:r>
            <a:endParaRPr lang="en-US" sz="1500" dirty="0"/>
          </a:p>
          <a:p>
            <a:pPr marL="203200" indent="-203200">
              <a:spcAft>
                <a:spcPts val="800"/>
              </a:spcAft>
              <a:buSzPct val="100000"/>
              <a:buChar char="•"/>
            </a:pPr>
            <a:r>
              <a:rPr lang="en-US" sz="1500" dirty="0">
                <a:solidFill>
                  <a:srgbClr val="1D2230"/>
                </a:solidFill>
                <a:latin typeface="Calibri" pitchFamily="34" charset="0"/>
                <a:ea typeface="Calibri" pitchFamily="34" charset="-122"/>
                <a:cs typeface="Calibri" pitchFamily="34" charset="-120"/>
              </a:rPr>
              <a:t>A slower brain rhythm (theta, 4–8 Hz) shows a similar pattern</a:t>
            </a:r>
            <a:endParaRPr lang="en-US" sz="1500" dirty="0"/>
          </a:p>
        </p:txBody>
      </p:sp>
      <p:sp>
        <p:nvSpPr>
          <p:cNvPr id="28" name="Text 25"/>
          <p:cNvSpPr txBox="1"/>
          <p:nvPr/>
        </p:nvSpPr>
        <p:spPr>
          <a:xfrm>
            <a:off x="548640" y="6473952"/>
            <a:ext cx="7315200" cy="256032"/>
          </a:xfrm>
          <a:prstGeom prst="rect">
            <a:avLst/>
          </a:prstGeom>
          <a:noFill/>
          <a:ln/>
        </p:spPr>
        <p:txBody>
          <a:bodyPr wrap="square" lIns="0" tIns="0" rIns="0" bIns="0" rtlCol="0" anchor="ctr"/>
          <a:lstStyle/>
          <a:p>
            <a:pPr indent="0" marL="0">
              <a:buNone/>
            </a:pPr>
            <a:r>
              <a:rPr lang="en-US" sz="950" dirty="0">
                <a:solidFill>
                  <a:srgbClr val="5B6275"/>
                </a:solidFill>
                <a:latin typeface="Calibri" pitchFamily="34" charset="0"/>
                <a:ea typeface="Calibri" pitchFamily="34" charset="-122"/>
                <a:cs typeface="Calibri" pitchFamily="34" charset="-120"/>
              </a:rPr>
              <a:t>Baratin et al., Nature Communications (2026)</a:t>
            </a:r>
            <a:endParaRPr lang="en-US" sz="950" dirty="0"/>
          </a:p>
        </p:txBody>
      </p:sp>
      <p:sp>
        <p:nvSpPr>
          <p:cNvPr id="29" name="Text 26"/>
          <p:cNvSpPr txBox="1"/>
          <p:nvPr/>
        </p:nvSpPr>
        <p:spPr>
          <a:xfrm>
            <a:off x="11094415" y="6473952"/>
            <a:ext cx="548640" cy="256032"/>
          </a:xfrm>
          <a:prstGeom prst="rect">
            <a:avLst/>
          </a:prstGeom>
          <a:noFill/>
          <a:ln/>
        </p:spPr>
        <p:txBody>
          <a:bodyPr wrap="square" lIns="0" tIns="0" rIns="0" bIns="0" rtlCol="0" anchor="ctr"/>
          <a:lstStyle/>
          <a:p>
            <a:pPr algn="r" indent="0" marL="0">
              <a:buNone/>
            </a:pPr>
            <a:r>
              <a:rPr lang="en-US" sz="1000" dirty="0">
                <a:solidFill>
                  <a:srgbClr val="5B627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384048"/>
            <a:ext cx="1984248" cy="292608"/>
          </a:xfrm>
          <a:prstGeom prst="roundRect">
            <a:avLst>
              <a:gd name="adj" fmla="val 50000"/>
            </a:avLst>
          </a:prstGeom>
          <a:solidFill>
            <a:srgbClr val="1E8E5A"/>
          </a:solidFill>
          <a:ln w="12700">
            <a:solidFill>
              <a:srgbClr val="1E8E5A"/>
            </a:solidFill>
            <a:prstDash val="solid"/>
          </a:ln>
        </p:spPr>
      </p:sp>
      <p:sp>
        <p:nvSpPr>
          <p:cNvPr id="4" name="Text 1"/>
          <p:cNvSpPr txBox="1"/>
          <p:nvPr/>
        </p:nvSpPr>
        <p:spPr>
          <a:xfrm>
            <a:off x="548640" y="384048"/>
            <a:ext cx="1984248" cy="29260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RESULTS · vmPFC</a:t>
            </a:r>
            <a:endParaRPr lang="en-US" sz="1100" dirty="0"/>
          </a:p>
        </p:txBody>
      </p:sp>
      <p:sp>
        <p:nvSpPr>
          <p:cNvPr id="5" name="Text 2"/>
          <p:cNvSpPr txBox="1"/>
          <p:nvPr/>
        </p:nvSpPr>
        <p:spPr>
          <a:xfrm>
            <a:off x="548640" y="749808"/>
            <a:ext cx="11094415" cy="731520"/>
          </a:xfrm>
          <a:prstGeom prst="rect">
            <a:avLst/>
          </a:prstGeom>
          <a:noFill/>
          <a:ln/>
        </p:spPr>
        <p:txBody>
          <a:bodyPr wrap="square" lIns="0" tIns="0" rIns="0" bIns="0" rtlCol="0" anchor="t"/>
          <a:lstStyle/>
          <a:p>
            <a:pPr indent="0" marL="0">
              <a:buNone/>
            </a:pPr>
            <a:r>
              <a:rPr lang="en-US" sz="3000" b="1" dirty="0">
                <a:solidFill>
                  <a:srgbClr val="1D2230"/>
                </a:solidFill>
                <a:latin typeface="Cambria" pitchFamily="34" charset="0"/>
                <a:ea typeface="Cambria" pitchFamily="34" charset="-122"/>
                <a:cs typeface="Cambria" pitchFamily="34" charset="-120"/>
              </a:rPr>
              <a:t>vmPFC: same brain pattern, no effect on choices</a:t>
            </a:r>
            <a:endParaRPr lang="en-US" sz="3000" dirty="0"/>
          </a:p>
        </p:txBody>
      </p:sp>
      <p:pic>
        <p:nvPicPr>
          <p:cNvPr id="6" name="Image 0" descr="/tmp/claude-0/-home-user-DOC/b62d63f6-2ef2-5ee3-9869-de2bf75305bc/scratchpad/img/f2f.png">    </p:cNvPr>
          <p:cNvPicPr>
            <a:picLocks noChangeAspect="1"/>
          </p:cNvPicPr>
          <p:nvPr/>
        </p:nvPicPr>
        <p:blipFill>
          <a:blip r:embed="rId1"/>
          <a:stretch>
            <a:fillRect/>
          </a:stretch>
        </p:blipFill>
        <p:spPr>
          <a:xfrm>
            <a:off x="772160" y="1645920"/>
            <a:ext cx="2479040" cy="2788920"/>
          </a:xfrm>
          <a:prstGeom prst="rect">
            <a:avLst/>
          </a:prstGeom>
        </p:spPr>
      </p:pic>
      <p:sp>
        <p:nvSpPr>
          <p:cNvPr id="7" name="Text 3"/>
          <p:cNvSpPr txBox="1"/>
          <p:nvPr/>
        </p:nvSpPr>
        <p:spPr>
          <a:xfrm>
            <a:off x="548640" y="4480560"/>
            <a:ext cx="2926080" cy="320040"/>
          </a:xfrm>
          <a:prstGeom prst="rect">
            <a:avLst/>
          </a:prstGeom>
          <a:noFill/>
          <a:ln/>
        </p:spPr>
        <p:txBody>
          <a:bodyPr wrap="square" lIns="0" tIns="0" rIns="0" bIns="0" rtlCol="0" anchor="ctr"/>
          <a:lstStyle/>
          <a:p>
            <a:pPr algn="ctr" indent="0" marL="0">
              <a:buNone/>
            </a:pPr>
            <a:r>
              <a:rPr lang="en-US" sz="1150" dirty="0">
                <a:solidFill>
                  <a:srgbClr val="5B6275"/>
                </a:solidFill>
                <a:latin typeface="Calibri" pitchFamily="34" charset="0"/>
                <a:ea typeface="Calibri" pitchFamily="34" charset="-122"/>
                <a:cs typeface="Calibri" pitchFamily="34" charset="-120"/>
              </a:rPr>
              <a:t>Acceptance, up vs. down (n = 8)</a:t>
            </a:r>
            <a:endParaRPr lang="en-US" sz="1150" dirty="0"/>
          </a:p>
        </p:txBody>
      </p:sp>
      <p:pic>
        <p:nvPicPr>
          <p:cNvPr id="8" name="Image 1" descr="/tmp/claude-0/-home-user-DOC/b62d63f6-2ef2-5ee3-9869-de2bf75305bc/scratchpad/img/f2h.png">    </p:cNvPr>
          <p:cNvPicPr>
            <a:picLocks noChangeAspect="1"/>
          </p:cNvPicPr>
          <p:nvPr/>
        </p:nvPicPr>
        <p:blipFill>
          <a:blip r:embed="rId2"/>
          <a:stretch>
            <a:fillRect/>
          </a:stretch>
        </p:blipFill>
        <p:spPr>
          <a:xfrm>
            <a:off x="3931920" y="1677612"/>
            <a:ext cx="3931920" cy="2725535"/>
          </a:xfrm>
          <a:prstGeom prst="rect">
            <a:avLst/>
          </a:prstGeom>
        </p:spPr>
      </p:pic>
      <p:sp>
        <p:nvSpPr>
          <p:cNvPr id="9" name="Text 4"/>
          <p:cNvSpPr txBox="1"/>
          <p:nvPr/>
        </p:nvSpPr>
        <p:spPr>
          <a:xfrm>
            <a:off x="3749040" y="4480560"/>
            <a:ext cx="4297680" cy="320040"/>
          </a:xfrm>
          <a:prstGeom prst="rect">
            <a:avLst/>
          </a:prstGeom>
          <a:noFill/>
          <a:ln/>
        </p:spPr>
        <p:txBody>
          <a:bodyPr wrap="square" lIns="0" tIns="0" rIns="0" bIns="0" rtlCol="0" anchor="ctr"/>
          <a:lstStyle/>
          <a:p>
            <a:pPr algn="ctr" indent="0" marL="0">
              <a:buNone/>
            </a:pPr>
            <a:r>
              <a:rPr lang="en-US" sz="1150" dirty="0">
                <a:solidFill>
                  <a:srgbClr val="5B6275"/>
                </a:solidFill>
                <a:latin typeface="Calibri" pitchFamily="34" charset="0"/>
                <a:ea typeface="Calibri" pitchFamily="34" charset="-122"/>
                <a:cs typeface="Calibri" pitchFamily="34" charset="-120"/>
              </a:rPr>
              <a:t>Activity over time (red = up, blue = down)</a:t>
            </a:r>
            <a:endParaRPr lang="en-US" sz="1150" dirty="0"/>
          </a:p>
        </p:txBody>
      </p:sp>
      <p:pic>
        <p:nvPicPr>
          <p:cNvPr id="10" name="Image 2" descr="/tmp/claude-0/-home-user-DOC/b62d63f6-2ef2-5ee3-9869-de2bf75305bc/scratchpad/img/f2i.png">    </p:cNvPr>
          <p:cNvPicPr>
            <a:picLocks noChangeAspect="1"/>
          </p:cNvPicPr>
          <p:nvPr/>
        </p:nvPicPr>
        <p:blipFill>
          <a:blip r:embed="rId3"/>
          <a:stretch>
            <a:fillRect/>
          </a:stretch>
        </p:blipFill>
        <p:spPr>
          <a:xfrm>
            <a:off x="8538456" y="1645920"/>
            <a:ext cx="2308368" cy="2788920"/>
          </a:xfrm>
          <a:prstGeom prst="rect">
            <a:avLst/>
          </a:prstGeom>
        </p:spPr>
      </p:pic>
      <p:sp>
        <p:nvSpPr>
          <p:cNvPr id="11" name="Text 5"/>
          <p:cNvSpPr txBox="1"/>
          <p:nvPr/>
        </p:nvSpPr>
        <p:spPr>
          <a:xfrm>
            <a:off x="8321040" y="4480560"/>
            <a:ext cx="2743200" cy="320040"/>
          </a:xfrm>
          <a:prstGeom prst="rect">
            <a:avLst/>
          </a:prstGeom>
          <a:noFill/>
          <a:ln/>
        </p:spPr>
        <p:txBody>
          <a:bodyPr wrap="square" lIns="0" tIns="0" rIns="0" bIns="0" rtlCol="0" anchor="ctr"/>
          <a:lstStyle/>
          <a:p>
            <a:pPr algn="ctr" indent="0" marL="0">
              <a:buNone/>
            </a:pPr>
            <a:r>
              <a:rPr lang="en-US" sz="1150" dirty="0">
                <a:solidFill>
                  <a:srgbClr val="5B6275"/>
                </a:solidFill>
                <a:latin typeface="Calibri" pitchFamily="34" charset="0"/>
                <a:ea typeface="Calibri" pitchFamily="34" charset="-122"/>
                <a:cs typeface="Calibri" pitchFamily="34" charset="-120"/>
              </a:rPr>
              <a:t>Up minus down, per person</a:t>
            </a:r>
            <a:endParaRPr lang="en-US" sz="1150" dirty="0"/>
          </a:p>
        </p:txBody>
      </p:sp>
      <p:sp>
        <p:nvSpPr>
          <p:cNvPr id="12" name="Shape 6"/>
          <p:cNvSpPr/>
          <p:nvPr/>
        </p:nvSpPr>
        <p:spPr>
          <a:xfrm>
            <a:off x="548640" y="4937760"/>
            <a:ext cx="3566160" cy="1280160"/>
          </a:xfrm>
          <a:prstGeom prst="roundRect">
            <a:avLst>
              <a:gd name="adj" fmla="val 8571"/>
            </a:avLst>
          </a:prstGeom>
          <a:solidFill>
            <a:srgbClr val="E7F4EC"/>
          </a:solidFill>
          <a:ln w="12700">
            <a:solidFill>
              <a:srgbClr val="E7F4EC"/>
            </a:solidFill>
            <a:prstDash val="solid"/>
          </a:ln>
        </p:spPr>
      </p:sp>
      <p:sp>
        <p:nvSpPr>
          <p:cNvPr id="13" name="Text 7"/>
          <p:cNvSpPr txBox="1"/>
          <p:nvPr/>
        </p:nvSpPr>
        <p:spPr>
          <a:xfrm>
            <a:off x="777240" y="5029200"/>
            <a:ext cx="3200400" cy="411480"/>
          </a:xfrm>
          <a:prstGeom prst="rect">
            <a:avLst/>
          </a:prstGeom>
          <a:noFill/>
          <a:ln/>
        </p:spPr>
        <p:txBody>
          <a:bodyPr wrap="square" lIns="0" tIns="0" rIns="0" bIns="0" rtlCol="0" anchor="ctr"/>
          <a:lstStyle/>
          <a:p>
            <a:pPr indent="0" marL="0">
              <a:buNone/>
            </a:pPr>
            <a:r>
              <a:rPr lang="en-US" sz="1900" b="1" dirty="0">
                <a:solidFill>
                  <a:srgbClr val="1E8E5A"/>
                </a:solidFill>
                <a:latin typeface="Cambria" pitchFamily="34" charset="0"/>
                <a:ea typeface="Cambria" pitchFamily="34" charset="-122"/>
                <a:cs typeface="Cambria" pitchFamily="34" charset="-120"/>
              </a:rPr>
              <a:t>No effect on choices</a:t>
            </a:r>
            <a:endParaRPr lang="en-US" sz="1900" dirty="0"/>
          </a:p>
        </p:txBody>
      </p:sp>
      <p:sp>
        <p:nvSpPr>
          <p:cNvPr id="14" name="Text 8"/>
          <p:cNvSpPr txBox="1"/>
          <p:nvPr/>
        </p:nvSpPr>
        <p:spPr>
          <a:xfrm>
            <a:off x="777240" y="5468112"/>
            <a:ext cx="3200400" cy="685800"/>
          </a:xfrm>
          <a:prstGeom prst="rect">
            <a:avLst/>
          </a:prstGeom>
          <a:noFill/>
          <a:ln/>
        </p:spPr>
        <p:txBody>
          <a:bodyPr wrap="square" lIns="0" tIns="0" rIns="0" bIns="0" rtlCol="0" anchor="t"/>
          <a:lstStyle/>
          <a:p>
            <a:pPr indent="0" marL="0">
              <a:buNone/>
            </a:pPr>
            <a:r>
              <a:rPr lang="en-US" sz="1300" dirty="0">
                <a:solidFill>
                  <a:srgbClr val="1D2230"/>
                </a:solidFill>
                <a:latin typeface="Calibri" pitchFamily="34" charset="0"/>
                <a:ea typeface="Calibri" pitchFamily="34" charset="-122"/>
                <a:cs typeface="Calibri" pitchFamily="34" charset="-120"/>
              </a:rPr>
              <a:t>p = 0.89; people vary in both directions</a:t>
            </a:r>
            <a:endParaRPr lang="en-US" sz="1300" dirty="0"/>
          </a:p>
        </p:txBody>
      </p:sp>
      <p:sp>
        <p:nvSpPr>
          <p:cNvPr id="15" name="Shape 9"/>
          <p:cNvSpPr/>
          <p:nvPr/>
        </p:nvSpPr>
        <p:spPr>
          <a:xfrm>
            <a:off x="4297680" y="4937760"/>
            <a:ext cx="3566160" cy="1280160"/>
          </a:xfrm>
          <a:prstGeom prst="roundRect">
            <a:avLst>
              <a:gd name="adj" fmla="val 8571"/>
            </a:avLst>
          </a:prstGeom>
          <a:solidFill>
            <a:srgbClr val="E7F4EC"/>
          </a:solidFill>
          <a:ln w="12700">
            <a:solidFill>
              <a:srgbClr val="E7F4EC"/>
            </a:solidFill>
            <a:prstDash val="solid"/>
          </a:ln>
        </p:spPr>
      </p:sp>
      <p:sp>
        <p:nvSpPr>
          <p:cNvPr id="16" name="Text 10"/>
          <p:cNvSpPr txBox="1"/>
          <p:nvPr/>
        </p:nvSpPr>
        <p:spPr>
          <a:xfrm>
            <a:off x="4526280" y="5029200"/>
            <a:ext cx="3200400" cy="411480"/>
          </a:xfrm>
          <a:prstGeom prst="rect">
            <a:avLst/>
          </a:prstGeom>
          <a:noFill/>
          <a:ln/>
        </p:spPr>
        <p:txBody>
          <a:bodyPr wrap="square" lIns="0" tIns="0" rIns="0" bIns="0" rtlCol="0" anchor="ctr"/>
          <a:lstStyle/>
          <a:p>
            <a:pPr indent="0" marL="0">
              <a:buNone/>
            </a:pPr>
            <a:r>
              <a:rPr lang="en-US" sz="1900" b="1" dirty="0">
                <a:solidFill>
                  <a:srgbClr val="1E8E5A"/>
                </a:solidFill>
                <a:latin typeface="Cambria" pitchFamily="34" charset="0"/>
                <a:ea typeface="Cambria" pitchFamily="34" charset="-122"/>
                <a:cs typeface="Cambria" pitchFamily="34" charset="-120"/>
              </a:rPr>
              <a:t>Same activity flip</a:t>
            </a:r>
            <a:endParaRPr lang="en-US" sz="1900" dirty="0"/>
          </a:p>
        </p:txBody>
      </p:sp>
      <p:sp>
        <p:nvSpPr>
          <p:cNvPr id="17" name="Text 11"/>
          <p:cNvSpPr txBox="1"/>
          <p:nvPr/>
        </p:nvSpPr>
        <p:spPr>
          <a:xfrm>
            <a:off x="4526280" y="5468112"/>
            <a:ext cx="3200400" cy="685800"/>
          </a:xfrm>
          <a:prstGeom prst="rect">
            <a:avLst/>
          </a:prstGeom>
          <a:noFill/>
          <a:ln/>
        </p:spPr>
        <p:txBody>
          <a:bodyPr wrap="square" lIns="0" tIns="0" rIns="0" bIns="0" rtlCol="0" anchor="t"/>
          <a:lstStyle/>
          <a:p>
            <a:pPr indent="0" marL="0">
              <a:buNone/>
            </a:pPr>
            <a:r>
              <a:rPr lang="en-US" sz="1300" dirty="0">
                <a:solidFill>
                  <a:srgbClr val="1D2230"/>
                </a:solidFill>
                <a:latin typeface="Calibri" pitchFamily="34" charset="0"/>
                <a:ea typeface="Calibri" pitchFamily="34" charset="-122"/>
                <a:cs typeface="Calibri" pitchFamily="34" charset="-120"/>
              </a:rPr>
              <a:t>high before → low after, as in the insula (p ≈ 10⁻¹⁸)</a:t>
            </a:r>
            <a:endParaRPr lang="en-US" sz="1300" dirty="0"/>
          </a:p>
        </p:txBody>
      </p:sp>
      <p:sp>
        <p:nvSpPr>
          <p:cNvPr id="18" name="Shape 12"/>
          <p:cNvSpPr/>
          <p:nvPr/>
        </p:nvSpPr>
        <p:spPr>
          <a:xfrm>
            <a:off x="8046720" y="4937760"/>
            <a:ext cx="3566160" cy="1280160"/>
          </a:xfrm>
          <a:prstGeom prst="roundRect">
            <a:avLst>
              <a:gd name="adj" fmla="val 8571"/>
            </a:avLst>
          </a:prstGeom>
          <a:solidFill>
            <a:srgbClr val="E7F4EC"/>
          </a:solidFill>
          <a:ln w="12700">
            <a:solidFill>
              <a:srgbClr val="E7F4EC"/>
            </a:solidFill>
            <a:prstDash val="solid"/>
          </a:ln>
        </p:spPr>
      </p:sp>
      <p:sp>
        <p:nvSpPr>
          <p:cNvPr id="19" name="Text 13"/>
          <p:cNvSpPr txBox="1"/>
          <p:nvPr/>
        </p:nvSpPr>
        <p:spPr>
          <a:xfrm>
            <a:off x="8275320" y="5029200"/>
            <a:ext cx="3200400" cy="411480"/>
          </a:xfrm>
          <a:prstGeom prst="rect">
            <a:avLst/>
          </a:prstGeom>
          <a:noFill/>
          <a:ln/>
        </p:spPr>
        <p:txBody>
          <a:bodyPr wrap="square" lIns="0" tIns="0" rIns="0" bIns="0" rtlCol="0" anchor="ctr"/>
          <a:lstStyle/>
          <a:p>
            <a:pPr indent="0" marL="0">
              <a:buNone/>
            </a:pPr>
            <a:r>
              <a:rPr lang="en-US" sz="1900" b="1" dirty="0">
                <a:solidFill>
                  <a:srgbClr val="252B3D"/>
                </a:solidFill>
                <a:latin typeface="Cambria" pitchFamily="34" charset="0"/>
                <a:ea typeface="Cambria" pitchFamily="34" charset="-122"/>
                <a:cs typeface="Cambria" pitchFamily="34" charset="-120"/>
              </a:rPr>
              <a:t>Insula ≠ vmPFC</a:t>
            </a:r>
            <a:endParaRPr lang="en-US" sz="1900" dirty="0"/>
          </a:p>
        </p:txBody>
      </p:sp>
      <p:sp>
        <p:nvSpPr>
          <p:cNvPr id="20" name="Text 14"/>
          <p:cNvSpPr txBox="1"/>
          <p:nvPr/>
        </p:nvSpPr>
        <p:spPr>
          <a:xfrm>
            <a:off x="8275320" y="5468112"/>
            <a:ext cx="3200400" cy="685800"/>
          </a:xfrm>
          <a:prstGeom prst="rect">
            <a:avLst/>
          </a:prstGeom>
          <a:noFill/>
          <a:ln/>
        </p:spPr>
        <p:txBody>
          <a:bodyPr wrap="square" lIns="0" tIns="0" rIns="0" bIns="0" rtlCol="0" anchor="t"/>
          <a:lstStyle/>
          <a:p>
            <a:pPr indent="0" marL="0">
              <a:buNone/>
            </a:pPr>
            <a:r>
              <a:rPr lang="en-US" sz="1300" dirty="0">
                <a:solidFill>
                  <a:srgbClr val="1D2230"/>
                </a:solidFill>
                <a:latin typeface="Calibri" pitchFamily="34" charset="0"/>
                <a:ea typeface="Calibri" pitchFamily="34" charset="-122"/>
                <a:cs typeface="Calibri" pitchFamily="34" charset="-120"/>
              </a:rPr>
              <a:t>the effect on choices differs significantly between the two regions</a:t>
            </a:r>
            <a:endParaRPr lang="en-US" sz="1300" dirty="0"/>
          </a:p>
        </p:txBody>
      </p:sp>
      <p:sp>
        <p:nvSpPr>
          <p:cNvPr id="21" name="Text 15"/>
          <p:cNvSpPr txBox="1"/>
          <p:nvPr/>
        </p:nvSpPr>
        <p:spPr>
          <a:xfrm>
            <a:off x="548640" y="6473952"/>
            <a:ext cx="7315200" cy="256032"/>
          </a:xfrm>
          <a:prstGeom prst="rect">
            <a:avLst/>
          </a:prstGeom>
          <a:noFill/>
          <a:ln/>
        </p:spPr>
        <p:txBody>
          <a:bodyPr wrap="square" lIns="0" tIns="0" rIns="0" bIns="0" rtlCol="0" anchor="ctr"/>
          <a:lstStyle/>
          <a:p>
            <a:pPr indent="0" marL="0">
              <a:buNone/>
            </a:pPr>
            <a:r>
              <a:rPr lang="en-US" sz="950" dirty="0">
                <a:solidFill>
                  <a:srgbClr val="5B6275"/>
                </a:solidFill>
                <a:latin typeface="Calibri" pitchFamily="34" charset="0"/>
                <a:ea typeface="Calibri" pitchFamily="34" charset="-122"/>
                <a:cs typeface="Calibri" pitchFamily="34" charset="-120"/>
              </a:rPr>
              <a:t>Figure panels: Baratin et al., Nat Commun 2026 (CC BY-NC-ND 4.0)</a:t>
            </a:r>
            <a:endParaRPr lang="en-US" sz="950" dirty="0"/>
          </a:p>
        </p:txBody>
      </p:sp>
      <p:sp>
        <p:nvSpPr>
          <p:cNvPr id="22" name="Text 16"/>
          <p:cNvSpPr txBox="1"/>
          <p:nvPr/>
        </p:nvSpPr>
        <p:spPr>
          <a:xfrm>
            <a:off x="11094415" y="6473952"/>
            <a:ext cx="548640" cy="256032"/>
          </a:xfrm>
          <a:prstGeom prst="rect">
            <a:avLst/>
          </a:prstGeom>
          <a:noFill/>
          <a:ln/>
        </p:spPr>
        <p:txBody>
          <a:bodyPr wrap="square" lIns="0" tIns="0" rIns="0" bIns="0" rtlCol="0" anchor="ctr"/>
          <a:lstStyle/>
          <a:p>
            <a:pPr algn="r" indent="0" marL="0">
              <a:buNone/>
            </a:pPr>
            <a:r>
              <a:rPr lang="en-US" sz="1000" dirty="0">
                <a:solidFill>
                  <a:srgbClr val="5B6275"/>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384048"/>
            <a:ext cx="1876349" cy="292608"/>
          </a:xfrm>
          <a:prstGeom prst="roundRect">
            <a:avLst>
              <a:gd name="adj" fmla="val 50000"/>
            </a:avLst>
          </a:prstGeom>
          <a:solidFill>
            <a:srgbClr val="252B3D"/>
          </a:solidFill>
          <a:ln w="12700">
            <a:solidFill>
              <a:srgbClr val="252B3D"/>
            </a:solidFill>
            <a:prstDash val="solid"/>
          </a:ln>
        </p:spPr>
      </p:sp>
      <p:sp>
        <p:nvSpPr>
          <p:cNvPr id="4" name="Text 1"/>
          <p:cNvSpPr txBox="1"/>
          <p:nvPr/>
        </p:nvSpPr>
        <p:spPr>
          <a:xfrm>
            <a:off x="548640" y="384048"/>
            <a:ext cx="1876349" cy="29260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INTERPRETATION</a:t>
            </a:r>
            <a:endParaRPr lang="en-US" sz="1100" dirty="0"/>
          </a:p>
        </p:txBody>
      </p:sp>
      <p:sp>
        <p:nvSpPr>
          <p:cNvPr id="5" name="Text 2"/>
          <p:cNvSpPr txBox="1"/>
          <p:nvPr/>
        </p:nvSpPr>
        <p:spPr>
          <a:xfrm>
            <a:off x="548640" y="749808"/>
            <a:ext cx="11094415" cy="731520"/>
          </a:xfrm>
          <a:prstGeom prst="rect">
            <a:avLst/>
          </a:prstGeom>
          <a:noFill/>
          <a:ln/>
        </p:spPr>
        <p:txBody>
          <a:bodyPr wrap="square" lIns="0" tIns="0" rIns="0" bIns="0" rtlCol="0" anchor="t"/>
          <a:lstStyle/>
          <a:p>
            <a:pPr indent="0" marL="0">
              <a:buNone/>
            </a:pPr>
            <a:r>
              <a:rPr lang="en-US" sz="3000" b="1" dirty="0">
                <a:solidFill>
                  <a:srgbClr val="1D2230"/>
                </a:solidFill>
                <a:latin typeface="Cambria" pitchFamily="34" charset="0"/>
                <a:ea typeface="Cambria" pitchFamily="34" charset="-122"/>
                <a:cs typeface="Cambria" pitchFamily="34" charset="-120"/>
              </a:rPr>
              <a:t>Mechanism: the state before the offer shapes the reaction to it</a:t>
            </a:r>
            <a:endParaRPr lang="en-US" sz="3000" dirty="0"/>
          </a:p>
        </p:txBody>
      </p:sp>
      <p:sp>
        <p:nvSpPr>
          <p:cNvPr id="6" name="Shape 3"/>
          <p:cNvSpPr/>
          <p:nvPr/>
        </p:nvSpPr>
        <p:spPr>
          <a:xfrm>
            <a:off x="548640" y="1737360"/>
            <a:ext cx="2514600" cy="1920240"/>
          </a:xfrm>
          <a:prstGeom prst="roundRect">
            <a:avLst>
              <a:gd name="adj" fmla="val 5714"/>
            </a:avLst>
          </a:prstGeom>
          <a:solidFill>
            <a:srgbClr val="C8203F"/>
          </a:solidFill>
          <a:ln w="12700">
            <a:solidFill>
              <a:srgbClr val="C8203F"/>
            </a:solidFill>
            <a:prstDash val="solid"/>
          </a:ln>
        </p:spPr>
      </p:sp>
      <p:sp>
        <p:nvSpPr>
          <p:cNvPr id="7" name="Text 4"/>
          <p:cNvSpPr txBox="1"/>
          <p:nvPr/>
        </p:nvSpPr>
        <p:spPr>
          <a:xfrm>
            <a:off x="777240" y="1874520"/>
            <a:ext cx="2057400" cy="96012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Insula highly active before the offer</a:t>
            </a:r>
            <a:endParaRPr lang="en-US" sz="1800" dirty="0"/>
          </a:p>
        </p:txBody>
      </p:sp>
      <p:sp>
        <p:nvSpPr>
          <p:cNvPr id="8" name="Text 5"/>
          <p:cNvSpPr txBox="1"/>
          <p:nvPr/>
        </p:nvSpPr>
        <p:spPr>
          <a:xfrm>
            <a:off x="777240" y="2880360"/>
            <a:ext cx="2057400" cy="640080"/>
          </a:xfrm>
          <a:prstGeom prst="rect">
            <a:avLst/>
          </a:prstGeom>
          <a:noFill/>
          <a:ln/>
        </p:spPr>
        <p:txBody>
          <a:bodyPr wrap="square" lIns="0" tIns="0" rIns="0" bIns="0" rtlCol="0" anchor="t"/>
          <a:lstStyle/>
          <a:p>
            <a:pPr indent="0" marL="0">
              <a:buNone/>
            </a:pPr>
            <a:r>
              <a:rPr lang="en-US" sz="1300" dirty="0">
                <a:solidFill>
                  <a:srgbClr val="E6E9F0"/>
                </a:solidFill>
                <a:latin typeface="Calibri" pitchFamily="34" charset="0"/>
                <a:ea typeface="Calibri" pitchFamily="34" charset="-122"/>
                <a:cs typeface="Calibri" pitchFamily="34" charset="-120"/>
              </a:rPr>
              <a:t>spontaneous up-state</a:t>
            </a:r>
            <a:endParaRPr lang="en-US" sz="1300" dirty="0"/>
          </a:p>
        </p:txBody>
      </p:sp>
      <p:sp>
        <p:nvSpPr>
          <p:cNvPr id="9" name="Text 6"/>
          <p:cNvSpPr txBox="1"/>
          <p:nvPr/>
        </p:nvSpPr>
        <p:spPr>
          <a:xfrm>
            <a:off x="3063240" y="2377440"/>
            <a:ext cx="338328" cy="548640"/>
          </a:xfrm>
          <a:prstGeom prst="rect">
            <a:avLst/>
          </a:prstGeom>
          <a:noFill/>
          <a:ln/>
        </p:spPr>
        <p:txBody>
          <a:bodyPr wrap="square" lIns="0" tIns="0" rIns="0" bIns="0" rtlCol="0" anchor="ctr"/>
          <a:lstStyle/>
          <a:p>
            <a:pPr algn="ctr" indent="0" marL="0">
              <a:buNone/>
            </a:pPr>
            <a:r>
              <a:rPr lang="en-US" sz="3000" b="1" dirty="0">
                <a:solidFill>
                  <a:srgbClr val="9AA3B8"/>
                </a:solidFill>
                <a:latin typeface="Calibri" pitchFamily="34" charset="0"/>
                <a:ea typeface="Calibri" pitchFamily="34" charset="-122"/>
                <a:cs typeface="Calibri" pitchFamily="34" charset="-120"/>
              </a:rPr>
              <a:t>›</a:t>
            </a:r>
            <a:endParaRPr lang="en-US" sz="3000" dirty="0"/>
          </a:p>
        </p:txBody>
      </p:sp>
      <p:sp>
        <p:nvSpPr>
          <p:cNvPr id="10" name="Shape 7"/>
          <p:cNvSpPr/>
          <p:nvPr/>
        </p:nvSpPr>
        <p:spPr>
          <a:xfrm>
            <a:off x="3401568" y="1737360"/>
            <a:ext cx="2514600" cy="1920240"/>
          </a:xfrm>
          <a:prstGeom prst="roundRect">
            <a:avLst>
              <a:gd name="adj" fmla="val 5714"/>
            </a:avLst>
          </a:prstGeom>
          <a:solidFill>
            <a:srgbClr val="1F6FC5"/>
          </a:solidFill>
          <a:ln w="12700">
            <a:solidFill>
              <a:srgbClr val="1F6FC5"/>
            </a:solidFill>
            <a:prstDash val="solid"/>
          </a:ln>
        </p:spPr>
      </p:sp>
      <p:sp>
        <p:nvSpPr>
          <p:cNvPr id="11" name="Text 8"/>
          <p:cNvSpPr txBox="1"/>
          <p:nvPr/>
        </p:nvSpPr>
        <p:spPr>
          <a:xfrm>
            <a:off x="3630168" y="1874520"/>
            <a:ext cx="2057400" cy="96012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Weaker insula reaction to the offer</a:t>
            </a:r>
            <a:endParaRPr lang="en-US" sz="1800" dirty="0"/>
          </a:p>
        </p:txBody>
      </p:sp>
      <p:sp>
        <p:nvSpPr>
          <p:cNvPr id="12" name="Text 9"/>
          <p:cNvSpPr txBox="1"/>
          <p:nvPr/>
        </p:nvSpPr>
        <p:spPr>
          <a:xfrm>
            <a:off x="3630168" y="2880360"/>
            <a:ext cx="2057400" cy="640080"/>
          </a:xfrm>
          <a:prstGeom prst="rect">
            <a:avLst/>
          </a:prstGeom>
          <a:noFill/>
          <a:ln/>
        </p:spPr>
        <p:txBody>
          <a:bodyPr wrap="square" lIns="0" tIns="0" rIns="0" bIns="0" rtlCol="0" anchor="t"/>
          <a:lstStyle/>
          <a:p>
            <a:pPr indent="0" marL="0">
              <a:buNone/>
            </a:pPr>
            <a:r>
              <a:rPr lang="en-US" sz="1300" dirty="0">
                <a:solidFill>
                  <a:srgbClr val="E6E9F0"/>
                </a:solidFill>
                <a:latin typeface="Calibri" pitchFamily="34" charset="0"/>
                <a:ea typeface="Calibri" pitchFamily="34" charset="-122"/>
                <a:cs typeface="Calibri" pitchFamily="34" charset="-120"/>
              </a:rPr>
              <a:t>high activity before → smaller response after</a:t>
            </a:r>
            <a:endParaRPr lang="en-US" sz="1300" dirty="0"/>
          </a:p>
        </p:txBody>
      </p:sp>
      <p:sp>
        <p:nvSpPr>
          <p:cNvPr id="13" name="Text 10"/>
          <p:cNvSpPr txBox="1"/>
          <p:nvPr/>
        </p:nvSpPr>
        <p:spPr>
          <a:xfrm>
            <a:off x="5916168" y="2377440"/>
            <a:ext cx="338328" cy="548640"/>
          </a:xfrm>
          <a:prstGeom prst="rect">
            <a:avLst/>
          </a:prstGeom>
          <a:noFill/>
          <a:ln/>
        </p:spPr>
        <p:txBody>
          <a:bodyPr wrap="square" lIns="0" tIns="0" rIns="0" bIns="0" rtlCol="0" anchor="ctr"/>
          <a:lstStyle/>
          <a:p>
            <a:pPr algn="ctr" indent="0" marL="0">
              <a:buNone/>
            </a:pPr>
            <a:r>
              <a:rPr lang="en-US" sz="3000" b="1" dirty="0">
                <a:solidFill>
                  <a:srgbClr val="9AA3B8"/>
                </a:solidFill>
                <a:latin typeface="Calibri" pitchFamily="34" charset="0"/>
                <a:ea typeface="Calibri" pitchFamily="34" charset="-122"/>
                <a:cs typeface="Calibri" pitchFamily="34" charset="-120"/>
              </a:rPr>
              <a:t>›</a:t>
            </a:r>
            <a:endParaRPr lang="en-US" sz="3000" dirty="0"/>
          </a:p>
        </p:txBody>
      </p:sp>
      <p:sp>
        <p:nvSpPr>
          <p:cNvPr id="14" name="Shape 11"/>
          <p:cNvSpPr/>
          <p:nvPr/>
        </p:nvSpPr>
        <p:spPr>
          <a:xfrm>
            <a:off x="6254496" y="1737360"/>
            <a:ext cx="2514600" cy="1920240"/>
          </a:xfrm>
          <a:prstGeom prst="roundRect">
            <a:avLst>
              <a:gd name="adj" fmla="val 5714"/>
            </a:avLst>
          </a:prstGeom>
          <a:solidFill>
            <a:srgbClr val="252B3D"/>
          </a:solidFill>
          <a:ln w="12700">
            <a:solidFill>
              <a:srgbClr val="252B3D"/>
            </a:solidFill>
            <a:prstDash val="solid"/>
          </a:ln>
        </p:spPr>
      </p:sp>
      <p:sp>
        <p:nvSpPr>
          <p:cNvPr id="15" name="Text 12"/>
          <p:cNvSpPr txBox="1"/>
          <p:nvPr/>
        </p:nvSpPr>
        <p:spPr>
          <a:xfrm>
            <a:off x="6483096" y="1874520"/>
            <a:ext cx="2057400" cy="96012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Unpleasant part carries less weight</a:t>
            </a:r>
            <a:endParaRPr lang="en-US" sz="1800" dirty="0"/>
          </a:p>
        </p:txBody>
      </p:sp>
      <p:sp>
        <p:nvSpPr>
          <p:cNvPr id="16" name="Text 13"/>
          <p:cNvSpPr txBox="1"/>
          <p:nvPr/>
        </p:nvSpPr>
        <p:spPr>
          <a:xfrm>
            <a:off x="6483096" y="2880360"/>
            <a:ext cx="2057400" cy="640080"/>
          </a:xfrm>
          <a:prstGeom prst="rect">
            <a:avLst/>
          </a:prstGeom>
          <a:noFill/>
          <a:ln/>
        </p:spPr>
        <p:txBody>
          <a:bodyPr wrap="square" lIns="0" tIns="0" rIns="0" bIns="0" rtlCol="0" anchor="t"/>
          <a:lstStyle/>
          <a:p>
            <a:pPr indent="0" marL="0">
              <a:buNone/>
            </a:pPr>
            <a:r>
              <a:rPr lang="en-US" sz="1300" dirty="0">
                <a:solidFill>
                  <a:srgbClr val="E6E9F0"/>
                </a:solidFill>
                <a:latin typeface="Calibri" pitchFamily="34" charset="0"/>
                <a:ea typeface="Calibri" pitchFamily="34" charset="-122"/>
                <a:cs typeface="Calibri" pitchFamily="34" charset="-120"/>
              </a:rPr>
              <a:t>“losing my keys” feels less bad</a:t>
            </a:r>
            <a:endParaRPr lang="en-US" sz="1300" dirty="0"/>
          </a:p>
        </p:txBody>
      </p:sp>
      <p:sp>
        <p:nvSpPr>
          <p:cNvPr id="17" name="Text 14"/>
          <p:cNvSpPr txBox="1"/>
          <p:nvPr/>
        </p:nvSpPr>
        <p:spPr>
          <a:xfrm>
            <a:off x="8769096" y="2377440"/>
            <a:ext cx="338328" cy="548640"/>
          </a:xfrm>
          <a:prstGeom prst="rect">
            <a:avLst/>
          </a:prstGeom>
          <a:noFill/>
          <a:ln/>
        </p:spPr>
        <p:txBody>
          <a:bodyPr wrap="square" lIns="0" tIns="0" rIns="0" bIns="0" rtlCol="0" anchor="ctr"/>
          <a:lstStyle/>
          <a:p>
            <a:pPr algn="ctr" indent="0" marL="0">
              <a:buNone/>
            </a:pPr>
            <a:r>
              <a:rPr lang="en-US" sz="3000" b="1" dirty="0">
                <a:solidFill>
                  <a:srgbClr val="9AA3B8"/>
                </a:solidFill>
                <a:latin typeface="Calibri" pitchFamily="34" charset="0"/>
                <a:ea typeface="Calibri" pitchFamily="34" charset="-122"/>
                <a:cs typeface="Calibri" pitchFamily="34" charset="-120"/>
              </a:rPr>
              <a:t>›</a:t>
            </a:r>
            <a:endParaRPr lang="en-US" sz="3000" dirty="0"/>
          </a:p>
        </p:txBody>
      </p:sp>
      <p:sp>
        <p:nvSpPr>
          <p:cNvPr id="18" name="Shape 15"/>
          <p:cNvSpPr/>
          <p:nvPr/>
        </p:nvSpPr>
        <p:spPr>
          <a:xfrm>
            <a:off x="9107424" y="1737360"/>
            <a:ext cx="2514600" cy="1920240"/>
          </a:xfrm>
          <a:prstGeom prst="roundRect">
            <a:avLst>
              <a:gd name="adj" fmla="val 5714"/>
            </a:avLst>
          </a:prstGeom>
          <a:solidFill>
            <a:srgbClr val="1E8E5A"/>
          </a:solidFill>
          <a:ln w="12700">
            <a:solidFill>
              <a:srgbClr val="1E8E5A"/>
            </a:solidFill>
            <a:prstDash val="solid"/>
          </a:ln>
        </p:spPr>
      </p:sp>
      <p:sp>
        <p:nvSpPr>
          <p:cNvPr id="19" name="Text 16"/>
          <p:cNvSpPr txBox="1"/>
          <p:nvPr/>
        </p:nvSpPr>
        <p:spPr>
          <a:xfrm>
            <a:off x="9336024" y="1874520"/>
            <a:ext cx="2057400" cy="96012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More likely to accept</a:t>
            </a:r>
            <a:endParaRPr lang="en-US" sz="1800" dirty="0"/>
          </a:p>
        </p:txBody>
      </p:sp>
      <p:sp>
        <p:nvSpPr>
          <p:cNvPr id="20" name="Text 17"/>
          <p:cNvSpPr txBox="1"/>
          <p:nvPr/>
        </p:nvSpPr>
        <p:spPr>
          <a:xfrm>
            <a:off x="9336024" y="2880360"/>
            <a:ext cx="2057400" cy="640080"/>
          </a:xfrm>
          <a:prstGeom prst="rect">
            <a:avLst/>
          </a:prstGeom>
          <a:noFill/>
          <a:ln/>
        </p:spPr>
        <p:txBody>
          <a:bodyPr wrap="square" lIns="0" tIns="0" rIns="0" bIns="0" rtlCol="0" anchor="t"/>
          <a:lstStyle/>
          <a:p>
            <a:pPr indent="0" marL="0">
              <a:buNone/>
            </a:pPr>
            <a:r>
              <a:rPr lang="en-US" sz="1300" dirty="0">
                <a:solidFill>
                  <a:srgbClr val="E6E9F0"/>
                </a:solidFill>
                <a:latin typeface="Calibri" pitchFamily="34" charset="0"/>
                <a:ea typeface="Calibri" pitchFamily="34" charset="-122"/>
                <a:cs typeface="Calibri" pitchFamily="34" charset="-120"/>
              </a:rPr>
              <a:t>especially for hard, 50/50 offers</a:t>
            </a:r>
            <a:endParaRPr lang="en-US" sz="1300" dirty="0"/>
          </a:p>
        </p:txBody>
      </p:sp>
      <p:sp>
        <p:nvSpPr>
          <p:cNvPr id="21" name="Text 18"/>
          <p:cNvSpPr txBox="1"/>
          <p:nvPr/>
        </p:nvSpPr>
        <p:spPr>
          <a:xfrm>
            <a:off x="548640" y="3977640"/>
            <a:ext cx="10972800" cy="411480"/>
          </a:xfrm>
          <a:prstGeom prst="rect">
            <a:avLst/>
          </a:prstGeom>
          <a:noFill/>
          <a:ln/>
        </p:spPr>
        <p:txBody>
          <a:bodyPr wrap="square" lIns="0" tIns="0" rIns="0" bIns="0" rtlCol="0" anchor="ctr"/>
          <a:lstStyle/>
          <a:p>
            <a:pPr indent="0" marL="0">
              <a:buNone/>
            </a:pPr>
            <a:r>
              <a:rPr lang="en-US" sz="1900" b="1" dirty="0">
                <a:solidFill>
                  <a:srgbClr val="1D2230"/>
                </a:solidFill>
                <a:latin typeface="Cambria" pitchFamily="34" charset="0"/>
                <a:ea typeface="Cambria" pitchFamily="34" charset="-122"/>
                <a:cs typeface="Cambria" pitchFamily="34" charset="-120"/>
              </a:rPr>
              <a:t>Other evidence that the insula weighs unpleasant outcomes</a:t>
            </a:r>
            <a:endParaRPr lang="en-US" sz="1900" dirty="0"/>
          </a:p>
        </p:txBody>
      </p:sp>
      <p:sp>
        <p:nvSpPr>
          <p:cNvPr id="22" name="Shape 19"/>
          <p:cNvSpPr/>
          <p:nvPr/>
        </p:nvSpPr>
        <p:spPr>
          <a:xfrm>
            <a:off x="548640" y="4526280"/>
            <a:ext cx="2103120" cy="1691640"/>
          </a:xfrm>
          <a:prstGeom prst="roundRect">
            <a:avLst>
              <a:gd name="adj" fmla="val 6486"/>
            </a:avLst>
          </a:prstGeom>
          <a:solidFill>
            <a:srgbClr val="F2F4F8"/>
          </a:solidFill>
          <a:ln w="12700">
            <a:solidFill>
              <a:srgbClr val="F2F4F8"/>
            </a:solidFill>
            <a:prstDash val="solid"/>
          </a:ln>
        </p:spPr>
      </p:sp>
      <p:sp>
        <p:nvSpPr>
          <p:cNvPr id="23" name="Text 20"/>
          <p:cNvSpPr txBox="1"/>
          <p:nvPr/>
        </p:nvSpPr>
        <p:spPr>
          <a:xfrm>
            <a:off x="731520" y="4617720"/>
            <a:ext cx="1737360" cy="365760"/>
          </a:xfrm>
          <a:prstGeom prst="rect">
            <a:avLst/>
          </a:prstGeom>
          <a:noFill/>
          <a:ln/>
        </p:spPr>
        <p:txBody>
          <a:bodyPr wrap="square" lIns="0" tIns="0" rIns="0" bIns="0" rtlCol="0" anchor="ctr"/>
          <a:lstStyle/>
          <a:p>
            <a:pPr indent="0" marL="0">
              <a:buNone/>
            </a:pPr>
            <a:r>
              <a:rPr lang="en-US" sz="1500" b="1" dirty="0">
                <a:solidFill>
                  <a:srgbClr val="C8203F"/>
                </a:solidFill>
                <a:latin typeface="Calibri" pitchFamily="34" charset="0"/>
                <a:ea typeface="Calibri" pitchFamily="34" charset="-122"/>
                <a:cs typeface="Calibri" pitchFamily="34" charset="-120"/>
              </a:rPr>
              <a:t>Stimulation</a:t>
            </a:r>
            <a:endParaRPr lang="en-US" sz="1500" dirty="0"/>
          </a:p>
        </p:txBody>
      </p:sp>
      <p:sp>
        <p:nvSpPr>
          <p:cNvPr id="24" name="Text 21"/>
          <p:cNvSpPr txBox="1"/>
          <p:nvPr/>
        </p:nvSpPr>
        <p:spPr>
          <a:xfrm>
            <a:off x="731520" y="5001768"/>
            <a:ext cx="1737360" cy="1143000"/>
          </a:xfrm>
          <a:prstGeom prst="rect">
            <a:avLst/>
          </a:prstGeom>
          <a:noFill/>
          <a:ln/>
        </p:spPr>
        <p:txBody>
          <a:bodyPr wrap="square" lIns="0" tIns="0" rIns="0" bIns="0" rtlCol="0" anchor="t"/>
          <a:lstStyle/>
          <a:p>
            <a:pPr indent="0" marL="0">
              <a:buNone/>
            </a:pPr>
            <a:r>
              <a:rPr lang="en-US" sz="1300" dirty="0">
                <a:solidFill>
                  <a:srgbClr val="1D2230"/>
                </a:solidFill>
                <a:latin typeface="Calibri" pitchFamily="34" charset="0"/>
                <a:ea typeface="Calibri" pitchFamily="34" charset="-122"/>
                <a:cs typeface="Calibri" pitchFamily="34" charset="-120"/>
              </a:rPr>
              <a:t>Stimulating the insula changes how much losses matter</a:t>
            </a:r>
            <a:endParaRPr lang="en-US" sz="1300" dirty="0"/>
          </a:p>
        </p:txBody>
      </p:sp>
      <p:sp>
        <p:nvSpPr>
          <p:cNvPr id="25" name="Shape 22"/>
          <p:cNvSpPr/>
          <p:nvPr/>
        </p:nvSpPr>
        <p:spPr>
          <a:xfrm>
            <a:off x="2788920" y="4526280"/>
            <a:ext cx="2103120" cy="1691640"/>
          </a:xfrm>
          <a:prstGeom prst="roundRect">
            <a:avLst>
              <a:gd name="adj" fmla="val 6486"/>
            </a:avLst>
          </a:prstGeom>
          <a:solidFill>
            <a:srgbClr val="F2F4F8"/>
          </a:solidFill>
          <a:ln w="12700">
            <a:solidFill>
              <a:srgbClr val="F2F4F8"/>
            </a:solidFill>
            <a:prstDash val="solid"/>
          </a:ln>
        </p:spPr>
      </p:sp>
      <p:sp>
        <p:nvSpPr>
          <p:cNvPr id="26" name="Text 23"/>
          <p:cNvSpPr txBox="1"/>
          <p:nvPr/>
        </p:nvSpPr>
        <p:spPr>
          <a:xfrm>
            <a:off x="2971800" y="4617720"/>
            <a:ext cx="1737360" cy="365760"/>
          </a:xfrm>
          <a:prstGeom prst="rect">
            <a:avLst/>
          </a:prstGeom>
          <a:noFill/>
          <a:ln/>
        </p:spPr>
        <p:txBody>
          <a:bodyPr wrap="square" lIns="0" tIns="0" rIns="0" bIns="0" rtlCol="0" anchor="ctr"/>
          <a:lstStyle/>
          <a:p>
            <a:pPr indent="0" marL="0">
              <a:buNone/>
            </a:pPr>
            <a:r>
              <a:rPr lang="en-US" sz="1500" b="1" dirty="0">
                <a:solidFill>
                  <a:srgbClr val="C8203F"/>
                </a:solidFill>
                <a:latin typeface="Calibri" pitchFamily="34" charset="0"/>
                <a:ea typeface="Calibri" pitchFamily="34" charset="-122"/>
                <a:cs typeface="Calibri" pitchFamily="34" charset="-120"/>
              </a:rPr>
              <a:t>Brain damage</a:t>
            </a:r>
            <a:endParaRPr lang="en-US" sz="1500" dirty="0"/>
          </a:p>
        </p:txBody>
      </p:sp>
      <p:sp>
        <p:nvSpPr>
          <p:cNvPr id="27" name="Text 24"/>
          <p:cNvSpPr txBox="1"/>
          <p:nvPr/>
        </p:nvSpPr>
        <p:spPr>
          <a:xfrm>
            <a:off x="2971800" y="5001768"/>
            <a:ext cx="1737360" cy="1143000"/>
          </a:xfrm>
          <a:prstGeom prst="rect">
            <a:avLst/>
          </a:prstGeom>
          <a:noFill/>
          <a:ln/>
        </p:spPr>
        <p:txBody>
          <a:bodyPr wrap="square" lIns="0" tIns="0" rIns="0" bIns="0" rtlCol="0" anchor="t"/>
          <a:lstStyle/>
          <a:p>
            <a:pPr indent="0" marL="0">
              <a:buNone/>
            </a:pPr>
            <a:r>
              <a:rPr lang="en-US" sz="1300" dirty="0">
                <a:solidFill>
                  <a:srgbClr val="1D2230"/>
                </a:solidFill>
                <a:latin typeface="Calibri" pitchFamily="34" charset="0"/>
                <a:ea typeface="Calibri" pitchFamily="34" charset="-122"/>
                <a:cs typeface="Calibri" pitchFamily="34" charset="-120"/>
              </a:rPr>
              <a:t>Insula damage impairs learning from punishment, not reward</a:t>
            </a:r>
            <a:endParaRPr lang="en-US" sz="1300" dirty="0"/>
          </a:p>
        </p:txBody>
      </p:sp>
      <p:sp>
        <p:nvSpPr>
          <p:cNvPr id="28" name="Shape 25"/>
          <p:cNvSpPr/>
          <p:nvPr/>
        </p:nvSpPr>
        <p:spPr>
          <a:xfrm>
            <a:off x="5029200" y="4526280"/>
            <a:ext cx="2103120" cy="1691640"/>
          </a:xfrm>
          <a:prstGeom prst="roundRect">
            <a:avLst>
              <a:gd name="adj" fmla="val 6486"/>
            </a:avLst>
          </a:prstGeom>
          <a:solidFill>
            <a:srgbClr val="F2F4F8"/>
          </a:solidFill>
          <a:ln w="12700">
            <a:solidFill>
              <a:srgbClr val="F2F4F8"/>
            </a:solidFill>
            <a:prstDash val="solid"/>
          </a:ln>
        </p:spPr>
      </p:sp>
      <p:sp>
        <p:nvSpPr>
          <p:cNvPr id="29" name="Text 26"/>
          <p:cNvSpPr txBox="1"/>
          <p:nvPr/>
        </p:nvSpPr>
        <p:spPr>
          <a:xfrm>
            <a:off x="5212080" y="4617720"/>
            <a:ext cx="1737360" cy="365760"/>
          </a:xfrm>
          <a:prstGeom prst="rect">
            <a:avLst/>
          </a:prstGeom>
          <a:noFill/>
          <a:ln/>
        </p:spPr>
        <p:txBody>
          <a:bodyPr wrap="square" lIns="0" tIns="0" rIns="0" bIns="0" rtlCol="0" anchor="ctr"/>
          <a:lstStyle/>
          <a:p>
            <a:pPr indent="0" marL="0">
              <a:buNone/>
            </a:pPr>
            <a:r>
              <a:rPr lang="en-US" sz="1500" b="1" dirty="0">
                <a:solidFill>
                  <a:srgbClr val="C8203F"/>
                </a:solidFill>
                <a:latin typeface="Calibri" pitchFamily="34" charset="0"/>
                <a:ea typeface="Calibri" pitchFamily="34" charset="-122"/>
                <a:cs typeface="Calibri" pitchFamily="34" charset="-120"/>
              </a:rPr>
              <a:t>Recordings</a:t>
            </a:r>
            <a:endParaRPr lang="en-US" sz="1500" dirty="0"/>
          </a:p>
        </p:txBody>
      </p:sp>
      <p:sp>
        <p:nvSpPr>
          <p:cNvPr id="30" name="Text 27"/>
          <p:cNvSpPr txBox="1"/>
          <p:nvPr/>
        </p:nvSpPr>
        <p:spPr>
          <a:xfrm>
            <a:off x="5212080" y="5001768"/>
            <a:ext cx="1737360" cy="1143000"/>
          </a:xfrm>
          <a:prstGeom prst="rect">
            <a:avLst/>
          </a:prstGeom>
          <a:noFill/>
          <a:ln/>
        </p:spPr>
        <p:txBody>
          <a:bodyPr wrap="square" lIns="0" tIns="0" rIns="0" bIns="0" rtlCol="0" anchor="t"/>
          <a:lstStyle/>
          <a:p>
            <a:pPr indent="0" marL="0">
              <a:buNone/>
            </a:pPr>
            <a:r>
              <a:rPr lang="en-US" sz="1300" dirty="0">
                <a:solidFill>
                  <a:srgbClr val="1D2230"/>
                </a:solidFill>
                <a:latin typeface="Calibri" pitchFamily="34" charset="0"/>
                <a:ea typeface="Calibri" pitchFamily="34" charset="-122"/>
                <a:cs typeface="Calibri" pitchFamily="34" charset="-120"/>
              </a:rPr>
              <a:t>Insula activity tracks bad surprises more than good ones</a:t>
            </a:r>
            <a:endParaRPr lang="en-US" sz="1300" dirty="0"/>
          </a:p>
        </p:txBody>
      </p:sp>
      <p:sp>
        <p:nvSpPr>
          <p:cNvPr id="31" name="Shape 28"/>
          <p:cNvSpPr/>
          <p:nvPr/>
        </p:nvSpPr>
        <p:spPr>
          <a:xfrm>
            <a:off x="7269480" y="4526280"/>
            <a:ext cx="2103120" cy="1691640"/>
          </a:xfrm>
          <a:prstGeom prst="roundRect">
            <a:avLst>
              <a:gd name="adj" fmla="val 6486"/>
            </a:avLst>
          </a:prstGeom>
          <a:solidFill>
            <a:srgbClr val="F2F4F8"/>
          </a:solidFill>
          <a:ln w="12700">
            <a:solidFill>
              <a:srgbClr val="F2F4F8"/>
            </a:solidFill>
            <a:prstDash val="solid"/>
          </a:ln>
        </p:spPr>
      </p:sp>
      <p:sp>
        <p:nvSpPr>
          <p:cNvPr id="32" name="Text 29"/>
          <p:cNvSpPr txBox="1"/>
          <p:nvPr/>
        </p:nvSpPr>
        <p:spPr>
          <a:xfrm>
            <a:off x="7452360" y="4617720"/>
            <a:ext cx="1737360" cy="365760"/>
          </a:xfrm>
          <a:prstGeom prst="rect">
            <a:avLst/>
          </a:prstGeom>
          <a:noFill/>
          <a:ln/>
        </p:spPr>
        <p:txBody>
          <a:bodyPr wrap="square" lIns="0" tIns="0" rIns="0" bIns="0" rtlCol="0" anchor="ctr"/>
          <a:lstStyle/>
          <a:p>
            <a:pPr indent="0" marL="0">
              <a:buNone/>
            </a:pPr>
            <a:r>
              <a:rPr lang="en-US" sz="1500" b="1" dirty="0">
                <a:solidFill>
                  <a:srgbClr val="C8203F"/>
                </a:solidFill>
                <a:latin typeface="Calibri" pitchFamily="34" charset="0"/>
                <a:ea typeface="Calibri" pitchFamily="34" charset="-122"/>
                <a:cs typeface="Calibri" pitchFamily="34" charset="-120"/>
              </a:rPr>
              <a:t>Single neurons</a:t>
            </a:r>
            <a:endParaRPr lang="en-US" sz="1500" dirty="0"/>
          </a:p>
        </p:txBody>
      </p:sp>
      <p:sp>
        <p:nvSpPr>
          <p:cNvPr id="33" name="Text 30"/>
          <p:cNvSpPr txBox="1"/>
          <p:nvPr/>
        </p:nvSpPr>
        <p:spPr>
          <a:xfrm>
            <a:off x="7452360" y="5001768"/>
            <a:ext cx="1737360" cy="1143000"/>
          </a:xfrm>
          <a:prstGeom prst="rect">
            <a:avLst/>
          </a:prstGeom>
          <a:noFill/>
          <a:ln/>
        </p:spPr>
        <p:txBody>
          <a:bodyPr wrap="square" lIns="0" tIns="0" rIns="0" bIns="0" rtlCol="0" anchor="t"/>
          <a:lstStyle/>
          <a:p>
            <a:pPr indent="0" marL="0">
              <a:buNone/>
            </a:pPr>
            <a:r>
              <a:rPr lang="en-US" sz="1300" dirty="0">
                <a:solidFill>
                  <a:srgbClr val="1D2230"/>
                </a:solidFill>
                <a:latin typeface="Calibri" pitchFamily="34" charset="0"/>
                <a:ea typeface="Calibri" pitchFamily="34" charset="-122"/>
                <a:cs typeface="Calibri" pitchFamily="34" charset="-120"/>
              </a:rPr>
              <a:t>More insula neurons respond to losses than to gains</a:t>
            </a:r>
            <a:endParaRPr lang="en-US" sz="1300" dirty="0"/>
          </a:p>
        </p:txBody>
      </p:sp>
      <p:sp>
        <p:nvSpPr>
          <p:cNvPr id="34" name="Shape 31"/>
          <p:cNvSpPr/>
          <p:nvPr/>
        </p:nvSpPr>
        <p:spPr>
          <a:xfrm>
            <a:off x="9509760" y="4526280"/>
            <a:ext cx="2103120" cy="1691640"/>
          </a:xfrm>
          <a:prstGeom prst="roundRect">
            <a:avLst>
              <a:gd name="adj" fmla="val 6486"/>
            </a:avLst>
          </a:prstGeom>
          <a:solidFill>
            <a:srgbClr val="F2F4F8"/>
          </a:solidFill>
          <a:ln w="12700">
            <a:solidFill>
              <a:srgbClr val="F2F4F8"/>
            </a:solidFill>
            <a:prstDash val="solid"/>
          </a:ln>
        </p:spPr>
      </p:sp>
      <p:sp>
        <p:nvSpPr>
          <p:cNvPr id="35" name="Text 32"/>
          <p:cNvSpPr txBox="1"/>
          <p:nvPr/>
        </p:nvSpPr>
        <p:spPr>
          <a:xfrm>
            <a:off x="9692640" y="4617720"/>
            <a:ext cx="1737360" cy="365760"/>
          </a:xfrm>
          <a:prstGeom prst="rect">
            <a:avLst/>
          </a:prstGeom>
          <a:noFill/>
          <a:ln/>
        </p:spPr>
        <p:txBody>
          <a:bodyPr wrap="square" lIns="0" tIns="0" rIns="0" bIns="0" rtlCol="0" anchor="ctr"/>
          <a:lstStyle/>
          <a:p>
            <a:pPr indent="0" marL="0">
              <a:buNone/>
            </a:pPr>
            <a:r>
              <a:rPr lang="en-US" sz="1500" b="1" dirty="0">
                <a:solidFill>
                  <a:srgbClr val="C8203F"/>
                </a:solidFill>
                <a:latin typeface="Calibri" pitchFamily="34" charset="0"/>
                <a:ea typeface="Calibri" pitchFamily="34" charset="-122"/>
                <a:cs typeface="Calibri" pitchFamily="34" charset="-120"/>
              </a:rPr>
              <a:t>Brain-scanner BCI</a:t>
            </a:r>
            <a:endParaRPr lang="en-US" sz="1500" dirty="0"/>
          </a:p>
        </p:txBody>
      </p:sp>
      <p:sp>
        <p:nvSpPr>
          <p:cNvPr id="36" name="Text 33"/>
          <p:cNvSpPr txBox="1"/>
          <p:nvPr/>
        </p:nvSpPr>
        <p:spPr>
          <a:xfrm>
            <a:off x="9692640" y="5001768"/>
            <a:ext cx="1737360" cy="1143000"/>
          </a:xfrm>
          <a:prstGeom prst="rect">
            <a:avLst/>
          </a:prstGeom>
          <a:noFill/>
          <a:ln/>
        </p:spPr>
        <p:txBody>
          <a:bodyPr wrap="square" lIns="0" tIns="0" rIns="0" bIns="0" rtlCol="0" anchor="t"/>
          <a:lstStyle/>
          <a:p>
            <a:pPr indent="0" marL="0">
              <a:buNone/>
            </a:pPr>
            <a:r>
              <a:rPr lang="en-US" sz="1300" dirty="0">
                <a:solidFill>
                  <a:srgbClr val="1D2230"/>
                </a:solidFill>
                <a:latin typeface="Calibri" pitchFamily="34" charset="0"/>
                <a:ea typeface="Calibri" pitchFamily="34" charset="-122"/>
                <a:cs typeface="Calibri" pitchFamily="34" charset="-120"/>
              </a:rPr>
              <a:t>Spontaneous activity in a reward region also sways choices (2019)</a:t>
            </a:r>
            <a:endParaRPr lang="en-US" sz="1300" dirty="0"/>
          </a:p>
        </p:txBody>
      </p:sp>
      <p:sp>
        <p:nvSpPr>
          <p:cNvPr id="37" name="Text 34"/>
          <p:cNvSpPr txBox="1"/>
          <p:nvPr/>
        </p:nvSpPr>
        <p:spPr>
          <a:xfrm>
            <a:off x="548640" y="6473952"/>
            <a:ext cx="7315200" cy="256032"/>
          </a:xfrm>
          <a:prstGeom prst="rect">
            <a:avLst/>
          </a:prstGeom>
          <a:noFill/>
          <a:ln/>
        </p:spPr>
        <p:txBody>
          <a:bodyPr wrap="square" lIns="0" tIns="0" rIns="0" bIns="0" rtlCol="0" anchor="ctr"/>
          <a:lstStyle/>
          <a:p>
            <a:pPr indent="0" marL="0">
              <a:buNone/>
            </a:pPr>
            <a:r>
              <a:rPr lang="en-US" sz="950" dirty="0">
                <a:solidFill>
                  <a:srgbClr val="5B6275"/>
                </a:solidFill>
                <a:latin typeface="Calibri" pitchFamily="34" charset="0"/>
                <a:ea typeface="Calibri" pitchFamily="34" charset="-122"/>
                <a:cs typeface="Calibri" pitchFamily="34" charset="-120"/>
              </a:rPr>
              <a:t>Baratin et al., Nature Communications (2026)</a:t>
            </a:r>
            <a:endParaRPr lang="en-US" sz="950" dirty="0"/>
          </a:p>
        </p:txBody>
      </p:sp>
      <p:sp>
        <p:nvSpPr>
          <p:cNvPr id="38" name="Text 35"/>
          <p:cNvSpPr txBox="1"/>
          <p:nvPr/>
        </p:nvSpPr>
        <p:spPr>
          <a:xfrm>
            <a:off x="11094415" y="6473952"/>
            <a:ext cx="548640" cy="256032"/>
          </a:xfrm>
          <a:prstGeom prst="rect">
            <a:avLst/>
          </a:prstGeom>
          <a:noFill/>
          <a:ln/>
        </p:spPr>
        <p:txBody>
          <a:bodyPr wrap="square" lIns="0" tIns="0" rIns="0" bIns="0" rtlCol="0" anchor="ctr"/>
          <a:lstStyle/>
          <a:p>
            <a:pPr algn="r" indent="0" marL="0">
              <a:buNone/>
            </a:pPr>
            <a:r>
              <a:rPr lang="en-US" sz="1000" dirty="0">
                <a:solidFill>
                  <a:srgbClr val="5B6275"/>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384048"/>
            <a:ext cx="1552651" cy="292608"/>
          </a:xfrm>
          <a:prstGeom prst="roundRect">
            <a:avLst>
              <a:gd name="adj" fmla="val 50000"/>
            </a:avLst>
          </a:prstGeom>
          <a:solidFill>
            <a:srgbClr val="252B3D"/>
          </a:solidFill>
          <a:ln w="12700">
            <a:solidFill>
              <a:srgbClr val="252B3D"/>
            </a:solidFill>
            <a:prstDash val="solid"/>
          </a:ln>
        </p:spPr>
      </p:sp>
      <p:sp>
        <p:nvSpPr>
          <p:cNvPr id="4" name="Text 1"/>
          <p:cNvSpPr txBox="1"/>
          <p:nvPr/>
        </p:nvSpPr>
        <p:spPr>
          <a:xfrm>
            <a:off x="548640" y="384048"/>
            <a:ext cx="1552651" cy="29260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LIMITATIONS</a:t>
            </a:r>
            <a:endParaRPr lang="en-US" sz="1100" dirty="0"/>
          </a:p>
        </p:txBody>
      </p:sp>
      <p:sp>
        <p:nvSpPr>
          <p:cNvPr id="5" name="Text 2"/>
          <p:cNvSpPr txBox="1"/>
          <p:nvPr/>
        </p:nvSpPr>
        <p:spPr>
          <a:xfrm>
            <a:off x="548640" y="749808"/>
            <a:ext cx="11094415" cy="731520"/>
          </a:xfrm>
          <a:prstGeom prst="rect">
            <a:avLst/>
          </a:prstGeom>
          <a:noFill/>
          <a:ln/>
        </p:spPr>
        <p:txBody>
          <a:bodyPr wrap="square" lIns="0" tIns="0" rIns="0" bIns="0" rtlCol="0" anchor="t"/>
          <a:lstStyle/>
          <a:p>
            <a:pPr indent="0" marL="0">
              <a:buNone/>
            </a:pPr>
            <a:r>
              <a:rPr lang="en-US" sz="3000" b="1" dirty="0">
                <a:solidFill>
                  <a:srgbClr val="1D2230"/>
                </a:solidFill>
                <a:latin typeface="Cambria" pitchFamily="34" charset="0"/>
                <a:ea typeface="Cambria" pitchFamily="34" charset="-122"/>
                <a:cs typeface="Cambria" pitchFamily="34" charset="-120"/>
              </a:rPr>
              <a:t>Limitations</a:t>
            </a:r>
            <a:endParaRPr lang="en-US" sz="3000" dirty="0"/>
          </a:p>
        </p:txBody>
      </p:sp>
      <p:sp>
        <p:nvSpPr>
          <p:cNvPr id="6" name="Shape 3"/>
          <p:cNvSpPr/>
          <p:nvPr/>
        </p:nvSpPr>
        <p:spPr>
          <a:xfrm>
            <a:off x="548640" y="1691640"/>
            <a:ext cx="5440680" cy="4206240"/>
          </a:xfrm>
          <a:prstGeom prst="roundRect">
            <a:avLst>
              <a:gd name="adj" fmla="val 2609"/>
            </a:avLst>
          </a:prstGeom>
          <a:solidFill>
            <a:srgbClr val="F2F4F8"/>
          </a:solidFill>
          <a:ln w="12700">
            <a:solidFill>
              <a:srgbClr val="F2F4F8"/>
            </a:solidFill>
            <a:prstDash val="solid"/>
          </a:ln>
        </p:spPr>
      </p:sp>
      <p:sp>
        <p:nvSpPr>
          <p:cNvPr id="7" name="Text 4"/>
          <p:cNvSpPr txBox="1"/>
          <p:nvPr/>
        </p:nvSpPr>
        <p:spPr>
          <a:xfrm>
            <a:off x="822960" y="1828800"/>
            <a:ext cx="4937760" cy="411480"/>
          </a:xfrm>
          <a:prstGeom prst="rect">
            <a:avLst/>
          </a:prstGeom>
          <a:noFill/>
          <a:ln/>
        </p:spPr>
        <p:txBody>
          <a:bodyPr wrap="square" lIns="0" tIns="0" rIns="0" bIns="0" rtlCol="0" anchor="ctr"/>
          <a:lstStyle/>
          <a:p>
            <a:pPr indent="0" marL="0">
              <a:buNone/>
            </a:pPr>
            <a:r>
              <a:rPr lang="en-US" sz="1900" b="1" dirty="0">
                <a:solidFill>
                  <a:srgbClr val="1D2230"/>
                </a:solidFill>
                <a:latin typeface="Cambria" pitchFamily="34" charset="0"/>
                <a:ea typeface="Cambria" pitchFamily="34" charset="-122"/>
                <a:cs typeface="Cambria" pitchFamily="34" charset="-120"/>
              </a:rPr>
              <a:t>Stated by the authors</a:t>
            </a:r>
            <a:endParaRPr lang="en-US" sz="1900" dirty="0"/>
          </a:p>
        </p:txBody>
      </p:sp>
      <p:sp>
        <p:nvSpPr>
          <p:cNvPr id="8" name="Text 5"/>
          <p:cNvSpPr txBox="1"/>
          <p:nvPr/>
        </p:nvSpPr>
        <p:spPr>
          <a:xfrm>
            <a:off x="822960" y="2468880"/>
            <a:ext cx="4937760" cy="338328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1D2230"/>
                </a:solidFill>
                <a:latin typeface="Calibri" pitchFamily="34" charset="0"/>
                <a:ea typeface="Calibri" pitchFamily="34" charset="-122"/>
                <a:cs typeface="Calibri" pitchFamily="34" charset="-120"/>
              </a:rPr>
              <a:t>No “normal” middle condition: is it the up-state, the down-state or both?</a:t>
            </a:r>
            <a:endParaRPr lang="en-US" sz="1700" dirty="0"/>
          </a:p>
          <a:p>
            <a:pPr marL="203200" indent="-203200">
              <a:spcAft>
                <a:spcPts val="1200"/>
              </a:spcAft>
              <a:buSzPct val="100000"/>
              <a:buChar char="•"/>
            </a:pPr>
            <a:r>
              <a:rPr lang="en-US" sz="1700" dirty="0">
                <a:solidFill>
                  <a:srgbClr val="1D2230"/>
                </a:solidFill>
                <a:latin typeface="Calibri" pitchFamily="34" charset="0"/>
                <a:ea typeface="Calibri" pitchFamily="34" charset="-122"/>
                <a:cs typeface="Calibri" pitchFamily="34" charset="-120"/>
              </a:rPr>
              <a:t>Only a few electrodes per patient</a:t>
            </a:r>
            <a:endParaRPr lang="en-US" sz="1700" dirty="0"/>
          </a:p>
          <a:p>
            <a:pPr marL="203200" indent="-203200">
              <a:spcAft>
                <a:spcPts val="1200"/>
              </a:spcAft>
              <a:buSzPct val="100000"/>
              <a:buChar char="•"/>
            </a:pPr>
            <a:r>
              <a:rPr lang="en-US" sz="1700" dirty="0">
                <a:solidFill>
                  <a:srgbClr val="1D2230"/>
                </a:solidFill>
                <a:latin typeface="Calibri" pitchFamily="34" charset="0"/>
                <a:ea typeface="Calibri" pitchFamily="34" charset="-122"/>
                <a:cs typeface="Calibri" pitchFamily="34" charset="-120"/>
              </a:rPr>
              <a:t>Slower theta waves behave like gamma: maybe a broader effect</a:t>
            </a:r>
            <a:endParaRPr lang="en-US" sz="1700" dirty="0"/>
          </a:p>
          <a:p>
            <a:pPr marL="203200" indent="-203200">
              <a:spcAft>
                <a:spcPts val="1200"/>
              </a:spcAft>
              <a:buSzPct val="100000"/>
              <a:buChar char="•"/>
            </a:pPr>
            <a:r>
              <a:rPr lang="en-US" sz="1700" dirty="0">
                <a:solidFill>
                  <a:srgbClr val="1D2230"/>
                </a:solidFill>
                <a:latin typeface="Calibri" pitchFamily="34" charset="0"/>
                <a:ea typeface="Calibri" pitchFamily="34" charset="-122"/>
                <a:cs typeface="Calibri" pitchFamily="34" charset="-120"/>
              </a:rPr>
              <a:t>Cause and effect should be interpreted carefully</a:t>
            </a:r>
            <a:endParaRPr lang="en-US" sz="1700" dirty="0"/>
          </a:p>
          <a:p>
            <a:pPr marL="203200" indent="-203200">
              <a:spcAft>
                <a:spcPts val="1200"/>
              </a:spcAft>
              <a:buSzPct val="100000"/>
              <a:buChar char="•"/>
            </a:pPr>
            <a:r>
              <a:rPr lang="en-US" sz="1700" dirty="0">
                <a:solidFill>
                  <a:srgbClr val="1D2230"/>
                </a:solidFill>
                <a:latin typeface="Calibri" pitchFamily="34" charset="0"/>
                <a:ea typeface="Calibri" pitchFamily="34" charset="-122"/>
                <a:cs typeface="Calibri" pitchFamily="34" charset="-120"/>
              </a:rPr>
              <a:t>vmPFC “no effect” was unexpected and very variable</a:t>
            </a:r>
            <a:endParaRPr lang="en-US" sz="1700" dirty="0"/>
          </a:p>
        </p:txBody>
      </p:sp>
      <p:sp>
        <p:nvSpPr>
          <p:cNvPr id="9" name="Shape 6"/>
          <p:cNvSpPr/>
          <p:nvPr/>
        </p:nvSpPr>
        <p:spPr>
          <a:xfrm>
            <a:off x="6217920" y="1691640"/>
            <a:ext cx="5440680" cy="4206240"/>
          </a:xfrm>
          <a:prstGeom prst="roundRect">
            <a:avLst>
              <a:gd name="adj" fmla="val 2609"/>
            </a:avLst>
          </a:prstGeom>
          <a:solidFill>
            <a:srgbClr val="161A26"/>
          </a:solidFill>
          <a:ln w="12700">
            <a:solidFill>
              <a:srgbClr val="161A26"/>
            </a:solidFill>
            <a:prstDash val="solid"/>
          </a:ln>
        </p:spPr>
      </p:sp>
      <p:sp>
        <p:nvSpPr>
          <p:cNvPr id="10" name="Text 7"/>
          <p:cNvSpPr txBox="1"/>
          <p:nvPr/>
        </p:nvSpPr>
        <p:spPr>
          <a:xfrm>
            <a:off x="6492240" y="1828800"/>
            <a:ext cx="4937760" cy="4114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Further caveats</a:t>
            </a:r>
            <a:endParaRPr lang="en-US" sz="1900" dirty="0"/>
          </a:p>
        </p:txBody>
      </p:sp>
      <p:sp>
        <p:nvSpPr>
          <p:cNvPr id="11" name="Text 8"/>
          <p:cNvSpPr txBox="1"/>
          <p:nvPr/>
        </p:nvSpPr>
        <p:spPr>
          <a:xfrm>
            <a:off x="6492240" y="2468880"/>
            <a:ext cx="4937760" cy="338328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E6E9F0"/>
                </a:solidFill>
                <a:latin typeface="Calibri" pitchFamily="34" charset="0"/>
                <a:ea typeface="Calibri" pitchFamily="34" charset="-122"/>
                <a:cs typeface="Calibri" pitchFamily="34" charset="-120"/>
              </a:rPr>
              <a:t>Small sample: 7 insula sessions; main effect p = 0.04</a:t>
            </a:r>
            <a:endParaRPr lang="en-US" sz="1700" dirty="0"/>
          </a:p>
          <a:p>
            <a:pPr marL="203200" indent="-203200">
              <a:spcAft>
                <a:spcPts val="1200"/>
              </a:spcAft>
              <a:buSzPct val="100000"/>
              <a:buChar char="•"/>
            </a:pPr>
            <a:r>
              <a:rPr lang="en-US" sz="1700" dirty="0">
                <a:solidFill>
                  <a:srgbClr val="E6E9F0"/>
                </a:solidFill>
                <a:latin typeface="Calibri" pitchFamily="34" charset="0"/>
                <a:ea typeface="Calibri" pitchFamily="34" charset="-122"/>
                <a:cs typeface="Calibri" pitchFamily="34" charset="-120"/>
              </a:rPr>
              <a:t>Brain states are waited for, not created: no stimulation</a:t>
            </a:r>
            <a:endParaRPr lang="en-US" sz="1700" dirty="0"/>
          </a:p>
          <a:p>
            <a:pPr marL="203200" indent="-203200">
              <a:spcAft>
                <a:spcPts val="1200"/>
              </a:spcAft>
              <a:buSzPct val="100000"/>
              <a:buChar char="•"/>
            </a:pPr>
            <a:r>
              <a:rPr lang="en-US" sz="1700" dirty="0">
                <a:solidFill>
                  <a:srgbClr val="E6E9F0"/>
                </a:solidFill>
                <a:latin typeface="Calibri" pitchFamily="34" charset="0"/>
                <a:ea typeface="Calibri" pitchFamily="34" charset="-122"/>
                <a:cs typeface="Calibri" pitchFamily="34" charset="-120"/>
              </a:rPr>
              <a:t>Trial-by-trial link uses peak activity; average activity didn't predict choices</a:t>
            </a:r>
            <a:endParaRPr lang="en-US" sz="1700" dirty="0"/>
          </a:p>
          <a:p>
            <a:pPr marL="203200" indent="-203200">
              <a:spcAft>
                <a:spcPts val="1200"/>
              </a:spcAft>
              <a:buSzPct val="100000"/>
              <a:buChar char="•"/>
            </a:pPr>
            <a:r>
              <a:rPr lang="en-US" sz="1700" dirty="0">
                <a:solidFill>
                  <a:srgbClr val="E6E9F0"/>
                </a:solidFill>
                <a:latin typeface="Calibri" pitchFamily="34" charset="0"/>
                <a:ea typeface="Calibri" pitchFamily="34" charset="-122"/>
                <a:cs typeface="Calibri" pitchFamily="34" charset="-120"/>
              </a:rPr>
              <a:t>Imaginary choices with no real consequences</a:t>
            </a:r>
            <a:endParaRPr lang="en-US" sz="1700" dirty="0"/>
          </a:p>
          <a:p>
            <a:pPr marL="203200" indent="-203200">
              <a:spcAft>
                <a:spcPts val="1200"/>
              </a:spcAft>
              <a:buSzPct val="100000"/>
              <a:buChar char="•"/>
            </a:pPr>
            <a:r>
              <a:rPr lang="en-US" sz="1700" dirty="0">
                <a:solidFill>
                  <a:srgbClr val="E6E9F0"/>
                </a:solidFill>
                <a:latin typeface="Calibri" pitchFamily="34" charset="0"/>
                <a:ea typeface="Calibri" pitchFamily="34" charset="-122"/>
                <a:cs typeface="Calibri" pitchFamily="34" charset="-120"/>
              </a:rPr>
              <a:t>Epilepsy patients: healthy brains may differ</a:t>
            </a:r>
            <a:endParaRPr lang="en-US" sz="1700" dirty="0"/>
          </a:p>
        </p:txBody>
      </p:sp>
      <p:sp>
        <p:nvSpPr>
          <p:cNvPr id="12" name="Text 9"/>
          <p:cNvSpPr txBox="1"/>
          <p:nvPr/>
        </p:nvSpPr>
        <p:spPr>
          <a:xfrm>
            <a:off x="548640" y="6473952"/>
            <a:ext cx="7315200" cy="256032"/>
          </a:xfrm>
          <a:prstGeom prst="rect">
            <a:avLst/>
          </a:prstGeom>
          <a:noFill/>
          <a:ln/>
        </p:spPr>
        <p:txBody>
          <a:bodyPr wrap="square" lIns="0" tIns="0" rIns="0" bIns="0" rtlCol="0" anchor="ctr"/>
          <a:lstStyle/>
          <a:p>
            <a:pPr indent="0" marL="0">
              <a:buNone/>
            </a:pPr>
            <a:r>
              <a:rPr lang="en-US" sz="950" dirty="0">
                <a:solidFill>
                  <a:srgbClr val="5B6275"/>
                </a:solidFill>
                <a:latin typeface="Calibri" pitchFamily="34" charset="0"/>
                <a:ea typeface="Calibri" pitchFamily="34" charset="-122"/>
                <a:cs typeface="Calibri" pitchFamily="34" charset="-120"/>
              </a:rPr>
              <a:t>Baratin et al., Nature Communications (2026)</a:t>
            </a:r>
            <a:endParaRPr lang="en-US" sz="950" dirty="0"/>
          </a:p>
        </p:txBody>
      </p:sp>
      <p:sp>
        <p:nvSpPr>
          <p:cNvPr id="13" name="Text 10"/>
          <p:cNvSpPr txBox="1"/>
          <p:nvPr/>
        </p:nvSpPr>
        <p:spPr>
          <a:xfrm>
            <a:off x="11094415" y="6473952"/>
            <a:ext cx="548640" cy="256032"/>
          </a:xfrm>
          <a:prstGeom prst="rect">
            <a:avLst/>
          </a:prstGeom>
          <a:noFill/>
          <a:ln/>
        </p:spPr>
        <p:txBody>
          <a:bodyPr wrap="square" lIns="0" tIns="0" rIns="0" bIns="0" rtlCol="0" anchor="ctr"/>
          <a:lstStyle/>
          <a:p>
            <a:pPr algn="r" indent="0" marL="0">
              <a:buNone/>
            </a:pPr>
            <a:r>
              <a:rPr lang="en-US" sz="1000" dirty="0">
                <a:solidFill>
                  <a:srgbClr val="5B6275"/>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A26"/>
        </a:solidFill>
      </p:bgPr>
    </p:bg>
    <p:spTree>
      <p:nvGrpSpPr>
        <p:cNvPr id="1" name=""/>
        <p:cNvGrpSpPr/>
        <p:nvPr/>
      </p:nvGrpSpPr>
      <p:grpSpPr>
        <a:xfrm>
          <a:off x="0" y="0"/>
          <a:ext cx="0" cy="0"/>
          <a:chOff x="0" y="0"/>
          <a:chExt cx="0" cy="0"/>
        </a:xfrm>
      </p:grpSpPr>
      <p:sp>
        <p:nvSpPr>
          <p:cNvPr id="3" name="Shape 0"/>
          <p:cNvSpPr/>
          <p:nvPr/>
        </p:nvSpPr>
        <p:spPr>
          <a:xfrm>
            <a:off x="548640" y="548640"/>
            <a:ext cx="1336853" cy="292608"/>
          </a:xfrm>
          <a:prstGeom prst="roundRect">
            <a:avLst>
              <a:gd name="adj" fmla="val 50000"/>
            </a:avLst>
          </a:prstGeom>
          <a:solidFill>
            <a:srgbClr val="C8203F"/>
          </a:solidFill>
          <a:ln w="12700">
            <a:solidFill>
              <a:srgbClr val="C8203F"/>
            </a:solidFill>
            <a:prstDash val="solid"/>
          </a:ln>
        </p:spPr>
      </p:sp>
      <p:sp>
        <p:nvSpPr>
          <p:cNvPr id="4" name="Text 1"/>
          <p:cNvSpPr txBox="1"/>
          <p:nvPr/>
        </p:nvSpPr>
        <p:spPr>
          <a:xfrm>
            <a:off x="548640" y="548640"/>
            <a:ext cx="1336853" cy="29260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TAKE-HOME</a:t>
            </a:r>
            <a:endParaRPr lang="en-US" sz="1100" dirty="0"/>
          </a:p>
        </p:txBody>
      </p:sp>
      <p:sp>
        <p:nvSpPr>
          <p:cNvPr id="5" name="Text 2"/>
          <p:cNvSpPr txBox="1"/>
          <p:nvPr/>
        </p:nvSpPr>
        <p:spPr>
          <a:xfrm>
            <a:off x="548640" y="1005840"/>
            <a:ext cx="91440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What to remember</a:t>
            </a:r>
            <a:endParaRPr lang="en-US" sz="3600" dirty="0"/>
          </a:p>
        </p:txBody>
      </p:sp>
      <p:sp>
        <p:nvSpPr>
          <p:cNvPr id="6" name="Shape 3"/>
          <p:cNvSpPr/>
          <p:nvPr/>
        </p:nvSpPr>
        <p:spPr>
          <a:xfrm>
            <a:off x="548640" y="2057400"/>
            <a:ext cx="3520440" cy="2743200"/>
          </a:xfrm>
          <a:prstGeom prst="roundRect">
            <a:avLst>
              <a:gd name="adj" fmla="val 4000"/>
            </a:avLst>
          </a:prstGeom>
          <a:solidFill>
            <a:srgbClr val="252B3D"/>
          </a:solidFill>
          <a:ln w="12700">
            <a:solidFill>
              <a:srgbClr val="252B3D"/>
            </a:solidFill>
            <a:prstDash val="solid"/>
          </a:ln>
        </p:spPr>
      </p:sp>
      <p:sp>
        <p:nvSpPr>
          <p:cNvPr id="7" name="Shape 4"/>
          <p:cNvSpPr/>
          <p:nvPr/>
        </p:nvSpPr>
        <p:spPr>
          <a:xfrm>
            <a:off x="822960" y="2286000"/>
            <a:ext cx="566928" cy="566928"/>
          </a:xfrm>
          <a:prstGeom prst="ellipse">
            <a:avLst/>
          </a:prstGeom>
          <a:solidFill>
            <a:srgbClr val="1F6FC5"/>
          </a:solidFill>
          <a:ln w="12700">
            <a:solidFill>
              <a:srgbClr val="1F6FC5"/>
            </a:solidFill>
            <a:prstDash val="solid"/>
          </a:ln>
        </p:spPr>
      </p:sp>
      <p:sp>
        <p:nvSpPr>
          <p:cNvPr id="8" name="Text 5"/>
          <p:cNvSpPr txBox="1"/>
          <p:nvPr/>
        </p:nvSpPr>
        <p:spPr>
          <a:xfrm>
            <a:off x="822960" y="22860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6"/>
          <p:cNvSpPr txBox="1"/>
          <p:nvPr/>
        </p:nvSpPr>
        <p:spPr>
          <a:xfrm>
            <a:off x="822960" y="3017520"/>
            <a:ext cx="29718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Method</a:t>
            </a:r>
            <a:endParaRPr lang="en-US" sz="2200" dirty="0"/>
          </a:p>
        </p:txBody>
      </p:sp>
      <p:sp>
        <p:nvSpPr>
          <p:cNvPr id="10" name="Text 7"/>
          <p:cNvSpPr txBox="1"/>
          <p:nvPr/>
        </p:nvSpPr>
        <p:spPr>
          <a:xfrm>
            <a:off x="822960" y="3520440"/>
            <a:ext cx="2971800" cy="1188720"/>
          </a:xfrm>
          <a:prstGeom prst="rect">
            <a:avLst/>
          </a:prstGeom>
          <a:noFill/>
          <a:ln/>
        </p:spPr>
        <p:txBody>
          <a:bodyPr wrap="square" lIns="0" tIns="0" rIns="0" bIns="0" rtlCol="0" anchor="t"/>
          <a:lstStyle/>
          <a:p>
            <a:pPr indent="0" marL="0">
              <a:buNone/>
            </a:pPr>
            <a:r>
              <a:rPr lang="en-US" sz="1550" dirty="0">
                <a:solidFill>
                  <a:srgbClr val="C9CFDC"/>
                </a:solidFill>
                <a:latin typeface="Calibri" pitchFamily="34" charset="0"/>
                <a:ea typeface="Calibri" pitchFamily="34" charset="-122"/>
                <a:cs typeface="Calibri" pitchFamily="34" charset="-120"/>
              </a:rPr>
              <a:t>A closed-loop system can time each decision to a spontaneous brain state: same task, different state.</a:t>
            </a:r>
            <a:endParaRPr lang="en-US" sz="1550" dirty="0"/>
          </a:p>
        </p:txBody>
      </p:sp>
      <p:sp>
        <p:nvSpPr>
          <p:cNvPr id="11" name="Shape 8"/>
          <p:cNvSpPr/>
          <p:nvPr/>
        </p:nvSpPr>
        <p:spPr>
          <a:xfrm>
            <a:off x="4297680" y="2057400"/>
            <a:ext cx="3520440" cy="2743200"/>
          </a:xfrm>
          <a:prstGeom prst="roundRect">
            <a:avLst>
              <a:gd name="adj" fmla="val 4000"/>
            </a:avLst>
          </a:prstGeom>
          <a:solidFill>
            <a:srgbClr val="252B3D"/>
          </a:solidFill>
          <a:ln w="12700">
            <a:solidFill>
              <a:srgbClr val="252B3D"/>
            </a:solidFill>
            <a:prstDash val="solid"/>
          </a:ln>
        </p:spPr>
      </p:sp>
      <p:sp>
        <p:nvSpPr>
          <p:cNvPr id="12" name="Shape 9"/>
          <p:cNvSpPr/>
          <p:nvPr/>
        </p:nvSpPr>
        <p:spPr>
          <a:xfrm>
            <a:off x="4572000" y="2286000"/>
            <a:ext cx="566928" cy="566928"/>
          </a:xfrm>
          <a:prstGeom prst="ellipse">
            <a:avLst/>
          </a:prstGeom>
          <a:solidFill>
            <a:srgbClr val="C8203F"/>
          </a:solidFill>
          <a:ln w="12700">
            <a:solidFill>
              <a:srgbClr val="C8203F"/>
            </a:solidFill>
            <a:prstDash val="solid"/>
          </a:ln>
        </p:spPr>
      </p:sp>
      <p:sp>
        <p:nvSpPr>
          <p:cNvPr id="13" name="Text 10"/>
          <p:cNvSpPr txBox="1"/>
          <p:nvPr/>
        </p:nvSpPr>
        <p:spPr>
          <a:xfrm>
            <a:off x="4572000" y="22860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Text 11"/>
          <p:cNvSpPr txBox="1"/>
          <p:nvPr/>
        </p:nvSpPr>
        <p:spPr>
          <a:xfrm>
            <a:off x="4572000" y="3017520"/>
            <a:ext cx="29718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Finding</a:t>
            </a:r>
            <a:endParaRPr lang="en-US" sz="2200" dirty="0"/>
          </a:p>
        </p:txBody>
      </p:sp>
      <p:sp>
        <p:nvSpPr>
          <p:cNvPr id="15" name="Text 12"/>
          <p:cNvSpPr txBox="1"/>
          <p:nvPr/>
        </p:nvSpPr>
        <p:spPr>
          <a:xfrm>
            <a:off x="4572000" y="3520440"/>
            <a:ext cx="2971800" cy="1188720"/>
          </a:xfrm>
          <a:prstGeom prst="rect">
            <a:avLst/>
          </a:prstGeom>
          <a:noFill/>
          <a:ln/>
        </p:spPr>
        <p:txBody>
          <a:bodyPr wrap="square" lIns="0" tIns="0" rIns="0" bIns="0" rtlCol="0" anchor="t"/>
          <a:lstStyle/>
          <a:p>
            <a:pPr indent="0" marL="0">
              <a:buNone/>
            </a:pPr>
            <a:r>
              <a:rPr lang="en-US" sz="1550" dirty="0">
                <a:solidFill>
                  <a:srgbClr val="C9CFDC"/>
                </a:solidFill>
                <a:latin typeface="Calibri" pitchFamily="34" charset="0"/>
                <a:ea typeface="Calibri" pitchFamily="34" charset="-122"/>
                <a:cs typeface="Calibri" pitchFamily="34" charset="-120"/>
              </a:rPr>
              <a:t>Insula up-state → weaker reaction to the offer → more willing to accept mixed offers.</a:t>
            </a:r>
            <a:endParaRPr lang="en-US" sz="1550" dirty="0"/>
          </a:p>
        </p:txBody>
      </p:sp>
      <p:sp>
        <p:nvSpPr>
          <p:cNvPr id="16" name="Shape 13"/>
          <p:cNvSpPr/>
          <p:nvPr/>
        </p:nvSpPr>
        <p:spPr>
          <a:xfrm>
            <a:off x="8046720" y="2057400"/>
            <a:ext cx="3520440" cy="2743200"/>
          </a:xfrm>
          <a:prstGeom prst="roundRect">
            <a:avLst>
              <a:gd name="adj" fmla="val 4000"/>
            </a:avLst>
          </a:prstGeom>
          <a:solidFill>
            <a:srgbClr val="252B3D"/>
          </a:solidFill>
          <a:ln w="12700">
            <a:solidFill>
              <a:srgbClr val="252B3D"/>
            </a:solidFill>
            <a:prstDash val="solid"/>
          </a:ln>
        </p:spPr>
      </p:sp>
      <p:sp>
        <p:nvSpPr>
          <p:cNvPr id="17" name="Shape 14"/>
          <p:cNvSpPr/>
          <p:nvPr/>
        </p:nvSpPr>
        <p:spPr>
          <a:xfrm>
            <a:off x="8321040" y="2286000"/>
            <a:ext cx="566928" cy="566928"/>
          </a:xfrm>
          <a:prstGeom prst="ellipse">
            <a:avLst/>
          </a:prstGeom>
          <a:solidFill>
            <a:srgbClr val="1E8E5A"/>
          </a:solidFill>
          <a:ln w="12700">
            <a:solidFill>
              <a:srgbClr val="1E8E5A"/>
            </a:solidFill>
            <a:prstDash val="solid"/>
          </a:ln>
        </p:spPr>
      </p:sp>
      <p:sp>
        <p:nvSpPr>
          <p:cNvPr id="18" name="Text 15"/>
          <p:cNvSpPr txBox="1"/>
          <p:nvPr/>
        </p:nvSpPr>
        <p:spPr>
          <a:xfrm>
            <a:off x="8321040" y="22860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9" name="Text 16"/>
          <p:cNvSpPr txBox="1"/>
          <p:nvPr/>
        </p:nvSpPr>
        <p:spPr>
          <a:xfrm>
            <a:off x="8321040" y="3017520"/>
            <a:ext cx="29718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Big picture</a:t>
            </a:r>
            <a:endParaRPr lang="en-US" sz="2200" dirty="0"/>
          </a:p>
        </p:txBody>
      </p:sp>
      <p:sp>
        <p:nvSpPr>
          <p:cNvPr id="20" name="Text 17"/>
          <p:cNvSpPr txBox="1"/>
          <p:nvPr/>
        </p:nvSpPr>
        <p:spPr>
          <a:xfrm>
            <a:off x="8321040" y="3520440"/>
            <a:ext cx="2971800" cy="1188720"/>
          </a:xfrm>
          <a:prstGeom prst="rect">
            <a:avLst/>
          </a:prstGeom>
          <a:noFill/>
          <a:ln/>
        </p:spPr>
        <p:txBody>
          <a:bodyPr wrap="square" lIns="0" tIns="0" rIns="0" bIns="0" rtlCol="0" anchor="t"/>
          <a:lstStyle/>
          <a:p>
            <a:pPr indent="0" marL="0">
              <a:buNone/>
            </a:pPr>
            <a:r>
              <a:rPr lang="en-US" sz="1550" dirty="0">
                <a:solidFill>
                  <a:srgbClr val="C9CFDC"/>
                </a:solidFill>
                <a:latin typeface="Calibri" pitchFamily="34" charset="0"/>
                <a:ea typeface="Calibri" pitchFamily="34" charset="-122"/>
                <a:cs typeface="Calibri" pitchFamily="34" charset="-120"/>
              </a:rPr>
              <a:t>Choice inconsistency is partly the brain's own state, not just random noise.</a:t>
            </a:r>
            <a:endParaRPr lang="en-US" sz="1550" dirty="0"/>
          </a:p>
        </p:txBody>
      </p:sp>
      <p:sp>
        <p:nvSpPr>
          <p:cNvPr id="21" name="Text 18"/>
          <p:cNvSpPr txBox="1"/>
          <p:nvPr/>
        </p:nvSpPr>
        <p:spPr>
          <a:xfrm>
            <a:off x="548640" y="5166360"/>
            <a:ext cx="11064240" cy="457200"/>
          </a:xfrm>
          <a:prstGeom prst="rect">
            <a:avLst/>
          </a:prstGeom>
          <a:noFill/>
          <a:ln/>
        </p:spPr>
        <p:txBody>
          <a:bodyPr wrap="square" lIns="0" tIns="0" rIns="0" bIns="0" rtlCol="0" anchor="ctr"/>
          <a:lstStyle/>
          <a:p>
            <a:pPr indent="0" marL="0">
              <a:buNone/>
            </a:pPr>
            <a:r>
              <a:rPr lang="en-US" sz="1600" b="1" dirty="0">
                <a:solidFill>
                  <a:srgbClr val="F2A3B3"/>
                </a:solidFill>
                <a:latin typeface="Calibri" pitchFamily="34" charset="0"/>
                <a:ea typeface="Calibri" pitchFamily="34" charset="-122"/>
                <a:cs typeface="Calibri" pitchFamily="34" charset="-120"/>
              </a:rPr>
              <a:t>Future directions: </a:t>
            </a:r>
            <a:pPr indent="0" marL="0">
              <a:buNone/>
            </a:pPr>
            <a:r>
              <a:rPr lang="en-US" sz="1600" dirty="0">
                <a:solidFill>
                  <a:srgbClr val="C9CFDC"/>
                </a:solidFill>
                <a:latin typeface="Calibri" pitchFamily="34" charset="0"/>
                <a:ea typeface="Calibri" pitchFamily="34" charset="-122"/>
                <a:cs typeface="Calibri" pitchFamily="34" charset="-120"/>
              </a:rPr>
              <a:t>addiction, depression and OCD; treatments timed to the brain's state.</a:t>
            </a:r>
            <a:endParaRPr lang="en-US" sz="1600" dirty="0"/>
          </a:p>
        </p:txBody>
      </p:sp>
      <p:sp>
        <p:nvSpPr>
          <p:cNvPr id="22" name="Text 19"/>
          <p:cNvSpPr txBox="1"/>
          <p:nvPr/>
        </p:nvSpPr>
        <p:spPr>
          <a:xfrm>
            <a:off x="548640" y="6473952"/>
            <a:ext cx="7315200" cy="256032"/>
          </a:xfrm>
          <a:prstGeom prst="rect">
            <a:avLst/>
          </a:prstGeom>
          <a:noFill/>
          <a:ln/>
        </p:spPr>
        <p:txBody>
          <a:bodyPr wrap="square" lIns="0" tIns="0" rIns="0" bIns="0" rtlCol="0" anchor="ctr"/>
          <a:lstStyle/>
          <a:p>
            <a:pPr indent="0" marL="0">
              <a:buNone/>
            </a:pPr>
            <a:r>
              <a:rPr lang="en-US" sz="950" dirty="0">
                <a:solidFill>
                  <a:srgbClr val="9AA3B8"/>
                </a:solidFill>
                <a:latin typeface="Calibri" pitchFamily="34" charset="0"/>
                <a:ea typeface="Calibri" pitchFamily="34" charset="-122"/>
                <a:cs typeface="Calibri" pitchFamily="34" charset="-120"/>
              </a:rPr>
              <a:t>Baratin et al., Nature Communications (2026)</a:t>
            </a:r>
            <a:endParaRPr lang="en-US" sz="950" dirty="0"/>
          </a:p>
        </p:txBody>
      </p:sp>
      <p:sp>
        <p:nvSpPr>
          <p:cNvPr id="23" name="Text 20"/>
          <p:cNvSpPr txBox="1"/>
          <p:nvPr/>
        </p:nvSpPr>
        <p:spPr>
          <a:xfrm>
            <a:off x="11094415" y="6473952"/>
            <a:ext cx="548640" cy="256032"/>
          </a:xfrm>
          <a:prstGeom prst="rect">
            <a:avLst/>
          </a:prstGeom>
          <a:noFill/>
          <a:ln/>
        </p:spPr>
        <p:txBody>
          <a:bodyPr wrap="square" lIns="0" tIns="0" rIns="0" bIns="0" rtlCol="0" anchor="ctr"/>
          <a:lstStyle/>
          <a:p>
            <a:pPr algn="r" indent="0" marL="0">
              <a:buNone/>
            </a:pPr>
            <a:r>
              <a:rPr lang="en-US" sz="1000" dirty="0">
                <a:solidFill>
                  <a:srgbClr val="9AA3B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1A26"/>
        </a:solidFill>
      </p:bgPr>
    </p:bg>
    <p:spTree>
      <p:nvGrpSpPr>
        <p:cNvPr id="1" name=""/>
        <p:cNvGrpSpPr/>
        <p:nvPr/>
      </p:nvGrpSpPr>
      <p:grpSpPr>
        <a:xfrm>
          <a:off x="0" y="0"/>
          <a:ext cx="0" cy="0"/>
          <a:chOff x="0" y="0"/>
          <a:chExt cx="0" cy="0"/>
        </a:xfrm>
      </p:grpSpPr>
      <p:sp>
        <p:nvSpPr>
          <p:cNvPr id="3" name="Text 0"/>
          <p:cNvSpPr txBox="1"/>
          <p:nvPr/>
        </p:nvSpPr>
        <p:spPr>
          <a:xfrm>
            <a:off x="548640" y="2011680"/>
            <a:ext cx="11064240" cy="118872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4" name="Text 1"/>
          <p:cNvSpPr txBox="1"/>
          <p:nvPr/>
        </p:nvSpPr>
        <p:spPr>
          <a:xfrm>
            <a:off x="2011680" y="3657600"/>
            <a:ext cx="8138160" cy="822960"/>
          </a:xfrm>
          <a:prstGeom prst="rect">
            <a:avLst/>
          </a:prstGeom>
          <a:noFill/>
          <a:ln/>
        </p:spPr>
        <p:txBody>
          <a:bodyPr wrap="square" lIns="0" tIns="0" rIns="0" bIns="0" rtlCol="0" anchor="t"/>
          <a:lstStyle/>
          <a:p>
            <a:pPr algn="ctr" indent="0" marL="0">
              <a:buNone/>
            </a:pPr>
            <a:r>
              <a:rPr lang="en-US" sz="1400" dirty="0">
                <a:solidFill>
                  <a:srgbClr val="C9CFDC"/>
                </a:solidFill>
                <a:latin typeface="Calibri" pitchFamily="34" charset="0"/>
                <a:ea typeface="Calibri" pitchFamily="34" charset="-122"/>
                <a:cs typeface="Calibri" pitchFamily="34" charset="-120"/>
              </a:rPr>
              <a:t>Baratin, C., Pessiglione, M., Kahane, P., Robin, A., Minotti, L., Becq, G. &amp; Bastin, J. (2026). Closed-loop readout of anterior insula high-gamma activity steers value-based decisions. Nature Communications.</a:t>
            </a:r>
            <a:endParaRPr lang="en-US" sz="1400" dirty="0"/>
          </a:p>
        </p:txBody>
      </p:sp>
      <p:sp>
        <p:nvSpPr>
          <p:cNvPr id="5" name="Text 2"/>
          <p:cNvSpPr txBox="1"/>
          <p:nvPr/>
        </p:nvSpPr>
        <p:spPr>
          <a:xfrm>
            <a:off x="2011680" y="4572000"/>
            <a:ext cx="8138160" cy="320040"/>
          </a:xfrm>
          <a:prstGeom prst="rect">
            <a:avLst/>
          </a:prstGeom>
          <a:noFill/>
          <a:ln/>
        </p:spPr>
        <p:txBody>
          <a:bodyPr wrap="square" lIns="0" tIns="0" rIns="0" bIns="0" rtlCol="0" anchor="ctr"/>
          <a:lstStyle/>
          <a:p>
            <a:pPr algn="ctr" indent="0" marL="0">
              <a:buNone/>
            </a:pPr>
            <a:r>
              <a:rPr lang="en-US" sz="1300" dirty="0">
                <a:solidFill>
                  <a:srgbClr val="F2A3B3"/>
                </a:solidFill>
                <a:latin typeface="Calibri" pitchFamily="34" charset="0"/>
                <a:ea typeface="Calibri" pitchFamily="34" charset="-122"/>
                <a:cs typeface="Calibri" pitchFamily="34" charset="-120"/>
              </a:rPr>
              <a:t>doi.org/10.1038/s41467-026-75265-5</a:t>
            </a:r>
            <a:endParaRPr lang="en-US" sz="1300" dirty="0"/>
          </a:p>
        </p:txBody>
      </p:sp>
      <p:sp>
        <p:nvSpPr>
          <p:cNvPr id="6" name="Text 3"/>
          <p:cNvSpPr txBox="1"/>
          <p:nvPr/>
        </p:nvSpPr>
        <p:spPr>
          <a:xfrm>
            <a:off x="548640" y="6473952"/>
            <a:ext cx="7315200" cy="256032"/>
          </a:xfrm>
          <a:prstGeom prst="rect">
            <a:avLst/>
          </a:prstGeom>
          <a:noFill/>
          <a:ln/>
        </p:spPr>
        <p:txBody>
          <a:bodyPr wrap="square" lIns="0" tIns="0" rIns="0" bIns="0" rtlCol="0" anchor="ctr"/>
          <a:lstStyle/>
          <a:p>
            <a:pPr indent="0" marL="0">
              <a:buNone/>
            </a:pPr>
            <a:r>
              <a:rPr lang="en-US" sz="950" dirty="0">
                <a:solidFill>
                  <a:srgbClr val="9AA3B8"/>
                </a:solidFill>
                <a:latin typeface="Calibri" pitchFamily="34" charset="0"/>
                <a:ea typeface="Calibri" pitchFamily="34" charset="-122"/>
                <a:cs typeface="Calibri" pitchFamily="34" charset="-120"/>
              </a:rPr>
              <a:t>Baratin et al., Nature Communications (2026)</a:t>
            </a:r>
            <a:endParaRPr lang="en-US" sz="950" dirty="0"/>
          </a:p>
        </p:txBody>
      </p:sp>
      <p:sp>
        <p:nvSpPr>
          <p:cNvPr id="7" name="Text 4"/>
          <p:cNvSpPr txBox="1"/>
          <p:nvPr/>
        </p:nvSpPr>
        <p:spPr>
          <a:xfrm>
            <a:off x="11094415" y="6473952"/>
            <a:ext cx="548640" cy="256032"/>
          </a:xfrm>
          <a:prstGeom prst="rect">
            <a:avLst/>
          </a:prstGeom>
          <a:noFill/>
          <a:ln/>
        </p:spPr>
        <p:txBody>
          <a:bodyPr wrap="square" lIns="0" tIns="0" rIns="0" bIns="0" rtlCol="0" anchor="ctr"/>
          <a:lstStyle/>
          <a:p>
            <a:pPr algn="r" indent="0" marL="0">
              <a:buNone/>
            </a:pPr>
            <a:r>
              <a:rPr lang="en-US" sz="1000" dirty="0">
                <a:solidFill>
                  <a:srgbClr val="9AA3B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Closed-loop readout of anterior insula high-gamma activity steers value-based decisions</dc:title>
  <dc:subject>PptxGenJS Presentation</dc:subject>
  <dc:creator>Journal club</dc:creator>
  <cp:lastModifiedBy>Journal club</cp:lastModifiedBy>
  <cp:revision>1</cp:revision>
  <dcterms:created xsi:type="dcterms:W3CDTF">2026-09-29T07:58:43Z</dcterms:created>
  <dcterms:modified xsi:type="dcterms:W3CDTF">2026-09-29T07:58:43Z</dcterms:modified>
</cp:coreProperties>
</file>